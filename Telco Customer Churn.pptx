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x="18288000" cy="10287000"/>
  <p:notesSz cx="6858000" cy="9144000"/>
  <p:embeddedFontLst>
    <p:embeddedFont>
      <p:font typeface="Montserrat" charset="1" panose="00000500000000000000"/>
      <p:regular r:id="rId51"/>
    </p:embeddedFont>
    <p:embeddedFont>
      <p:font typeface="Montserrat Bold" charset="1" panose="00000800000000000000"/>
      <p:regular r:id="rId52"/>
    </p:embeddedFont>
    <p:embeddedFont>
      <p:font typeface="Open Sans" charset="1" panose="00000000000000000000"/>
      <p:regular r:id="rId53"/>
    </p:embeddedFont>
    <p:embeddedFont>
      <p:font typeface="Canva Sans Bold" charset="1" panose="020B0803030501040103"/>
      <p:regular r:id="rId54"/>
    </p:embeddedFont>
    <p:embeddedFont>
      <p:font typeface="Open Sans Bold" charset="1" panose="00000000000000000000"/>
      <p:regular r:id="rId55"/>
    </p:embeddedFont>
    <p:embeddedFont>
      <p:font typeface="Canva Sans" charset="1" panose="020B0503030501040103"/>
      <p:regular r:id="rId60"/>
    </p:embeddedFont>
    <p:embeddedFont>
      <p:font typeface="Open Sans Medium" charset="1" panose="00000000000000000000"/>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notesMasters/notesMaster1.xml" Type="http://schemas.openxmlformats.org/officeDocument/2006/relationships/notesMaster"/><Relationship Id="rId57" Target="theme/theme2.xml" Type="http://schemas.openxmlformats.org/officeDocument/2006/relationships/theme"/><Relationship Id="rId58" Target="notesSlides/notesSlide1.xml" Type="http://schemas.openxmlformats.org/officeDocument/2006/relationships/notesSlide"/><Relationship Id="rId59" Target="notesSlides/notesSlide2.xml" Type="http://schemas.openxmlformats.org/officeDocument/2006/relationships/notesSlide"/><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slide8.xml" Type="http://schemas.openxmlformats.org/officeDocument/2006/relationships/slide"/><Relationship Id="rId2" Target="../media/image3.png" Type="http://schemas.openxmlformats.org/officeDocument/2006/relationships/image"/><Relationship Id="rId3" Target="../media/image4.svg" Type="http://schemas.openxmlformats.org/officeDocument/2006/relationships/image"/><Relationship Id="rId4" Target="slide3.xml" Type="http://schemas.openxmlformats.org/officeDocument/2006/relationships/slide"/><Relationship Id="rId5" Target="slide6.xml" Type="http://schemas.openxmlformats.org/officeDocument/2006/relationships/slide"/><Relationship Id="rId6" Target="slide7.xml" Type="http://schemas.openxmlformats.org/officeDocument/2006/relationships/slide"/><Relationship Id="rId7" Target="slide40.xml" Type="http://schemas.openxmlformats.org/officeDocument/2006/relationships/slide"/><Relationship Id="rId8" Target="slide10.xml" Type="http://schemas.openxmlformats.org/officeDocument/2006/relationships/slide"/><Relationship Id="rId9" Target="slide45.xml" Type="http://schemas.openxmlformats.org/officeDocument/2006/relationship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slide2.xml" Type="http://schemas.openxmlformats.org/officeDocument/2006/relationship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slide2.xml" Type="http://schemas.openxmlformats.org/officeDocument/2006/relationship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slide2.xml" Type="http://schemas.openxmlformats.org/officeDocument/2006/relationship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6.jpeg" Type="http://schemas.openxmlformats.org/officeDocument/2006/relationships/image"/><Relationship Id="rId5" Target="slide2.xml" Type="http://schemas.openxmlformats.org/officeDocument/2006/relationship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slide8.xml" Type="http://schemas.openxmlformats.org/officeDocument/2006/relationships/slide"/><Relationship Id="rId5" Target="slide10.xml" Type="http://schemas.openxmlformats.org/officeDocument/2006/relationships/slide"/><Relationship Id="rId6" Target="slide40.xml" Type="http://schemas.openxmlformats.org/officeDocument/2006/relationships/slide"/><Relationship Id="rId7" Target="slide2.xml" Type="http://schemas.openxmlformats.org/officeDocument/2006/relationship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slide2.xml" Type="http://schemas.openxmlformats.org/officeDocument/2006/relationship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 Id="rId5" Target="slide2.xml" Type="http://schemas.openxmlformats.org/officeDocument/2006/relationships/slide"/><Relationship Id="rId6"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slide25.xml" Type="http://schemas.openxmlformats.org/officeDocument/2006/relationships/slide"/><Relationship Id="rId2" Target="../media/image12.png" Type="http://schemas.openxmlformats.org/officeDocument/2006/relationships/image"/><Relationship Id="rId3" Target="../media/image1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7.jpeg" Type="http://schemas.openxmlformats.org/officeDocument/2006/relationships/image"/><Relationship Id="rId7" Target="slide2.xml" Type="http://schemas.openxmlformats.org/officeDocument/2006/relationships/slide"/><Relationship Id="rId8" Target="slide11.xml" Type="http://schemas.openxmlformats.org/officeDocument/2006/relationships/slide"/><Relationship Id="rId9" Target="slide18.xml" Type="http://schemas.openxmlformats.org/officeDocument/2006/relationship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slide2.xml" Type="http://schemas.openxmlformats.org/officeDocument/2006/relationships/slide"/><Relationship Id="rId4"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slide2.xml" Type="http://schemas.openxmlformats.org/officeDocument/2006/relationship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slide2.xml" Type="http://schemas.openxmlformats.org/officeDocument/2006/relationship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4.png" Type="http://schemas.openxmlformats.org/officeDocument/2006/relationships/image"/><Relationship Id="rId5" Target="slide2.xml" Type="http://schemas.openxmlformats.org/officeDocument/2006/relationship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5.png" Type="http://schemas.openxmlformats.org/officeDocument/2006/relationships/image"/><Relationship Id="rId5" Target="slide2.xml" Type="http://schemas.openxmlformats.org/officeDocument/2006/relationship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6.png" Type="http://schemas.openxmlformats.org/officeDocument/2006/relationships/image"/><Relationship Id="rId5" Target="slide2.xml" Type="http://schemas.openxmlformats.org/officeDocument/2006/relationship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slide2.xml" Type="http://schemas.openxmlformats.org/officeDocument/2006/relationship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slide2.xml" Type="http://schemas.openxmlformats.org/officeDocument/2006/relationship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slide2.xml" Type="http://schemas.openxmlformats.org/officeDocument/2006/relationship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slide2.xml" Type="http://schemas.openxmlformats.org/officeDocument/2006/relationships/slid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4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4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4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44.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45.png" Type="http://schemas.openxmlformats.org/officeDocument/2006/relationships/image"/><Relationship Id="rId4" Target="../media/image4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49.png" Type="http://schemas.openxmlformats.org/officeDocument/2006/relationships/image"/><Relationship Id="rId4" Target="../media/image50.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49.png" Type="http://schemas.openxmlformats.org/officeDocument/2006/relationships/image"/><Relationship Id="rId4" Target="../media/image50.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png" Type="http://schemas.openxmlformats.org/officeDocument/2006/relationships/image"/><Relationship Id="rId4" Target="slide2.xml" Type="http://schemas.openxmlformats.org/officeDocument/2006/relationships/slid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png" Type="http://schemas.openxmlformats.org/officeDocument/2006/relationships/image"/><Relationship Id="rId4" Target="slide2.xml" Type="http://schemas.openxmlformats.org/officeDocument/2006/relationships/slid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jpe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56.png" Type="http://schemas.openxmlformats.org/officeDocument/2006/relationships/image"/><Relationship Id="rId4" Target="../media/image5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TextBox 2" id="2"/>
          <p:cNvSpPr txBox="true"/>
          <p:nvPr/>
        </p:nvSpPr>
        <p:spPr>
          <a:xfrm rot="0">
            <a:off x="511204" y="3436901"/>
            <a:ext cx="9302996" cy="3371850"/>
          </a:xfrm>
          <a:prstGeom prst="rect">
            <a:avLst/>
          </a:prstGeom>
        </p:spPr>
        <p:txBody>
          <a:bodyPr anchor="t" rtlCol="false" tIns="0" lIns="0" bIns="0" rIns="0">
            <a:spAutoFit/>
          </a:bodyPr>
          <a:lstStyle/>
          <a:p>
            <a:pPr algn="l">
              <a:lnSpc>
                <a:spcPts val="8880"/>
              </a:lnSpc>
            </a:pPr>
            <a:r>
              <a:rPr lang="en-US" sz="7400">
                <a:solidFill>
                  <a:srgbClr val="1C402E"/>
                </a:solidFill>
                <a:latin typeface="Montserrat"/>
                <a:ea typeface="Montserrat"/>
                <a:cs typeface="Montserrat"/>
                <a:sym typeface="Montserrat"/>
              </a:rPr>
              <a:t>Customer Churn Analysis using Tableau</a:t>
            </a:r>
          </a:p>
        </p:txBody>
      </p:sp>
      <p:sp>
        <p:nvSpPr>
          <p:cNvPr name="TextBox 3" id="3"/>
          <p:cNvSpPr txBox="true"/>
          <p:nvPr/>
        </p:nvSpPr>
        <p:spPr>
          <a:xfrm rot="0">
            <a:off x="817473" y="8915132"/>
            <a:ext cx="6717999" cy="168277"/>
          </a:xfrm>
          <a:prstGeom prst="rect">
            <a:avLst/>
          </a:prstGeom>
        </p:spPr>
        <p:txBody>
          <a:bodyPr anchor="t" rtlCol="false" tIns="0" lIns="0" bIns="0" rIns="0">
            <a:spAutoFit/>
          </a:bodyPr>
          <a:lstStyle/>
          <a:p>
            <a:pPr algn="l">
              <a:lnSpc>
                <a:spcPts val="1000"/>
              </a:lnSpc>
            </a:pPr>
            <a:r>
              <a:rPr lang="en-US" b="true" sz="2000" spc="68">
                <a:solidFill>
                  <a:srgbClr val="1C402E"/>
                </a:solidFill>
                <a:latin typeface="Montserrat Bold"/>
                <a:ea typeface="Montserrat Bold"/>
                <a:cs typeface="Montserrat Bold"/>
                <a:sym typeface="Montserrat Bold"/>
              </a:rPr>
              <a:t>PRESENTED BY:</a:t>
            </a:r>
          </a:p>
        </p:txBody>
      </p:sp>
      <p:sp>
        <p:nvSpPr>
          <p:cNvPr name="TextBox 4" id="4"/>
          <p:cNvSpPr txBox="true"/>
          <p:nvPr/>
        </p:nvSpPr>
        <p:spPr>
          <a:xfrm rot="0">
            <a:off x="817473" y="9177288"/>
            <a:ext cx="6717999" cy="481330"/>
          </a:xfrm>
          <a:prstGeom prst="rect">
            <a:avLst/>
          </a:prstGeom>
        </p:spPr>
        <p:txBody>
          <a:bodyPr anchor="t" rtlCol="false" tIns="0" lIns="0" bIns="0" rIns="0">
            <a:spAutoFit/>
          </a:bodyPr>
          <a:lstStyle/>
          <a:p>
            <a:pPr algn="l">
              <a:lnSpc>
                <a:spcPts val="3920"/>
              </a:lnSpc>
            </a:pPr>
            <a:r>
              <a:rPr lang="en-US" sz="2800">
                <a:solidFill>
                  <a:srgbClr val="1C402E"/>
                </a:solidFill>
                <a:latin typeface="Open Sans"/>
                <a:ea typeface="Open Sans"/>
                <a:cs typeface="Open Sans"/>
                <a:sym typeface="Open Sans"/>
              </a:rPr>
              <a:t>Rajat Bahuguna</a:t>
            </a:r>
          </a:p>
        </p:txBody>
      </p:sp>
      <p:sp>
        <p:nvSpPr>
          <p:cNvPr name="Freeform 5" id="5"/>
          <p:cNvSpPr/>
          <p:nvPr/>
        </p:nvSpPr>
        <p:spPr>
          <a:xfrm flipH="true" flipV="false" rot="0">
            <a:off x="10317391" y="2651937"/>
            <a:ext cx="7970609" cy="4941778"/>
          </a:xfrm>
          <a:custGeom>
            <a:avLst/>
            <a:gdLst/>
            <a:ahLst/>
            <a:cxnLst/>
            <a:rect r="r" b="b" t="t" l="l"/>
            <a:pathLst>
              <a:path h="4941778" w="7970609">
                <a:moveTo>
                  <a:pt x="7970609" y="0"/>
                </a:moveTo>
                <a:lnTo>
                  <a:pt x="0" y="0"/>
                </a:lnTo>
                <a:lnTo>
                  <a:pt x="0" y="4941777"/>
                </a:lnTo>
                <a:lnTo>
                  <a:pt x="7970609" y="4941777"/>
                </a:lnTo>
                <a:lnTo>
                  <a:pt x="797060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662604" y="1160400"/>
            <a:ext cx="9806604" cy="10293191"/>
          </a:xfrm>
          <a:custGeom>
            <a:avLst/>
            <a:gdLst/>
            <a:ahLst/>
            <a:cxnLst/>
            <a:rect r="r" b="b" t="t" l="l"/>
            <a:pathLst>
              <a:path h="10293191" w="9806604">
                <a:moveTo>
                  <a:pt x="0" y="0"/>
                </a:moveTo>
                <a:lnTo>
                  <a:pt x="9806604" y="0"/>
                </a:lnTo>
                <a:lnTo>
                  <a:pt x="9806604" y="10293191"/>
                </a:lnTo>
                <a:lnTo>
                  <a:pt x="0" y="102931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30410" y="2950067"/>
            <a:ext cx="4121920" cy="1174779"/>
          </a:xfrm>
          <a:prstGeom prst="rect">
            <a:avLst/>
          </a:prstGeom>
        </p:spPr>
        <p:txBody>
          <a:bodyPr anchor="t" rtlCol="false" tIns="0" lIns="0" bIns="0" rIns="0">
            <a:spAutoFit/>
          </a:bodyPr>
          <a:lstStyle/>
          <a:p>
            <a:pPr algn="l" marL="0" indent="0" lvl="0">
              <a:lnSpc>
                <a:spcPts val="9250"/>
              </a:lnSpc>
              <a:spcBef>
                <a:spcPct val="0"/>
              </a:spcBef>
            </a:pPr>
            <a:r>
              <a:rPr lang="en-US" sz="7708">
                <a:solidFill>
                  <a:srgbClr val="FFFAF4"/>
                </a:solidFill>
                <a:latin typeface="Montserrat"/>
                <a:ea typeface="Montserrat"/>
                <a:cs typeface="Montserrat"/>
                <a:sym typeface="Montserrat"/>
              </a:rPr>
              <a:t>Agenda</a:t>
            </a:r>
          </a:p>
        </p:txBody>
      </p:sp>
      <p:sp>
        <p:nvSpPr>
          <p:cNvPr name="TextBox 4" id="4"/>
          <p:cNvSpPr txBox="true"/>
          <p:nvPr/>
        </p:nvSpPr>
        <p:spPr>
          <a:xfrm rot="0">
            <a:off x="10372000" y="1716995"/>
            <a:ext cx="6024896" cy="464820"/>
          </a:xfrm>
          <a:prstGeom prst="rect">
            <a:avLst/>
          </a:prstGeom>
        </p:spPr>
        <p:txBody>
          <a:bodyPr anchor="t" rtlCol="false" tIns="0" lIns="0" bIns="0" rIns="0">
            <a:spAutoFit/>
          </a:bodyPr>
          <a:lstStyle/>
          <a:p>
            <a:pPr algn="l">
              <a:lnSpc>
                <a:spcPts val="3780"/>
              </a:lnSpc>
            </a:pPr>
            <a:r>
              <a:rPr lang="en-US" b="true" sz="2700" u="sng">
                <a:solidFill>
                  <a:srgbClr val="1C402E"/>
                </a:solidFill>
                <a:latin typeface="Canva Sans Bold"/>
                <a:ea typeface="Canva Sans Bold"/>
                <a:cs typeface="Canva Sans Bold"/>
                <a:sym typeface="Canva Sans Bold"/>
                <a:hlinkClick r:id="rId4" action="ppaction://hlinksldjump"/>
              </a:rPr>
              <a:t>Company Overview</a:t>
            </a:r>
          </a:p>
        </p:txBody>
      </p:sp>
      <p:sp>
        <p:nvSpPr>
          <p:cNvPr name="TextBox 5" id="5"/>
          <p:cNvSpPr txBox="true"/>
          <p:nvPr/>
        </p:nvSpPr>
        <p:spPr>
          <a:xfrm rot="0">
            <a:off x="10372000" y="2509170"/>
            <a:ext cx="6024896" cy="464820"/>
          </a:xfrm>
          <a:prstGeom prst="rect">
            <a:avLst/>
          </a:prstGeom>
        </p:spPr>
        <p:txBody>
          <a:bodyPr anchor="t" rtlCol="false" tIns="0" lIns="0" bIns="0" rIns="0">
            <a:spAutoFit/>
          </a:bodyPr>
          <a:lstStyle/>
          <a:p>
            <a:pPr algn="l">
              <a:lnSpc>
                <a:spcPts val="3780"/>
              </a:lnSpc>
            </a:pPr>
            <a:r>
              <a:rPr lang="en-US" b="true" sz="2700" u="sng">
                <a:solidFill>
                  <a:srgbClr val="1C402E"/>
                </a:solidFill>
                <a:latin typeface="Canva Sans Bold"/>
                <a:ea typeface="Canva Sans Bold"/>
                <a:cs typeface="Canva Sans Bold"/>
                <a:sym typeface="Canva Sans Bold"/>
                <a:hlinkClick r:id="rId5" action="ppaction://hlinksldjump"/>
              </a:rPr>
              <a:t>Challenges and Objectives</a:t>
            </a:r>
          </a:p>
        </p:txBody>
      </p:sp>
      <p:sp>
        <p:nvSpPr>
          <p:cNvPr name="TextBox 6" id="6"/>
          <p:cNvSpPr txBox="true"/>
          <p:nvPr/>
        </p:nvSpPr>
        <p:spPr>
          <a:xfrm rot="0">
            <a:off x="10372000" y="3297840"/>
            <a:ext cx="6024896" cy="464820"/>
          </a:xfrm>
          <a:prstGeom prst="rect">
            <a:avLst/>
          </a:prstGeom>
        </p:spPr>
        <p:txBody>
          <a:bodyPr anchor="t" rtlCol="false" tIns="0" lIns="0" bIns="0" rIns="0">
            <a:spAutoFit/>
          </a:bodyPr>
          <a:lstStyle/>
          <a:p>
            <a:pPr algn="l">
              <a:lnSpc>
                <a:spcPts val="3780"/>
              </a:lnSpc>
            </a:pPr>
            <a:r>
              <a:rPr lang="en-US" b="true" sz="2700" u="sng">
                <a:solidFill>
                  <a:srgbClr val="1C402E"/>
                </a:solidFill>
                <a:latin typeface="Canva Sans Bold"/>
                <a:ea typeface="Canva Sans Bold"/>
                <a:cs typeface="Canva Sans Bold"/>
                <a:sym typeface="Canva Sans Bold"/>
                <a:hlinkClick r:id="rId6" action="ppaction://hlinksldjump"/>
              </a:rPr>
              <a:t>Methodology</a:t>
            </a:r>
          </a:p>
        </p:txBody>
      </p:sp>
      <p:sp>
        <p:nvSpPr>
          <p:cNvPr name="TextBox 7" id="7"/>
          <p:cNvSpPr txBox="true"/>
          <p:nvPr/>
        </p:nvSpPr>
        <p:spPr>
          <a:xfrm rot="0">
            <a:off x="10372000" y="5673090"/>
            <a:ext cx="6024896" cy="464820"/>
          </a:xfrm>
          <a:prstGeom prst="rect">
            <a:avLst/>
          </a:prstGeom>
        </p:spPr>
        <p:txBody>
          <a:bodyPr anchor="t" rtlCol="false" tIns="0" lIns="0" bIns="0" rIns="0">
            <a:spAutoFit/>
          </a:bodyPr>
          <a:lstStyle/>
          <a:p>
            <a:pPr algn="l">
              <a:lnSpc>
                <a:spcPts val="3780"/>
              </a:lnSpc>
            </a:pPr>
            <a:r>
              <a:rPr lang="en-US" b="true" sz="2700" u="sng">
                <a:solidFill>
                  <a:srgbClr val="1C402E"/>
                </a:solidFill>
                <a:latin typeface="Canva Sans Bold"/>
                <a:ea typeface="Canva Sans Bold"/>
                <a:cs typeface="Canva Sans Bold"/>
                <a:sym typeface="Canva Sans Bold"/>
                <a:hlinkClick r:id="rId7" action="ppaction://hlinksldjump"/>
              </a:rPr>
              <a:t>Recommendations</a:t>
            </a:r>
          </a:p>
        </p:txBody>
      </p:sp>
      <p:sp>
        <p:nvSpPr>
          <p:cNvPr name="TextBox 8" id="8"/>
          <p:cNvSpPr txBox="true"/>
          <p:nvPr/>
        </p:nvSpPr>
        <p:spPr>
          <a:xfrm rot="0">
            <a:off x="10372000" y="4877084"/>
            <a:ext cx="6024896" cy="464820"/>
          </a:xfrm>
          <a:prstGeom prst="rect">
            <a:avLst/>
          </a:prstGeom>
        </p:spPr>
        <p:txBody>
          <a:bodyPr anchor="t" rtlCol="false" tIns="0" lIns="0" bIns="0" rIns="0">
            <a:spAutoFit/>
          </a:bodyPr>
          <a:lstStyle/>
          <a:p>
            <a:pPr algn="l">
              <a:lnSpc>
                <a:spcPts val="3780"/>
              </a:lnSpc>
            </a:pPr>
            <a:r>
              <a:rPr lang="en-US" b="true" sz="2700" u="sng">
                <a:solidFill>
                  <a:srgbClr val="1C402E"/>
                </a:solidFill>
                <a:latin typeface="Canva Sans Bold"/>
                <a:ea typeface="Canva Sans Bold"/>
                <a:cs typeface="Canva Sans Bold"/>
                <a:sym typeface="Canva Sans Bold"/>
                <a:hlinkClick r:id="rId8" action="ppaction://hlinksldjump"/>
              </a:rPr>
              <a:t>Analysis &amp; Insights</a:t>
            </a:r>
          </a:p>
        </p:txBody>
      </p:sp>
      <p:sp>
        <p:nvSpPr>
          <p:cNvPr name="TextBox 9" id="9"/>
          <p:cNvSpPr txBox="true"/>
          <p:nvPr/>
        </p:nvSpPr>
        <p:spPr>
          <a:xfrm rot="0">
            <a:off x="14630466" y="8551494"/>
            <a:ext cx="6024896" cy="464820"/>
          </a:xfrm>
          <a:prstGeom prst="rect">
            <a:avLst/>
          </a:prstGeom>
        </p:spPr>
        <p:txBody>
          <a:bodyPr anchor="t" rtlCol="false" tIns="0" lIns="0" bIns="0" rIns="0">
            <a:spAutoFit/>
          </a:bodyPr>
          <a:lstStyle/>
          <a:p>
            <a:pPr algn="l">
              <a:lnSpc>
                <a:spcPts val="3780"/>
              </a:lnSpc>
            </a:pPr>
            <a:r>
              <a:rPr lang="en-US" sz="2700" u="sng">
                <a:solidFill>
                  <a:srgbClr val="1C402E"/>
                </a:solidFill>
                <a:latin typeface="Open Sans"/>
                <a:ea typeface="Open Sans"/>
                <a:cs typeface="Open Sans"/>
                <a:sym typeface="Open Sans"/>
                <a:hlinkClick r:id="rId9" action="ppaction://hlinksldjump"/>
              </a:rPr>
              <a:t>Get in Touch</a:t>
            </a:r>
          </a:p>
        </p:txBody>
      </p:sp>
      <p:sp>
        <p:nvSpPr>
          <p:cNvPr name="TextBox 10" id="10"/>
          <p:cNvSpPr txBox="true"/>
          <p:nvPr/>
        </p:nvSpPr>
        <p:spPr>
          <a:xfrm rot="0">
            <a:off x="10372000" y="4086509"/>
            <a:ext cx="6024896" cy="464820"/>
          </a:xfrm>
          <a:prstGeom prst="rect">
            <a:avLst/>
          </a:prstGeom>
        </p:spPr>
        <p:txBody>
          <a:bodyPr anchor="t" rtlCol="false" tIns="0" lIns="0" bIns="0" rIns="0">
            <a:spAutoFit/>
          </a:bodyPr>
          <a:lstStyle/>
          <a:p>
            <a:pPr algn="l">
              <a:lnSpc>
                <a:spcPts val="3780"/>
              </a:lnSpc>
            </a:pPr>
            <a:r>
              <a:rPr lang="en-US" b="true" sz="2700" u="sng">
                <a:solidFill>
                  <a:srgbClr val="1C402E"/>
                </a:solidFill>
                <a:latin typeface="Canva Sans Bold"/>
                <a:ea typeface="Canva Sans Bold"/>
                <a:cs typeface="Canva Sans Bold"/>
                <a:sym typeface="Canva Sans Bold"/>
                <a:hlinkClick r:id="rId10" action="ppaction://hlinksldjump"/>
              </a:rPr>
              <a:t>Data Cleaning &amp; Joining</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4569798" y="0"/>
            <a:ext cx="15967855" cy="10875523"/>
            <a:chOff x="0" y="0"/>
            <a:chExt cx="5475623" cy="3729384"/>
          </a:xfrm>
        </p:grpSpPr>
        <p:sp>
          <p:nvSpPr>
            <p:cNvPr name="Freeform 3" id="3"/>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FFBD59"/>
            </a:solidFill>
          </p:spPr>
        </p:sp>
        <p:sp>
          <p:nvSpPr>
            <p:cNvPr name="Freeform 4" id="4"/>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blipFill>
              <a:blip r:embed="rId2"/>
              <a:stretch>
                <a:fillRect l="0" t="-23411" r="0" b="-23411"/>
              </a:stretch>
            </a:blipFill>
          </p:spPr>
        </p:sp>
      </p:grpSp>
      <p:grpSp>
        <p:nvGrpSpPr>
          <p:cNvPr name="Group 5" id="5"/>
          <p:cNvGrpSpPr>
            <a:grpSpLocks noChangeAspect="true"/>
          </p:cNvGrpSpPr>
          <p:nvPr/>
        </p:nvGrpSpPr>
        <p:grpSpPr>
          <a:xfrm rot="0">
            <a:off x="13010793" y="2125428"/>
            <a:ext cx="15967855" cy="10875523"/>
            <a:chOff x="0" y="0"/>
            <a:chExt cx="5475623" cy="3729384"/>
          </a:xfrm>
        </p:grpSpPr>
        <p:sp>
          <p:nvSpPr>
            <p:cNvPr name="Freeform 6" id="6"/>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FFBD59"/>
            </a:solidFill>
          </p:spPr>
        </p:sp>
        <p:sp>
          <p:nvSpPr>
            <p:cNvPr name="Freeform 7" id="7"/>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FF914D"/>
            </a:solidFill>
            <a:ln w="12700">
              <a:solidFill>
                <a:srgbClr val="000000"/>
              </a:solidFill>
            </a:ln>
          </p:spPr>
        </p:sp>
      </p:grpSp>
      <p:sp>
        <p:nvSpPr>
          <p:cNvPr name="TextBox 8" id="8"/>
          <p:cNvSpPr txBox="true"/>
          <p:nvPr/>
        </p:nvSpPr>
        <p:spPr>
          <a:xfrm rot="0">
            <a:off x="878715" y="885817"/>
            <a:ext cx="6294923" cy="2743200"/>
          </a:xfrm>
          <a:prstGeom prst="rect">
            <a:avLst/>
          </a:prstGeom>
        </p:spPr>
        <p:txBody>
          <a:bodyPr anchor="t" rtlCol="false" tIns="0" lIns="0" bIns="0" rIns="0">
            <a:spAutoFit/>
          </a:bodyPr>
          <a:lstStyle/>
          <a:p>
            <a:pPr algn="l">
              <a:lnSpc>
                <a:spcPts val="10800"/>
              </a:lnSpc>
            </a:pPr>
            <a:r>
              <a:rPr lang="en-US" sz="9000">
                <a:solidFill>
                  <a:srgbClr val="1C402E"/>
                </a:solidFill>
                <a:latin typeface="Montserrat"/>
                <a:ea typeface="Montserrat"/>
                <a:cs typeface="Montserrat"/>
                <a:sym typeface="Montserrat"/>
              </a:rPr>
              <a:t>Company Overview</a:t>
            </a:r>
          </a:p>
        </p:txBody>
      </p:sp>
      <p:sp>
        <p:nvSpPr>
          <p:cNvPr name="TextBox 9" id="9"/>
          <p:cNvSpPr txBox="true"/>
          <p:nvPr/>
        </p:nvSpPr>
        <p:spPr>
          <a:xfrm rot="0">
            <a:off x="1028700" y="4123182"/>
            <a:ext cx="5286753" cy="1945386"/>
          </a:xfrm>
          <a:prstGeom prst="rect">
            <a:avLst/>
          </a:prstGeom>
        </p:spPr>
        <p:txBody>
          <a:bodyPr anchor="t" rtlCol="false" tIns="0" lIns="0" bIns="0" rIns="0">
            <a:spAutoFit/>
          </a:bodyPr>
          <a:lstStyle/>
          <a:p>
            <a:pPr algn="l">
              <a:lnSpc>
                <a:spcPts val="3911"/>
              </a:lnSpc>
            </a:pPr>
            <a:r>
              <a:rPr lang="en-US" sz="2400" b="true">
                <a:solidFill>
                  <a:srgbClr val="1C402E"/>
                </a:solidFill>
                <a:latin typeface="Open Sans Bold"/>
                <a:ea typeface="Open Sans Bold"/>
                <a:cs typeface="Open Sans Bold"/>
                <a:sym typeface="Open Sans Bold"/>
              </a:rPr>
              <a:t>TeleWave Communications</a:t>
            </a:r>
            <a:r>
              <a:rPr lang="en-US" sz="2400">
                <a:solidFill>
                  <a:srgbClr val="1C402E"/>
                </a:solidFill>
                <a:latin typeface="Open Sans"/>
                <a:ea typeface="Open Sans"/>
                <a:cs typeface="Open Sans"/>
                <a:sym typeface="Open Sans"/>
              </a:rPr>
              <a:t> is a fictional telco company that provided home phone and Internet services to 7043 customers in California.</a:t>
            </a:r>
          </a:p>
        </p:txBody>
      </p:sp>
      <p:sp>
        <p:nvSpPr>
          <p:cNvPr name="TextBox 10" id="10"/>
          <p:cNvSpPr txBox="true"/>
          <p:nvPr/>
        </p:nvSpPr>
        <p:spPr>
          <a:xfrm rot="0">
            <a:off x="878715" y="9134475"/>
            <a:ext cx="3760969" cy="441960"/>
          </a:xfrm>
          <a:prstGeom prst="rect">
            <a:avLst/>
          </a:prstGeom>
        </p:spPr>
        <p:txBody>
          <a:bodyPr anchor="t" rtlCol="false" tIns="0" lIns="0" bIns="0" rIns="0">
            <a:spAutoFit/>
          </a:bodyPr>
          <a:lstStyle/>
          <a:p>
            <a:pPr algn="just">
              <a:lnSpc>
                <a:spcPts val="3510"/>
              </a:lnSpc>
            </a:pPr>
            <a:r>
              <a:rPr lang="en-US" sz="2700" u="sng">
                <a:solidFill>
                  <a:srgbClr val="1C402E"/>
                </a:solidFill>
                <a:latin typeface="Open Sans"/>
                <a:ea typeface="Open Sans"/>
                <a:cs typeface="Open Sans"/>
                <a:sym typeface="Open Sans"/>
                <a:hlinkClick r:id="rId3" action="ppaction://hlinksldjump"/>
              </a:rPr>
              <a:t>Back to Agenda</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57804" y="0"/>
            <a:ext cx="15967855" cy="10875523"/>
            <a:chOff x="0" y="0"/>
            <a:chExt cx="5475623" cy="3729384"/>
          </a:xfrm>
        </p:grpSpPr>
        <p:sp>
          <p:nvSpPr>
            <p:cNvPr name="Freeform 3" id="3"/>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FFBD59"/>
            </a:solidFill>
          </p:spPr>
        </p:sp>
        <p:sp>
          <p:nvSpPr>
            <p:cNvPr name="Freeform 4" id="4"/>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blipFill>
              <a:blip r:embed="rId2"/>
              <a:stretch>
                <a:fillRect l="0" t="-23411" r="0" b="-23411"/>
              </a:stretch>
            </a:blipFill>
          </p:spPr>
        </p:sp>
      </p:grpSp>
      <p:grpSp>
        <p:nvGrpSpPr>
          <p:cNvPr name="Group 5" id="5"/>
          <p:cNvGrpSpPr>
            <a:grpSpLocks noChangeAspect="true"/>
          </p:cNvGrpSpPr>
          <p:nvPr/>
        </p:nvGrpSpPr>
        <p:grpSpPr>
          <a:xfrm rot="0">
            <a:off x="13010793" y="2125428"/>
            <a:ext cx="15967855" cy="10875523"/>
            <a:chOff x="0" y="0"/>
            <a:chExt cx="5475623" cy="3729384"/>
          </a:xfrm>
        </p:grpSpPr>
        <p:sp>
          <p:nvSpPr>
            <p:cNvPr name="Freeform 6" id="6"/>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FFBD59"/>
            </a:solidFill>
          </p:spPr>
        </p:sp>
        <p:sp>
          <p:nvSpPr>
            <p:cNvPr name="Freeform 7" id="7"/>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FF914D"/>
            </a:solidFill>
            <a:ln w="12700">
              <a:solidFill>
                <a:srgbClr val="000000"/>
              </a:solidFill>
            </a:ln>
          </p:spPr>
        </p:sp>
      </p:grpSp>
      <p:sp>
        <p:nvSpPr>
          <p:cNvPr name="TextBox 8" id="8"/>
          <p:cNvSpPr txBox="true"/>
          <p:nvPr/>
        </p:nvSpPr>
        <p:spPr>
          <a:xfrm rot="0">
            <a:off x="446336" y="1028700"/>
            <a:ext cx="6294923" cy="1371600"/>
          </a:xfrm>
          <a:prstGeom prst="rect">
            <a:avLst/>
          </a:prstGeom>
        </p:spPr>
        <p:txBody>
          <a:bodyPr anchor="t" rtlCol="false" tIns="0" lIns="0" bIns="0" rIns="0">
            <a:spAutoFit/>
          </a:bodyPr>
          <a:lstStyle/>
          <a:p>
            <a:pPr algn="l">
              <a:lnSpc>
                <a:spcPts val="10800"/>
              </a:lnSpc>
            </a:pPr>
            <a:r>
              <a:rPr lang="en-US" sz="9000">
                <a:solidFill>
                  <a:srgbClr val="1C402E"/>
                </a:solidFill>
                <a:latin typeface="Montserrat"/>
                <a:ea typeface="Montserrat"/>
                <a:cs typeface="Montserrat"/>
                <a:sym typeface="Montserrat"/>
              </a:rPr>
              <a:t>Dataset</a:t>
            </a:r>
          </a:p>
        </p:txBody>
      </p:sp>
      <p:sp>
        <p:nvSpPr>
          <p:cNvPr name="TextBox 9" id="9"/>
          <p:cNvSpPr txBox="true"/>
          <p:nvPr/>
        </p:nvSpPr>
        <p:spPr>
          <a:xfrm rot="0">
            <a:off x="599112" y="2501775"/>
            <a:ext cx="9412370" cy="2935986"/>
          </a:xfrm>
          <a:prstGeom prst="rect">
            <a:avLst/>
          </a:prstGeom>
        </p:spPr>
        <p:txBody>
          <a:bodyPr anchor="t" rtlCol="false" tIns="0" lIns="0" bIns="0" rIns="0">
            <a:spAutoFit/>
          </a:bodyPr>
          <a:lstStyle/>
          <a:p>
            <a:pPr algn="just">
              <a:lnSpc>
                <a:spcPts val="3911"/>
              </a:lnSpc>
            </a:pPr>
            <a:r>
              <a:rPr lang="en-US" sz="2400">
                <a:solidFill>
                  <a:srgbClr val="1C402E"/>
                </a:solidFill>
                <a:latin typeface="Open Sans"/>
                <a:ea typeface="Open Sans"/>
                <a:cs typeface="Open Sans"/>
                <a:sym typeface="Open Sans"/>
              </a:rPr>
              <a:t>The dataset of customer churn data contains information of these  7043 customers in California in Q3 such as which customers have left, stayed, or signed up for their service. Multiple important demographics are included for each customer, as well as a Satisfaction Score, Churn Score, and Customer Lifetime Value (CLTV) index.</a:t>
            </a:r>
          </a:p>
        </p:txBody>
      </p:sp>
      <p:sp>
        <p:nvSpPr>
          <p:cNvPr name="TextBox 10" id="10"/>
          <p:cNvSpPr txBox="true"/>
          <p:nvPr/>
        </p:nvSpPr>
        <p:spPr>
          <a:xfrm rot="0">
            <a:off x="878715" y="9134475"/>
            <a:ext cx="3760969" cy="441960"/>
          </a:xfrm>
          <a:prstGeom prst="rect">
            <a:avLst/>
          </a:prstGeom>
        </p:spPr>
        <p:txBody>
          <a:bodyPr anchor="t" rtlCol="false" tIns="0" lIns="0" bIns="0" rIns="0">
            <a:spAutoFit/>
          </a:bodyPr>
          <a:lstStyle/>
          <a:p>
            <a:pPr algn="just">
              <a:lnSpc>
                <a:spcPts val="3510"/>
              </a:lnSpc>
            </a:pPr>
            <a:r>
              <a:rPr lang="en-US" sz="2700" u="sng">
                <a:solidFill>
                  <a:srgbClr val="1C402E"/>
                </a:solidFill>
                <a:latin typeface="Open Sans"/>
                <a:ea typeface="Open Sans"/>
                <a:cs typeface="Open Sans"/>
                <a:sym typeface="Open Sans"/>
                <a:hlinkClick r:id="rId3" action="ppaction://hlinksldjump"/>
              </a:rPr>
              <a:t>Back to Agenda</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7362246" y="0"/>
            <a:ext cx="15967855" cy="10875523"/>
            <a:chOff x="0" y="0"/>
            <a:chExt cx="5475623" cy="3729384"/>
          </a:xfrm>
        </p:grpSpPr>
        <p:sp>
          <p:nvSpPr>
            <p:cNvPr name="Freeform 3" id="3"/>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FFBD59"/>
            </a:solidFill>
          </p:spPr>
        </p:sp>
        <p:sp>
          <p:nvSpPr>
            <p:cNvPr name="Freeform 4" id="4"/>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blipFill>
              <a:blip r:embed="rId2"/>
              <a:stretch>
                <a:fillRect l="-6288" t="0" r="-6288" b="0"/>
              </a:stretch>
            </a:blipFill>
          </p:spPr>
        </p:sp>
      </p:grpSp>
      <p:grpSp>
        <p:nvGrpSpPr>
          <p:cNvPr name="Group 5" id="5"/>
          <p:cNvGrpSpPr>
            <a:grpSpLocks noChangeAspect="true"/>
          </p:cNvGrpSpPr>
          <p:nvPr/>
        </p:nvGrpSpPr>
        <p:grpSpPr>
          <a:xfrm rot="0">
            <a:off x="14199835" y="2557807"/>
            <a:ext cx="15967855" cy="10875523"/>
            <a:chOff x="0" y="0"/>
            <a:chExt cx="5475623" cy="3729384"/>
          </a:xfrm>
        </p:grpSpPr>
        <p:sp>
          <p:nvSpPr>
            <p:cNvPr name="Freeform 6" id="6"/>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FFBD59"/>
            </a:solidFill>
          </p:spPr>
        </p:sp>
        <p:sp>
          <p:nvSpPr>
            <p:cNvPr name="Freeform 7" id="7"/>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FF914D"/>
            </a:solidFill>
            <a:ln w="12700">
              <a:solidFill>
                <a:srgbClr val="000000"/>
              </a:solidFill>
            </a:ln>
          </p:spPr>
        </p:sp>
      </p:grpSp>
      <p:sp>
        <p:nvSpPr>
          <p:cNvPr name="TextBox 8" id="8"/>
          <p:cNvSpPr txBox="true"/>
          <p:nvPr/>
        </p:nvSpPr>
        <p:spPr>
          <a:xfrm rot="0">
            <a:off x="608478" y="753828"/>
            <a:ext cx="9609828" cy="2743200"/>
          </a:xfrm>
          <a:prstGeom prst="rect">
            <a:avLst/>
          </a:prstGeom>
        </p:spPr>
        <p:txBody>
          <a:bodyPr anchor="t" rtlCol="false" tIns="0" lIns="0" bIns="0" rIns="0">
            <a:spAutoFit/>
          </a:bodyPr>
          <a:lstStyle/>
          <a:p>
            <a:pPr algn="l">
              <a:lnSpc>
                <a:spcPts val="10800"/>
              </a:lnSpc>
            </a:pPr>
            <a:r>
              <a:rPr lang="en-US" sz="9000">
                <a:solidFill>
                  <a:srgbClr val="1C402E"/>
                </a:solidFill>
                <a:latin typeface="Montserrat"/>
                <a:ea typeface="Montserrat"/>
                <a:cs typeface="Montserrat"/>
                <a:sym typeface="Montserrat"/>
              </a:rPr>
              <a:t>Problem Statement</a:t>
            </a:r>
          </a:p>
        </p:txBody>
      </p:sp>
      <p:sp>
        <p:nvSpPr>
          <p:cNvPr name="TextBox 9" id="9"/>
          <p:cNvSpPr txBox="true"/>
          <p:nvPr/>
        </p:nvSpPr>
        <p:spPr>
          <a:xfrm rot="0">
            <a:off x="707207" y="3772277"/>
            <a:ext cx="9412370" cy="3431286"/>
          </a:xfrm>
          <a:prstGeom prst="rect">
            <a:avLst/>
          </a:prstGeom>
        </p:spPr>
        <p:txBody>
          <a:bodyPr anchor="t" rtlCol="false" tIns="0" lIns="0" bIns="0" rIns="0">
            <a:spAutoFit/>
          </a:bodyPr>
          <a:lstStyle/>
          <a:p>
            <a:pPr algn="just">
              <a:lnSpc>
                <a:spcPts val="3911"/>
              </a:lnSpc>
            </a:pPr>
            <a:r>
              <a:rPr lang="en-US" sz="2400" b="true">
                <a:solidFill>
                  <a:srgbClr val="1C402E"/>
                </a:solidFill>
                <a:latin typeface="Open Sans Bold"/>
                <a:ea typeface="Open Sans Bold"/>
                <a:cs typeface="Open Sans Bold"/>
                <a:sym typeface="Open Sans Bold"/>
              </a:rPr>
              <a:t>TeleWave Communications</a:t>
            </a:r>
            <a:r>
              <a:rPr lang="en-US" sz="2400">
                <a:solidFill>
                  <a:srgbClr val="1C402E"/>
                </a:solidFill>
                <a:latin typeface="Open Sans"/>
                <a:ea typeface="Open Sans"/>
                <a:cs typeface="Open Sans"/>
                <a:sym typeface="Open Sans"/>
              </a:rPr>
              <a:t> experienced a high churn rate of </a:t>
            </a:r>
            <a:r>
              <a:rPr lang="en-US" sz="2400" b="true">
                <a:solidFill>
                  <a:srgbClr val="DE4F45"/>
                </a:solidFill>
                <a:latin typeface="Open Sans Bold"/>
                <a:ea typeface="Open Sans Bold"/>
                <a:cs typeface="Open Sans Bold"/>
                <a:sym typeface="Open Sans Bold"/>
              </a:rPr>
              <a:t>26.54% </a:t>
            </a:r>
            <a:r>
              <a:rPr lang="en-US" sz="2400">
                <a:solidFill>
                  <a:srgbClr val="1C402E"/>
                </a:solidFill>
                <a:latin typeface="Open Sans"/>
                <a:ea typeface="Open Sans"/>
                <a:cs typeface="Open Sans"/>
                <a:sym typeface="Open Sans"/>
              </a:rPr>
              <a:t>in </a:t>
            </a:r>
            <a:r>
              <a:rPr lang="en-US" sz="2400" b="true">
                <a:solidFill>
                  <a:srgbClr val="1C402E"/>
                </a:solidFill>
                <a:latin typeface="Open Sans Bold"/>
                <a:ea typeface="Open Sans Bold"/>
                <a:cs typeface="Open Sans Bold"/>
                <a:sym typeface="Open Sans Bold"/>
              </a:rPr>
              <a:t>Q3</a:t>
            </a:r>
            <a:r>
              <a:rPr lang="en-US" sz="2400">
                <a:solidFill>
                  <a:srgbClr val="1C402E"/>
                </a:solidFill>
                <a:latin typeface="Open Sans"/>
                <a:ea typeface="Open Sans"/>
                <a:cs typeface="Open Sans"/>
                <a:sym typeface="Open Sans"/>
              </a:rPr>
              <a:t> and seeks to </a:t>
            </a:r>
            <a:r>
              <a:rPr lang="en-US" sz="2400" b="true">
                <a:solidFill>
                  <a:srgbClr val="1C402E"/>
                </a:solidFill>
                <a:latin typeface="Open Sans Bold"/>
                <a:ea typeface="Open Sans Bold"/>
                <a:cs typeface="Open Sans Bold"/>
                <a:sym typeface="Open Sans Bold"/>
              </a:rPr>
              <a:t>identify the underlying factors</a:t>
            </a:r>
            <a:r>
              <a:rPr lang="en-US" sz="2400">
                <a:solidFill>
                  <a:srgbClr val="1C402E"/>
                </a:solidFill>
                <a:latin typeface="Open Sans"/>
                <a:ea typeface="Open Sans"/>
                <a:cs typeface="Open Sans"/>
                <a:sym typeface="Open Sans"/>
              </a:rPr>
              <a:t> contributing to this issue. A </a:t>
            </a:r>
            <a:r>
              <a:rPr lang="en-US" sz="2400" b="true">
                <a:solidFill>
                  <a:srgbClr val="1C402E"/>
                </a:solidFill>
                <a:latin typeface="Open Sans Bold"/>
                <a:ea typeface="Open Sans Bold"/>
                <a:cs typeface="Open Sans Bold"/>
                <a:sym typeface="Open Sans Bold"/>
              </a:rPr>
              <a:t>comprehensive analysis</a:t>
            </a:r>
            <a:r>
              <a:rPr lang="en-US" sz="2400">
                <a:solidFill>
                  <a:srgbClr val="1C402E"/>
                </a:solidFill>
                <a:latin typeface="Open Sans"/>
                <a:ea typeface="Open Sans"/>
                <a:cs typeface="Open Sans"/>
                <a:sym typeface="Open Sans"/>
              </a:rPr>
              <a:t> is required to uncover </a:t>
            </a:r>
            <a:r>
              <a:rPr lang="en-US" sz="2400" b="true">
                <a:solidFill>
                  <a:srgbClr val="1C402E"/>
                </a:solidFill>
                <a:latin typeface="Open Sans Bold"/>
                <a:ea typeface="Open Sans Bold"/>
                <a:cs typeface="Open Sans Bold"/>
                <a:sym typeface="Open Sans Bold"/>
              </a:rPr>
              <a:t>key drivers of customer attrition</a:t>
            </a:r>
            <a:r>
              <a:rPr lang="en-US" sz="2400">
                <a:solidFill>
                  <a:srgbClr val="1C402E"/>
                </a:solidFill>
                <a:latin typeface="Open Sans"/>
                <a:ea typeface="Open Sans"/>
                <a:cs typeface="Open Sans"/>
                <a:sym typeface="Open Sans"/>
              </a:rPr>
              <a:t>, provide </a:t>
            </a:r>
            <a:r>
              <a:rPr lang="en-US" sz="2400" b="true">
                <a:solidFill>
                  <a:srgbClr val="1C402E"/>
                </a:solidFill>
                <a:latin typeface="Open Sans Bold"/>
                <a:ea typeface="Open Sans Bold"/>
                <a:cs typeface="Open Sans Bold"/>
                <a:sym typeface="Open Sans Bold"/>
              </a:rPr>
              <a:t>actionable insights</a:t>
            </a:r>
            <a:r>
              <a:rPr lang="en-US" sz="2400">
                <a:solidFill>
                  <a:srgbClr val="1C402E"/>
                </a:solidFill>
                <a:latin typeface="Open Sans"/>
                <a:ea typeface="Open Sans"/>
                <a:cs typeface="Open Sans"/>
                <a:sym typeface="Open Sans"/>
              </a:rPr>
              <a:t> and </a:t>
            </a:r>
            <a:r>
              <a:rPr lang="en-US" sz="2400" b="true">
                <a:solidFill>
                  <a:srgbClr val="1C402E"/>
                </a:solidFill>
                <a:latin typeface="Open Sans Bold"/>
                <a:ea typeface="Open Sans Bold"/>
                <a:cs typeface="Open Sans Bold"/>
                <a:sym typeface="Open Sans Bold"/>
              </a:rPr>
              <a:t>recommendations</a:t>
            </a:r>
            <a:r>
              <a:rPr lang="en-US" sz="2400">
                <a:solidFill>
                  <a:srgbClr val="1C402E"/>
                </a:solidFill>
                <a:latin typeface="Open Sans"/>
                <a:ea typeface="Open Sans"/>
                <a:cs typeface="Open Sans"/>
                <a:sym typeface="Open Sans"/>
              </a:rPr>
              <a:t> to reduce churn and </a:t>
            </a:r>
            <a:r>
              <a:rPr lang="en-US" sz="2400" b="true">
                <a:solidFill>
                  <a:srgbClr val="1C402E"/>
                </a:solidFill>
                <a:latin typeface="Open Sans Bold"/>
                <a:ea typeface="Open Sans Bold"/>
                <a:cs typeface="Open Sans Bold"/>
                <a:sym typeface="Open Sans Bold"/>
              </a:rPr>
              <a:t>improve customer retention</a:t>
            </a:r>
            <a:r>
              <a:rPr lang="en-US" sz="2400">
                <a:solidFill>
                  <a:srgbClr val="1C402E"/>
                </a:solidFill>
                <a:latin typeface="Open Sans"/>
                <a:ea typeface="Open Sans"/>
                <a:cs typeface="Open Sans"/>
                <a:sym typeface="Open Sans"/>
              </a:rPr>
              <a:t>.</a:t>
            </a:r>
          </a:p>
          <a:p>
            <a:pPr algn="just">
              <a:lnSpc>
                <a:spcPts val="3911"/>
              </a:lnSpc>
            </a:pPr>
          </a:p>
        </p:txBody>
      </p:sp>
      <p:sp>
        <p:nvSpPr>
          <p:cNvPr name="TextBox 10" id="10"/>
          <p:cNvSpPr txBox="true"/>
          <p:nvPr/>
        </p:nvSpPr>
        <p:spPr>
          <a:xfrm rot="0">
            <a:off x="878715" y="9134475"/>
            <a:ext cx="3760969" cy="441960"/>
          </a:xfrm>
          <a:prstGeom prst="rect">
            <a:avLst/>
          </a:prstGeom>
        </p:spPr>
        <p:txBody>
          <a:bodyPr anchor="t" rtlCol="false" tIns="0" lIns="0" bIns="0" rIns="0">
            <a:spAutoFit/>
          </a:bodyPr>
          <a:lstStyle/>
          <a:p>
            <a:pPr algn="just">
              <a:lnSpc>
                <a:spcPts val="3510"/>
              </a:lnSpc>
            </a:pPr>
            <a:r>
              <a:rPr lang="en-US" sz="2700" u="sng">
                <a:solidFill>
                  <a:srgbClr val="1C402E"/>
                </a:solidFill>
                <a:latin typeface="Open Sans"/>
                <a:ea typeface="Open Sans"/>
                <a:cs typeface="Open Sans"/>
                <a:sym typeface="Open Sans"/>
                <a:hlinkClick r:id="rId3" action="ppaction://hlinksldjump"/>
              </a:rPr>
              <a:t>Back to Agenda</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6819541" y="4090876"/>
            <a:ext cx="5167424" cy="5167424"/>
          </a:xfrm>
          <a:custGeom>
            <a:avLst/>
            <a:gdLst/>
            <a:ahLst/>
            <a:cxnLst/>
            <a:rect r="r" b="b" t="t" l="l"/>
            <a:pathLst>
              <a:path h="5167424" w="5167424">
                <a:moveTo>
                  <a:pt x="0" y="0"/>
                </a:moveTo>
                <a:lnTo>
                  <a:pt x="5167424" y="0"/>
                </a:lnTo>
                <a:lnTo>
                  <a:pt x="5167424" y="5167424"/>
                </a:lnTo>
                <a:lnTo>
                  <a:pt x="0" y="51674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2387907" y="2647648"/>
            <a:ext cx="5167424" cy="5167424"/>
          </a:xfrm>
          <a:custGeom>
            <a:avLst/>
            <a:gdLst/>
            <a:ahLst/>
            <a:cxnLst/>
            <a:rect r="r" b="b" t="t" l="l"/>
            <a:pathLst>
              <a:path h="5167424" w="5167424">
                <a:moveTo>
                  <a:pt x="0" y="0"/>
                </a:moveTo>
                <a:lnTo>
                  <a:pt x="5167424" y="0"/>
                </a:lnTo>
                <a:lnTo>
                  <a:pt x="5167424" y="5167424"/>
                </a:lnTo>
                <a:lnTo>
                  <a:pt x="0" y="51674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876198" y="5475977"/>
            <a:ext cx="5246370" cy="5246370"/>
            <a:chOff x="0" y="0"/>
            <a:chExt cx="3282950" cy="3282950"/>
          </a:xfrm>
        </p:grpSpPr>
        <p:sp>
          <p:nvSpPr>
            <p:cNvPr name="Freeform 5" id="5"/>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4"/>
              <a:stretch>
                <a:fillRect l="-32644" t="0" r="-32644" b="0"/>
              </a:stretch>
            </a:blipFill>
          </p:spPr>
        </p:sp>
      </p:grpSp>
      <p:sp>
        <p:nvSpPr>
          <p:cNvPr name="TextBox 6" id="6"/>
          <p:cNvSpPr txBox="true"/>
          <p:nvPr/>
        </p:nvSpPr>
        <p:spPr>
          <a:xfrm rot="0">
            <a:off x="1028700" y="786914"/>
            <a:ext cx="9929816" cy="2743200"/>
          </a:xfrm>
          <a:prstGeom prst="rect">
            <a:avLst/>
          </a:prstGeom>
        </p:spPr>
        <p:txBody>
          <a:bodyPr anchor="t" rtlCol="false" tIns="0" lIns="0" bIns="0" rIns="0">
            <a:spAutoFit/>
          </a:bodyPr>
          <a:lstStyle/>
          <a:p>
            <a:pPr algn="l">
              <a:lnSpc>
                <a:spcPts val="10800"/>
              </a:lnSpc>
            </a:pPr>
            <a:r>
              <a:rPr lang="en-US" sz="9000">
                <a:solidFill>
                  <a:srgbClr val="1C402E"/>
                </a:solidFill>
                <a:latin typeface="Montserrat"/>
                <a:ea typeface="Montserrat"/>
                <a:cs typeface="Montserrat"/>
                <a:sym typeface="Montserrat"/>
              </a:rPr>
              <a:t>Challenges</a:t>
            </a:r>
          </a:p>
          <a:p>
            <a:pPr algn="l">
              <a:lnSpc>
                <a:spcPts val="10800"/>
              </a:lnSpc>
            </a:pPr>
            <a:r>
              <a:rPr lang="en-US" sz="9000">
                <a:solidFill>
                  <a:srgbClr val="1C402E"/>
                </a:solidFill>
                <a:latin typeface="Montserrat"/>
                <a:ea typeface="Montserrat"/>
                <a:cs typeface="Montserrat"/>
                <a:sym typeface="Montserrat"/>
              </a:rPr>
              <a:t>and Objectives</a:t>
            </a:r>
          </a:p>
        </p:txBody>
      </p:sp>
      <p:sp>
        <p:nvSpPr>
          <p:cNvPr name="TextBox 7" id="7"/>
          <p:cNvSpPr txBox="true"/>
          <p:nvPr/>
        </p:nvSpPr>
        <p:spPr>
          <a:xfrm rot="0">
            <a:off x="13010793" y="990600"/>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5" action="ppaction://hlinksldjump"/>
              </a:rPr>
              <a:t>Back to Agenda</a:t>
            </a:r>
          </a:p>
        </p:txBody>
      </p:sp>
      <p:grpSp>
        <p:nvGrpSpPr>
          <p:cNvPr name="Group 8" id="8"/>
          <p:cNvGrpSpPr/>
          <p:nvPr/>
        </p:nvGrpSpPr>
        <p:grpSpPr>
          <a:xfrm rot="0">
            <a:off x="12882581" y="2843727"/>
            <a:ext cx="3729041" cy="4447954"/>
            <a:chOff x="0" y="0"/>
            <a:chExt cx="4972054" cy="5930606"/>
          </a:xfrm>
        </p:grpSpPr>
        <p:sp>
          <p:nvSpPr>
            <p:cNvPr name="TextBox 9" id="9"/>
            <p:cNvSpPr txBox="true"/>
            <p:nvPr/>
          </p:nvSpPr>
          <p:spPr>
            <a:xfrm rot="0">
              <a:off x="0" y="-9525"/>
              <a:ext cx="4972054" cy="555625"/>
            </a:xfrm>
            <a:prstGeom prst="rect">
              <a:avLst/>
            </a:prstGeom>
          </p:spPr>
          <p:txBody>
            <a:bodyPr anchor="t" rtlCol="false" tIns="0" lIns="0" bIns="0" rIns="0">
              <a:spAutoFit/>
            </a:bodyPr>
            <a:lstStyle/>
            <a:p>
              <a:pPr algn="l" marL="0" indent="0" lvl="0">
                <a:lnSpc>
                  <a:spcPts val="3240"/>
                </a:lnSpc>
                <a:spcBef>
                  <a:spcPct val="0"/>
                </a:spcBef>
              </a:pPr>
              <a:r>
                <a:rPr lang="en-US" b="true" sz="2700">
                  <a:solidFill>
                    <a:srgbClr val="FFFAF4"/>
                  </a:solidFill>
                  <a:latin typeface="Open Sans Bold"/>
                  <a:ea typeface="Open Sans Bold"/>
                  <a:cs typeface="Open Sans Bold"/>
                  <a:sym typeface="Open Sans Bold"/>
                </a:rPr>
                <a:t>Objectives</a:t>
              </a:r>
            </a:p>
          </p:txBody>
        </p:sp>
        <p:sp>
          <p:nvSpPr>
            <p:cNvPr name="TextBox 10" id="10"/>
            <p:cNvSpPr txBox="true"/>
            <p:nvPr/>
          </p:nvSpPr>
          <p:spPr>
            <a:xfrm rot="0">
              <a:off x="0" y="772856"/>
              <a:ext cx="4972054" cy="5157750"/>
            </a:xfrm>
            <a:prstGeom prst="rect">
              <a:avLst/>
            </a:prstGeom>
          </p:spPr>
          <p:txBody>
            <a:bodyPr anchor="t" rtlCol="false" tIns="0" lIns="0" bIns="0" rIns="0">
              <a:spAutoFit/>
            </a:bodyPr>
            <a:lstStyle/>
            <a:p>
              <a:pPr algn="l" marL="452198" indent="-226099" lvl="1">
                <a:lnSpc>
                  <a:spcPts val="3141"/>
                </a:lnSpc>
                <a:buFont typeface="Arial"/>
                <a:buChar char="•"/>
              </a:pPr>
              <a:r>
                <a:rPr lang="en-US" sz="2094">
                  <a:solidFill>
                    <a:srgbClr val="FFFAF4"/>
                  </a:solidFill>
                  <a:latin typeface="Open Sans"/>
                  <a:ea typeface="Open Sans"/>
                  <a:cs typeface="Open Sans"/>
                  <a:sym typeface="Open Sans"/>
                </a:rPr>
                <a:t>Design an Exploratory Dashboard which summarises all key insights.</a:t>
              </a:r>
            </a:p>
            <a:p>
              <a:pPr algn="l" marL="452198" indent="-226099" lvl="1">
                <a:lnSpc>
                  <a:spcPts val="3141"/>
                </a:lnSpc>
                <a:buFont typeface="Arial"/>
                <a:buChar char="•"/>
              </a:pPr>
              <a:r>
                <a:rPr lang="en-US" sz="2094">
                  <a:solidFill>
                    <a:srgbClr val="FFFAF4"/>
                  </a:solidFill>
                  <a:latin typeface="Open Sans"/>
                  <a:ea typeface="Open Sans"/>
                  <a:cs typeface="Open Sans"/>
                  <a:sym typeface="Open Sans"/>
                </a:rPr>
                <a:t>Build individual visualisations to depict depper insights.</a:t>
              </a:r>
            </a:p>
            <a:p>
              <a:pPr algn="l" marL="452198" indent="-226099" lvl="1">
                <a:lnSpc>
                  <a:spcPts val="3141"/>
                </a:lnSpc>
                <a:buFont typeface="Arial"/>
                <a:buChar char="•"/>
              </a:pPr>
              <a:r>
                <a:rPr lang="en-US" sz="2094">
                  <a:solidFill>
                    <a:srgbClr val="FFFAF4"/>
                  </a:solidFill>
                  <a:latin typeface="Open Sans"/>
                  <a:ea typeface="Open Sans"/>
                  <a:cs typeface="Open Sans"/>
                  <a:sym typeface="Open Sans"/>
                </a:rPr>
                <a:t>Recommendations to decrease overall churn rate.</a:t>
              </a:r>
            </a:p>
          </p:txBody>
        </p:sp>
      </p:grpSp>
      <p:grpSp>
        <p:nvGrpSpPr>
          <p:cNvPr name="Group 11" id="11"/>
          <p:cNvGrpSpPr/>
          <p:nvPr/>
        </p:nvGrpSpPr>
        <p:grpSpPr>
          <a:xfrm rot="0">
            <a:off x="7230166" y="4329627"/>
            <a:ext cx="4050142" cy="3912579"/>
            <a:chOff x="0" y="0"/>
            <a:chExt cx="5400189" cy="5216772"/>
          </a:xfrm>
        </p:grpSpPr>
        <p:sp>
          <p:nvSpPr>
            <p:cNvPr name="TextBox 12" id="12"/>
            <p:cNvSpPr txBox="true"/>
            <p:nvPr/>
          </p:nvSpPr>
          <p:spPr>
            <a:xfrm rot="0">
              <a:off x="0" y="-9525"/>
              <a:ext cx="5400189" cy="555625"/>
            </a:xfrm>
            <a:prstGeom prst="rect">
              <a:avLst/>
            </a:prstGeom>
          </p:spPr>
          <p:txBody>
            <a:bodyPr anchor="t" rtlCol="false" tIns="0" lIns="0" bIns="0" rIns="0">
              <a:spAutoFit/>
            </a:bodyPr>
            <a:lstStyle/>
            <a:p>
              <a:pPr algn="l" marL="0" indent="0" lvl="0">
                <a:lnSpc>
                  <a:spcPts val="3240"/>
                </a:lnSpc>
                <a:spcBef>
                  <a:spcPct val="0"/>
                </a:spcBef>
              </a:pPr>
              <a:r>
                <a:rPr lang="en-US" b="true" sz="2700">
                  <a:solidFill>
                    <a:srgbClr val="FFFAF4"/>
                  </a:solidFill>
                  <a:latin typeface="Open Sans Bold"/>
                  <a:ea typeface="Open Sans Bold"/>
                  <a:cs typeface="Open Sans Bold"/>
                  <a:sym typeface="Open Sans Bold"/>
                </a:rPr>
                <a:t>Challenges</a:t>
              </a:r>
            </a:p>
          </p:txBody>
        </p:sp>
        <p:sp>
          <p:nvSpPr>
            <p:cNvPr name="TextBox 13" id="13"/>
            <p:cNvSpPr txBox="true"/>
            <p:nvPr/>
          </p:nvSpPr>
          <p:spPr>
            <a:xfrm rot="0">
              <a:off x="0" y="791906"/>
              <a:ext cx="5400189" cy="4424867"/>
            </a:xfrm>
            <a:prstGeom prst="rect">
              <a:avLst/>
            </a:prstGeom>
          </p:spPr>
          <p:txBody>
            <a:bodyPr anchor="t" rtlCol="false" tIns="0" lIns="0" bIns="0" rIns="0">
              <a:spAutoFit/>
            </a:bodyPr>
            <a:lstStyle/>
            <a:p>
              <a:pPr algn="just" marL="452198" indent="-226099" lvl="1">
                <a:lnSpc>
                  <a:spcPts val="2932"/>
                </a:lnSpc>
                <a:buFont typeface="Arial"/>
                <a:buChar char="•"/>
              </a:pPr>
              <a:r>
                <a:rPr lang="en-US" sz="2094">
                  <a:solidFill>
                    <a:srgbClr val="FFFAF4"/>
                  </a:solidFill>
                  <a:latin typeface="Open Sans"/>
                  <a:ea typeface="Open Sans"/>
                  <a:cs typeface="Open Sans"/>
                  <a:sym typeface="Open Sans"/>
                </a:rPr>
                <a:t>Identify  underlying reasons for churn rate, build dashboard to present insights.</a:t>
              </a:r>
            </a:p>
            <a:p>
              <a:pPr algn="just">
                <a:lnSpc>
                  <a:spcPts val="2932"/>
                </a:lnSpc>
              </a:pPr>
            </a:p>
            <a:p>
              <a:pPr algn="just" marL="452198" indent="-226099" lvl="1">
                <a:lnSpc>
                  <a:spcPts val="2932"/>
                </a:lnSpc>
                <a:buFont typeface="Arial"/>
                <a:buChar char="•"/>
              </a:pPr>
              <a:r>
                <a:rPr lang="en-US" sz="2094">
                  <a:solidFill>
                    <a:srgbClr val="FFFAF4"/>
                  </a:solidFill>
                  <a:latin typeface="Open Sans"/>
                  <a:ea typeface="Open Sans"/>
                  <a:cs typeface="Open Sans"/>
                  <a:sym typeface="Open Sans"/>
                </a:rPr>
                <a:t>Come up with recommendations to decreases this churn and improve customer retention.</a:t>
              </a:r>
            </a:p>
          </p:txBody>
        </p:sp>
      </p:gr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TextBox 2" id="2"/>
          <p:cNvSpPr txBox="true"/>
          <p:nvPr/>
        </p:nvSpPr>
        <p:spPr>
          <a:xfrm rot="0">
            <a:off x="1028700" y="819150"/>
            <a:ext cx="10295237" cy="1371600"/>
          </a:xfrm>
          <a:prstGeom prst="rect">
            <a:avLst/>
          </a:prstGeom>
        </p:spPr>
        <p:txBody>
          <a:bodyPr anchor="t" rtlCol="false" tIns="0" lIns="0" bIns="0" rIns="0">
            <a:spAutoFit/>
          </a:bodyPr>
          <a:lstStyle/>
          <a:p>
            <a:pPr algn="l">
              <a:lnSpc>
                <a:spcPts val="10800"/>
              </a:lnSpc>
            </a:pPr>
            <a:r>
              <a:rPr lang="en-US" sz="9000">
                <a:solidFill>
                  <a:srgbClr val="1C402E"/>
                </a:solidFill>
                <a:latin typeface="Montserrat"/>
                <a:ea typeface="Montserrat"/>
                <a:cs typeface="Montserrat"/>
                <a:sym typeface="Montserrat"/>
              </a:rPr>
              <a:t>Methodology</a:t>
            </a:r>
          </a:p>
        </p:txBody>
      </p:sp>
      <p:grpSp>
        <p:nvGrpSpPr>
          <p:cNvPr name="Group 3" id="3"/>
          <p:cNvGrpSpPr/>
          <p:nvPr/>
        </p:nvGrpSpPr>
        <p:grpSpPr>
          <a:xfrm rot="0">
            <a:off x="1107152" y="4317420"/>
            <a:ext cx="3939203" cy="4149444"/>
            <a:chOff x="0" y="0"/>
            <a:chExt cx="5252270" cy="5532593"/>
          </a:xfrm>
        </p:grpSpPr>
        <p:sp>
          <p:nvSpPr>
            <p:cNvPr name="Freeform 4" id="4"/>
            <p:cNvSpPr/>
            <p:nvPr/>
          </p:nvSpPr>
          <p:spPr>
            <a:xfrm flipH="false" flipV="false" rot="0">
              <a:off x="3704" y="0"/>
              <a:ext cx="3737670" cy="1495068"/>
            </a:xfrm>
            <a:custGeom>
              <a:avLst/>
              <a:gdLst/>
              <a:ahLst/>
              <a:cxnLst/>
              <a:rect r="r" b="b" t="t" l="l"/>
              <a:pathLst>
                <a:path h="1495068" w="3737670">
                  <a:moveTo>
                    <a:pt x="0" y="0"/>
                  </a:moveTo>
                  <a:lnTo>
                    <a:pt x="3737671" y="0"/>
                  </a:lnTo>
                  <a:lnTo>
                    <a:pt x="3737671" y="1495068"/>
                  </a:lnTo>
                  <a:lnTo>
                    <a:pt x="0" y="14950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0" y="1903286"/>
              <a:ext cx="5248566" cy="1244600"/>
            </a:xfrm>
            <a:prstGeom prst="rect">
              <a:avLst/>
            </a:prstGeom>
          </p:spPr>
          <p:txBody>
            <a:bodyPr anchor="t" rtlCol="false" tIns="0" lIns="0" bIns="0" rIns="0">
              <a:spAutoFit/>
            </a:bodyPr>
            <a:lstStyle/>
            <a:p>
              <a:pPr algn="l" marL="0" indent="0" lvl="0">
                <a:lnSpc>
                  <a:spcPts val="3720"/>
                </a:lnSpc>
                <a:spcBef>
                  <a:spcPct val="0"/>
                </a:spcBef>
              </a:pPr>
              <a:r>
                <a:rPr lang="en-US" sz="3100">
                  <a:solidFill>
                    <a:srgbClr val="1C402E"/>
                  </a:solidFill>
                  <a:latin typeface="Open Sans"/>
                  <a:ea typeface="Open Sans"/>
                  <a:cs typeface="Open Sans"/>
                  <a:sym typeface="Open Sans"/>
                </a:rPr>
                <a:t>Data Cleaning &amp; Joining</a:t>
              </a:r>
            </a:p>
          </p:txBody>
        </p:sp>
        <p:sp>
          <p:nvSpPr>
            <p:cNvPr name="TextBox 6" id="6"/>
            <p:cNvSpPr txBox="true"/>
            <p:nvPr/>
          </p:nvSpPr>
          <p:spPr>
            <a:xfrm rot="0">
              <a:off x="3704" y="3584226"/>
              <a:ext cx="5248566" cy="1948367"/>
            </a:xfrm>
            <a:prstGeom prst="rect">
              <a:avLst/>
            </a:prstGeom>
          </p:spPr>
          <p:txBody>
            <a:bodyPr anchor="t" rtlCol="false" tIns="0" lIns="0" bIns="0" rIns="0">
              <a:spAutoFit/>
            </a:bodyPr>
            <a:lstStyle/>
            <a:p>
              <a:pPr algn="l" marL="452198" indent="-226099" lvl="1">
                <a:lnSpc>
                  <a:spcPts val="2932"/>
                </a:lnSpc>
                <a:spcBef>
                  <a:spcPct val="0"/>
                </a:spcBef>
                <a:buFont typeface="Arial"/>
                <a:buChar char="•"/>
              </a:pPr>
              <a:r>
                <a:rPr lang="en-US" sz="2094">
                  <a:solidFill>
                    <a:srgbClr val="1C402E"/>
                  </a:solidFill>
                  <a:latin typeface="Open Sans"/>
                  <a:ea typeface="Open Sans"/>
                  <a:cs typeface="Open Sans"/>
                  <a:sym typeface="Open Sans"/>
                </a:rPr>
                <a:t>Pe</a:t>
              </a:r>
              <a:r>
                <a:rPr lang="en-US" sz="2094" u="none">
                  <a:solidFill>
                    <a:srgbClr val="1C402E"/>
                  </a:solidFill>
                  <a:latin typeface="Open Sans"/>
                  <a:ea typeface="Open Sans"/>
                  <a:cs typeface="Open Sans"/>
                  <a:sym typeface="Open Sans"/>
                </a:rPr>
                <a:t>rform data cleaning to remove errors and join all tables to get final dataset.</a:t>
              </a:r>
            </a:p>
            <a:p>
              <a:pPr algn="l" marL="0" indent="0" lvl="0">
                <a:lnSpc>
                  <a:spcPts val="2932"/>
                </a:lnSpc>
                <a:spcBef>
                  <a:spcPct val="0"/>
                </a:spcBef>
              </a:pPr>
            </a:p>
          </p:txBody>
        </p:sp>
        <p:sp>
          <p:nvSpPr>
            <p:cNvPr name="TextBox 7" id="7"/>
            <p:cNvSpPr txBox="true"/>
            <p:nvPr/>
          </p:nvSpPr>
          <p:spPr>
            <a:xfrm rot="0">
              <a:off x="206904" y="141208"/>
              <a:ext cx="1726962" cy="1330325"/>
            </a:xfrm>
            <a:prstGeom prst="rect">
              <a:avLst/>
            </a:prstGeom>
          </p:spPr>
          <p:txBody>
            <a:bodyPr anchor="t" rtlCol="false" tIns="0" lIns="0" bIns="0" rIns="0">
              <a:spAutoFit/>
            </a:bodyPr>
            <a:lstStyle/>
            <a:p>
              <a:pPr algn="l" marL="0" indent="0" lvl="0">
                <a:lnSpc>
                  <a:spcPts val="7800"/>
                </a:lnSpc>
                <a:spcBef>
                  <a:spcPct val="0"/>
                </a:spcBef>
              </a:pPr>
              <a:r>
                <a:rPr lang="en-US" sz="6500" u="sng">
                  <a:solidFill>
                    <a:srgbClr val="FFFAF4"/>
                  </a:solidFill>
                  <a:latin typeface="Montserrat"/>
                  <a:ea typeface="Montserrat"/>
                  <a:cs typeface="Montserrat"/>
                  <a:sym typeface="Montserrat"/>
                  <a:hlinkClick r:id="rId4" action="ppaction://hlinksldjump"/>
                </a:rPr>
                <a:t>01</a:t>
              </a:r>
            </a:p>
          </p:txBody>
        </p:sp>
      </p:grpSp>
      <p:grpSp>
        <p:nvGrpSpPr>
          <p:cNvPr name="Group 8" id="8"/>
          <p:cNvGrpSpPr/>
          <p:nvPr/>
        </p:nvGrpSpPr>
        <p:grpSpPr>
          <a:xfrm rot="0">
            <a:off x="6899648" y="4317420"/>
            <a:ext cx="3937771" cy="3406494"/>
            <a:chOff x="0" y="0"/>
            <a:chExt cx="5250361" cy="4541993"/>
          </a:xfrm>
        </p:grpSpPr>
        <p:sp>
          <p:nvSpPr>
            <p:cNvPr name="Freeform 9" id="9"/>
            <p:cNvSpPr/>
            <p:nvPr/>
          </p:nvSpPr>
          <p:spPr>
            <a:xfrm flipH="false" flipV="false" rot="0">
              <a:off x="0" y="0"/>
              <a:ext cx="3737670" cy="1495068"/>
            </a:xfrm>
            <a:custGeom>
              <a:avLst/>
              <a:gdLst/>
              <a:ahLst/>
              <a:cxnLst/>
              <a:rect r="r" b="b" t="t" l="l"/>
              <a:pathLst>
                <a:path h="1495068" w="3737670">
                  <a:moveTo>
                    <a:pt x="0" y="0"/>
                  </a:moveTo>
                  <a:lnTo>
                    <a:pt x="3737670" y="0"/>
                  </a:lnTo>
                  <a:lnTo>
                    <a:pt x="3737670" y="1495068"/>
                  </a:lnTo>
                  <a:lnTo>
                    <a:pt x="0" y="14950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09655" y="141208"/>
              <a:ext cx="2036381" cy="1330325"/>
            </a:xfrm>
            <a:prstGeom prst="rect">
              <a:avLst/>
            </a:prstGeom>
          </p:spPr>
          <p:txBody>
            <a:bodyPr anchor="t" rtlCol="false" tIns="0" lIns="0" bIns="0" rIns="0">
              <a:spAutoFit/>
            </a:bodyPr>
            <a:lstStyle/>
            <a:p>
              <a:pPr algn="l" marL="0" indent="0" lvl="0">
                <a:lnSpc>
                  <a:spcPts val="7800"/>
                </a:lnSpc>
                <a:spcBef>
                  <a:spcPct val="0"/>
                </a:spcBef>
              </a:pPr>
              <a:r>
                <a:rPr lang="en-US" sz="6500" u="sng">
                  <a:solidFill>
                    <a:srgbClr val="FFFAF4"/>
                  </a:solidFill>
                  <a:latin typeface="Montserrat"/>
                  <a:ea typeface="Montserrat"/>
                  <a:cs typeface="Montserrat"/>
                  <a:sym typeface="Montserrat"/>
                  <a:hlinkClick r:id="rId5" action="ppaction://hlinksldjump"/>
                </a:rPr>
                <a:t>02</a:t>
              </a:r>
            </a:p>
          </p:txBody>
        </p:sp>
        <p:sp>
          <p:nvSpPr>
            <p:cNvPr name="TextBox 11" id="11"/>
            <p:cNvSpPr txBox="true"/>
            <p:nvPr/>
          </p:nvSpPr>
          <p:spPr>
            <a:xfrm rot="0">
              <a:off x="1795" y="1903286"/>
              <a:ext cx="5248566" cy="622300"/>
            </a:xfrm>
            <a:prstGeom prst="rect">
              <a:avLst/>
            </a:prstGeom>
          </p:spPr>
          <p:txBody>
            <a:bodyPr anchor="t" rtlCol="false" tIns="0" lIns="0" bIns="0" rIns="0">
              <a:spAutoFit/>
            </a:bodyPr>
            <a:lstStyle/>
            <a:p>
              <a:pPr algn="l" marL="0" indent="0" lvl="0">
                <a:lnSpc>
                  <a:spcPts val="3720"/>
                </a:lnSpc>
                <a:spcBef>
                  <a:spcPct val="0"/>
                </a:spcBef>
              </a:pPr>
              <a:r>
                <a:rPr lang="en-US" sz="3100">
                  <a:solidFill>
                    <a:srgbClr val="1C402E"/>
                  </a:solidFill>
                  <a:latin typeface="Open Sans"/>
                  <a:ea typeface="Open Sans"/>
                  <a:cs typeface="Open Sans"/>
                  <a:sym typeface="Open Sans"/>
                </a:rPr>
                <a:t>Analysis &amp; Insights</a:t>
              </a:r>
            </a:p>
          </p:txBody>
        </p:sp>
        <p:sp>
          <p:nvSpPr>
            <p:cNvPr name="TextBox 12" id="12"/>
            <p:cNvSpPr txBox="true"/>
            <p:nvPr/>
          </p:nvSpPr>
          <p:spPr>
            <a:xfrm rot="0">
              <a:off x="1795" y="3088926"/>
              <a:ext cx="5248566" cy="1453067"/>
            </a:xfrm>
            <a:prstGeom prst="rect">
              <a:avLst/>
            </a:prstGeom>
          </p:spPr>
          <p:txBody>
            <a:bodyPr anchor="t" rtlCol="false" tIns="0" lIns="0" bIns="0" rIns="0">
              <a:spAutoFit/>
            </a:bodyPr>
            <a:lstStyle/>
            <a:p>
              <a:pPr algn="l" marL="452198" indent="-226099" lvl="1">
                <a:lnSpc>
                  <a:spcPts val="2932"/>
                </a:lnSpc>
                <a:spcBef>
                  <a:spcPct val="0"/>
                </a:spcBef>
                <a:buFont typeface="Arial"/>
                <a:buChar char="•"/>
              </a:pPr>
              <a:r>
                <a:rPr lang="en-US" sz="2094">
                  <a:solidFill>
                    <a:srgbClr val="1C402E"/>
                  </a:solidFill>
                  <a:latin typeface="Open Sans"/>
                  <a:ea typeface="Open Sans"/>
                  <a:cs typeface="Open Sans"/>
                  <a:sym typeface="Open Sans"/>
                </a:rPr>
                <a:t>Showcase key insights observed during data analysis of cleaned data.</a:t>
              </a:r>
            </a:p>
          </p:txBody>
        </p:sp>
      </p:grpSp>
      <p:grpSp>
        <p:nvGrpSpPr>
          <p:cNvPr name="Group 13" id="13"/>
          <p:cNvGrpSpPr/>
          <p:nvPr/>
        </p:nvGrpSpPr>
        <p:grpSpPr>
          <a:xfrm rot="0">
            <a:off x="12692058" y="4317420"/>
            <a:ext cx="3939160" cy="3777969"/>
            <a:chOff x="0" y="0"/>
            <a:chExt cx="5252214" cy="5037293"/>
          </a:xfrm>
        </p:grpSpPr>
        <p:sp>
          <p:nvSpPr>
            <p:cNvPr name="Freeform 14" id="14">
              <a:hlinkClick r:id="rId6" action="ppaction://hlinksldjump"/>
            </p:cNvPr>
            <p:cNvSpPr/>
            <p:nvPr/>
          </p:nvSpPr>
          <p:spPr>
            <a:xfrm flipH="false" flipV="false" rot="0">
              <a:off x="0" y="0"/>
              <a:ext cx="3737670" cy="1495068"/>
            </a:xfrm>
            <a:custGeom>
              <a:avLst/>
              <a:gdLst/>
              <a:ahLst/>
              <a:cxnLst/>
              <a:rect r="r" b="b" t="t" l="l"/>
              <a:pathLst>
                <a:path h="1495068" w="3737670">
                  <a:moveTo>
                    <a:pt x="0" y="0"/>
                  </a:moveTo>
                  <a:lnTo>
                    <a:pt x="3737670" y="0"/>
                  </a:lnTo>
                  <a:lnTo>
                    <a:pt x="3737670" y="1495068"/>
                  </a:lnTo>
                  <a:lnTo>
                    <a:pt x="0" y="14950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416110" y="141208"/>
              <a:ext cx="1972137" cy="1330325"/>
            </a:xfrm>
            <a:prstGeom prst="rect">
              <a:avLst/>
            </a:prstGeom>
          </p:spPr>
          <p:txBody>
            <a:bodyPr anchor="t" rtlCol="false" tIns="0" lIns="0" bIns="0" rIns="0">
              <a:spAutoFit/>
            </a:bodyPr>
            <a:lstStyle/>
            <a:p>
              <a:pPr algn="l" marL="0" indent="0" lvl="0">
                <a:lnSpc>
                  <a:spcPts val="7800"/>
                </a:lnSpc>
                <a:spcBef>
                  <a:spcPct val="0"/>
                </a:spcBef>
              </a:pPr>
              <a:r>
                <a:rPr lang="en-US" sz="6500" u="sng">
                  <a:solidFill>
                    <a:srgbClr val="FFFAF4"/>
                  </a:solidFill>
                  <a:latin typeface="Montserrat"/>
                  <a:ea typeface="Montserrat"/>
                  <a:cs typeface="Montserrat"/>
                  <a:sym typeface="Montserrat"/>
                  <a:hlinkClick r:id="rId6" action="ppaction://hlinksldjump"/>
                </a:rPr>
                <a:t>03</a:t>
              </a:r>
            </a:p>
          </p:txBody>
        </p:sp>
        <p:sp>
          <p:nvSpPr>
            <p:cNvPr name="TextBox 16" id="16"/>
            <p:cNvSpPr txBox="true"/>
            <p:nvPr/>
          </p:nvSpPr>
          <p:spPr>
            <a:xfrm rot="0">
              <a:off x="3647" y="1903286"/>
              <a:ext cx="5248566" cy="622300"/>
            </a:xfrm>
            <a:prstGeom prst="rect">
              <a:avLst/>
            </a:prstGeom>
          </p:spPr>
          <p:txBody>
            <a:bodyPr anchor="t" rtlCol="false" tIns="0" lIns="0" bIns="0" rIns="0">
              <a:spAutoFit/>
            </a:bodyPr>
            <a:lstStyle/>
            <a:p>
              <a:pPr algn="l" marL="0" indent="0" lvl="0">
                <a:lnSpc>
                  <a:spcPts val="3720"/>
                </a:lnSpc>
                <a:spcBef>
                  <a:spcPct val="0"/>
                </a:spcBef>
              </a:pPr>
              <a:r>
                <a:rPr lang="en-US" sz="3100">
                  <a:solidFill>
                    <a:srgbClr val="1C402E"/>
                  </a:solidFill>
                  <a:latin typeface="Open Sans"/>
                  <a:ea typeface="Open Sans"/>
                  <a:cs typeface="Open Sans"/>
                  <a:sym typeface="Open Sans"/>
                </a:rPr>
                <a:t>Recommendations</a:t>
              </a:r>
            </a:p>
          </p:txBody>
        </p:sp>
        <p:sp>
          <p:nvSpPr>
            <p:cNvPr name="TextBox 17" id="17"/>
            <p:cNvSpPr txBox="true"/>
            <p:nvPr/>
          </p:nvSpPr>
          <p:spPr>
            <a:xfrm rot="0">
              <a:off x="3647" y="3088926"/>
              <a:ext cx="5248566" cy="1948367"/>
            </a:xfrm>
            <a:prstGeom prst="rect">
              <a:avLst/>
            </a:prstGeom>
          </p:spPr>
          <p:txBody>
            <a:bodyPr anchor="t" rtlCol="false" tIns="0" lIns="0" bIns="0" rIns="0">
              <a:spAutoFit/>
            </a:bodyPr>
            <a:lstStyle/>
            <a:p>
              <a:pPr algn="l" marL="452198" indent="-226099" lvl="1">
                <a:lnSpc>
                  <a:spcPts val="2932"/>
                </a:lnSpc>
                <a:spcBef>
                  <a:spcPct val="0"/>
                </a:spcBef>
                <a:buFont typeface="Arial"/>
                <a:buChar char="•"/>
              </a:pPr>
              <a:r>
                <a:rPr lang="en-US" sz="2094">
                  <a:solidFill>
                    <a:srgbClr val="1C402E"/>
                  </a:solidFill>
                  <a:latin typeface="Open Sans"/>
                  <a:ea typeface="Open Sans"/>
                  <a:cs typeface="Open Sans"/>
                  <a:sym typeface="Open Sans"/>
                </a:rPr>
                <a:t>Based on our insights, come up with recommendations to decrease churn rate.</a:t>
              </a:r>
            </a:p>
          </p:txBody>
        </p:sp>
      </p:grpSp>
      <p:sp>
        <p:nvSpPr>
          <p:cNvPr name="TextBox 18" id="18"/>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7" action="ppaction://hlinksldjump"/>
              </a:rPr>
              <a:t>Back to Agenda</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516667">
            <a:off x="9772888" y="4034296"/>
            <a:ext cx="9921661" cy="9849504"/>
          </a:xfrm>
          <a:custGeom>
            <a:avLst/>
            <a:gdLst/>
            <a:ahLst/>
            <a:cxnLst/>
            <a:rect r="r" b="b" t="t" l="l"/>
            <a:pathLst>
              <a:path h="9849504" w="9921661">
                <a:moveTo>
                  <a:pt x="0" y="0"/>
                </a:moveTo>
                <a:lnTo>
                  <a:pt x="9921661" y="0"/>
                </a:lnTo>
                <a:lnTo>
                  <a:pt x="9921661" y="9849503"/>
                </a:lnTo>
                <a:lnTo>
                  <a:pt x="0" y="9849503"/>
                </a:lnTo>
                <a:lnTo>
                  <a:pt x="0" y="0"/>
                </a:lnTo>
                <a:close/>
              </a:path>
            </a:pathLst>
          </a:custGeom>
          <a:blipFill>
            <a:blip r:embed="rId2"/>
            <a:stretch>
              <a:fillRect l="-21419" t="0" r="-21419" b="0"/>
            </a:stretch>
          </a:blipFill>
        </p:spPr>
      </p:sp>
      <p:sp>
        <p:nvSpPr>
          <p:cNvPr name="Freeform 3" id="3"/>
          <p:cNvSpPr/>
          <p:nvPr/>
        </p:nvSpPr>
        <p:spPr>
          <a:xfrm flipH="false" flipV="false" rot="516667">
            <a:off x="15660597" y="-266330"/>
            <a:ext cx="9921661" cy="9849504"/>
          </a:xfrm>
          <a:custGeom>
            <a:avLst/>
            <a:gdLst/>
            <a:ahLst/>
            <a:cxnLst/>
            <a:rect r="r" b="b" t="t" l="l"/>
            <a:pathLst>
              <a:path h="9849504" w="9921661">
                <a:moveTo>
                  <a:pt x="0" y="0"/>
                </a:moveTo>
                <a:lnTo>
                  <a:pt x="9921662" y="0"/>
                </a:lnTo>
                <a:lnTo>
                  <a:pt x="9921662" y="9849504"/>
                </a:lnTo>
                <a:lnTo>
                  <a:pt x="0" y="98495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16667">
            <a:off x="3942072" y="8412122"/>
            <a:ext cx="9921661" cy="9849504"/>
          </a:xfrm>
          <a:custGeom>
            <a:avLst/>
            <a:gdLst/>
            <a:ahLst/>
            <a:cxnLst/>
            <a:rect r="r" b="b" t="t" l="l"/>
            <a:pathLst>
              <a:path h="9849504" w="9921661">
                <a:moveTo>
                  <a:pt x="0" y="0"/>
                </a:moveTo>
                <a:lnTo>
                  <a:pt x="9921662" y="0"/>
                </a:lnTo>
                <a:lnTo>
                  <a:pt x="9921662" y="9849503"/>
                </a:lnTo>
                <a:lnTo>
                  <a:pt x="0" y="98495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57371" y="981075"/>
            <a:ext cx="2803253" cy="1121301"/>
          </a:xfrm>
          <a:custGeom>
            <a:avLst/>
            <a:gdLst/>
            <a:ahLst/>
            <a:cxnLst/>
            <a:rect r="r" b="b" t="t" l="l"/>
            <a:pathLst>
              <a:path h="1121301" w="2803253">
                <a:moveTo>
                  <a:pt x="0" y="0"/>
                </a:moveTo>
                <a:lnTo>
                  <a:pt x="2803253" y="0"/>
                </a:lnTo>
                <a:lnTo>
                  <a:pt x="2803253" y="1121301"/>
                </a:lnTo>
                <a:lnTo>
                  <a:pt x="0" y="11213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426999" y="1028700"/>
            <a:ext cx="11118183" cy="1095375"/>
          </a:xfrm>
          <a:prstGeom prst="rect">
            <a:avLst/>
          </a:prstGeom>
        </p:spPr>
        <p:txBody>
          <a:bodyPr anchor="t" rtlCol="false" tIns="0" lIns="0" bIns="0" rIns="0">
            <a:spAutoFit/>
          </a:bodyPr>
          <a:lstStyle/>
          <a:p>
            <a:pPr algn="l">
              <a:lnSpc>
                <a:spcPts val="8640"/>
              </a:lnSpc>
            </a:pPr>
            <a:r>
              <a:rPr lang="en-US" sz="7200">
                <a:solidFill>
                  <a:srgbClr val="1C402E"/>
                </a:solidFill>
                <a:latin typeface="Montserrat"/>
                <a:ea typeface="Montserrat"/>
                <a:cs typeface="Montserrat"/>
                <a:sym typeface="Montserrat"/>
              </a:rPr>
              <a:t>Data Cleaning &amp; Joining</a:t>
            </a:r>
          </a:p>
        </p:txBody>
      </p:sp>
      <p:sp>
        <p:nvSpPr>
          <p:cNvPr name="TextBox 7" id="7"/>
          <p:cNvSpPr txBox="true"/>
          <p:nvPr/>
        </p:nvSpPr>
        <p:spPr>
          <a:xfrm rot="0">
            <a:off x="1028700" y="2866374"/>
            <a:ext cx="8401260" cy="3175635"/>
          </a:xfrm>
          <a:prstGeom prst="rect">
            <a:avLst/>
          </a:prstGeom>
        </p:spPr>
        <p:txBody>
          <a:bodyPr anchor="t" rtlCol="false" tIns="0" lIns="0" bIns="0" rIns="0">
            <a:spAutoFit/>
          </a:bodyPr>
          <a:lstStyle/>
          <a:p>
            <a:pPr algn="l">
              <a:lnSpc>
                <a:spcPts val="3600"/>
              </a:lnSpc>
            </a:pPr>
            <a:r>
              <a:rPr lang="en-US" sz="2400">
                <a:solidFill>
                  <a:srgbClr val="1C402E"/>
                </a:solidFill>
                <a:latin typeface="Open Sans"/>
                <a:ea typeface="Open Sans"/>
                <a:cs typeface="Open Sans"/>
                <a:sym typeface="Open Sans"/>
              </a:rPr>
              <a:t>This step involves </a:t>
            </a:r>
            <a:r>
              <a:rPr lang="en-US" sz="2400" b="true">
                <a:solidFill>
                  <a:srgbClr val="1C402E"/>
                </a:solidFill>
                <a:latin typeface="Open Sans Bold"/>
                <a:ea typeface="Open Sans Bold"/>
                <a:cs typeface="Open Sans Bold"/>
                <a:sym typeface="Open Sans Bold"/>
              </a:rPr>
              <a:t>removing errors, inconsistencies, missing data</a:t>
            </a:r>
            <a:r>
              <a:rPr lang="en-US" sz="2400">
                <a:solidFill>
                  <a:srgbClr val="1C402E"/>
                </a:solidFill>
                <a:latin typeface="Open Sans"/>
                <a:ea typeface="Open Sans"/>
                <a:cs typeface="Open Sans"/>
                <a:sym typeface="Open Sans"/>
              </a:rPr>
              <a:t> and other steps to ensure clean data for data analysis.</a:t>
            </a:r>
          </a:p>
          <a:p>
            <a:pPr algn="l">
              <a:lnSpc>
                <a:spcPts val="3600"/>
              </a:lnSpc>
            </a:pPr>
          </a:p>
          <a:p>
            <a:pPr algn="l">
              <a:lnSpc>
                <a:spcPts val="3600"/>
              </a:lnSpc>
            </a:pPr>
            <a:r>
              <a:rPr lang="en-US" sz="2400">
                <a:solidFill>
                  <a:srgbClr val="1C402E"/>
                </a:solidFill>
                <a:latin typeface="Open Sans"/>
                <a:ea typeface="Open Sans"/>
                <a:cs typeface="Open Sans"/>
                <a:sym typeface="Open Sans"/>
              </a:rPr>
              <a:t>We will using </a:t>
            </a:r>
            <a:r>
              <a:rPr lang="en-US" sz="2400" b="true">
                <a:solidFill>
                  <a:srgbClr val="1C402E"/>
                </a:solidFill>
                <a:latin typeface="Open Sans Bold"/>
                <a:ea typeface="Open Sans Bold"/>
                <a:cs typeface="Open Sans Bold"/>
                <a:sym typeface="Open Sans Bold"/>
              </a:rPr>
              <a:t>MS Excel to perform data cleaning </a:t>
            </a:r>
            <a:r>
              <a:rPr lang="en-US" sz="2400">
                <a:solidFill>
                  <a:srgbClr val="1C402E"/>
                </a:solidFill>
                <a:latin typeface="Open Sans"/>
                <a:ea typeface="Open Sans"/>
                <a:cs typeface="Open Sans"/>
                <a:sym typeface="Open Sans"/>
              </a:rPr>
              <a:t>and then join our data in </a:t>
            </a:r>
            <a:r>
              <a:rPr lang="en-US" sz="2400" b="true">
                <a:solidFill>
                  <a:srgbClr val="1C402E"/>
                </a:solidFill>
                <a:latin typeface="Open Sans Bold"/>
                <a:ea typeface="Open Sans Bold"/>
                <a:cs typeface="Open Sans Bold"/>
                <a:sym typeface="Open Sans Bold"/>
              </a:rPr>
              <a:t>SQL </a:t>
            </a:r>
            <a:r>
              <a:rPr lang="en-US" sz="2400">
                <a:solidFill>
                  <a:srgbClr val="1C402E"/>
                </a:solidFill>
                <a:latin typeface="Open Sans"/>
                <a:ea typeface="Open Sans"/>
                <a:cs typeface="Open Sans"/>
                <a:sym typeface="Open Sans"/>
              </a:rPr>
              <a:t>to obtain final cleaned dataset for further analysis.</a:t>
            </a:r>
          </a:p>
        </p:txBody>
      </p:sp>
      <p:sp>
        <p:nvSpPr>
          <p:cNvPr name="TextBox 8" id="8"/>
          <p:cNvSpPr txBox="true"/>
          <p:nvPr/>
        </p:nvSpPr>
        <p:spPr>
          <a:xfrm rot="0">
            <a:off x="13010793" y="94297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7" action="ppaction://hlinksldjump"/>
              </a:rPr>
              <a:t>Back to Agenda</a:t>
            </a:r>
          </a:p>
        </p:txBody>
      </p:sp>
      <p:sp>
        <p:nvSpPr>
          <p:cNvPr name="TextBox 9" id="9"/>
          <p:cNvSpPr txBox="true"/>
          <p:nvPr/>
        </p:nvSpPr>
        <p:spPr>
          <a:xfrm rot="0">
            <a:off x="609771" y="1084600"/>
            <a:ext cx="1295221" cy="1000125"/>
          </a:xfrm>
          <a:prstGeom prst="rect">
            <a:avLst/>
          </a:prstGeom>
        </p:spPr>
        <p:txBody>
          <a:bodyPr anchor="t" rtlCol="false" tIns="0" lIns="0" bIns="0" rIns="0">
            <a:spAutoFit/>
          </a:bodyPr>
          <a:lstStyle/>
          <a:p>
            <a:pPr algn="l" marL="0" indent="0" lvl="0">
              <a:lnSpc>
                <a:spcPts val="7800"/>
              </a:lnSpc>
              <a:spcBef>
                <a:spcPct val="0"/>
              </a:spcBef>
            </a:pPr>
            <a:r>
              <a:rPr lang="en-US" sz="6500" u="none">
                <a:solidFill>
                  <a:srgbClr val="FFFAF4"/>
                </a:solidFill>
                <a:latin typeface="Montserrat"/>
                <a:ea typeface="Montserrat"/>
                <a:cs typeface="Montserrat"/>
                <a:sym typeface="Montserrat"/>
              </a:rPr>
              <a:t>01</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1028700" y="819150"/>
            <a:ext cx="10691558" cy="1371600"/>
          </a:xfrm>
          <a:prstGeom prst="rect">
            <a:avLst/>
          </a:prstGeom>
        </p:spPr>
        <p:txBody>
          <a:bodyPr anchor="t" rtlCol="false" tIns="0" lIns="0" bIns="0" rIns="0">
            <a:spAutoFit/>
          </a:bodyPr>
          <a:lstStyle/>
          <a:p>
            <a:pPr algn="l">
              <a:lnSpc>
                <a:spcPts val="10800"/>
              </a:lnSpc>
            </a:pPr>
            <a:r>
              <a:rPr lang="en-US" sz="9000">
                <a:solidFill>
                  <a:srgbClr val="FFFAF4"/>
                </a:solidFill>
                <a:latin typeface="Montserrat"/>
                <a:ea typeface="Montserrat"/>
                <a:cs typeface="Montserrat"/>
                <a:sym typeface="Montserrat"/>
              </a:rPr>
              <a:t>Data Cleaning</a:t>
            </a:r>
          </a:p>
        </p:txBody>
      </p:sp>
      <p:grpSp>
        <p:nvGrpSpPr>
          <p:cNvPr name="Group 3" id="3"/>
          <p:cNvGrpSpPr/>
          <p:nvPr/>
        </p:nvGrpSpPr>
        <p:grpSpPr>
          <a:xfrm rot="0">
            <a:off x="8758660" y="4994603"/>
            <a:ext cx="8734846" cy="1531620"/>
            <a:chOff x="0" y="0"/>
            <a:chExt cx="11646461" cy="2042160"/>
          </a:xfrm>
        </p:grpSpPr>
        <p:sp>
          <p:nvSpPr>
            <p:cNvPr name="Freeform 4" id="4"/>
            <p:cNvSpPr/>
            <p:nvPr/>
          </p:nvSpPr>
          <p:spPr>
            <a:xfrm flipH="false" flipV="false" rot="0">
              <a:off x="0" y="2949"/>
              <a:ext cx="826061" cy="1495133"/>
            </a:xfrm>
            <a:custGeom>
              <a:avLst/>
              <a:gdLst/>
              <a:ahLst/>
              <a:cxnLst/>
              <a:rect r="r" b="b" t="t" l="l"/>
              <a:pathLst>
                <a:path h="1495133" w="826061">
                  <a:moveTo>
                    <a:pt x="0" y="0"/>
                  </a:moveTo>
                  <a:lnTo>
                    <a:pt x="826061" y="0"/>
                  </a:lnTo>
                  <a:lnTo>
                    <a:pt x="826061" y="1495133"/>
                  </a:lnTo>
                  <a:lnTo>
                    <a:pt x="0" y="1495133"/>
                  </a:lnTo>
                  <a:lnTo>
                    <a:pt x="0" y="0"/>
                  </a:lnTo>
                  <a:close/>
                </a:path>
              </a:pathLst>
            </a:custGeom>
            <a:blipFill>
              <a:blip r:embed="rId3"/>
              <a:stretch>
                <a:fillRect l="0" t="0" r="0" b="0"/>
              </a:stretch>
            </a:blipFill>
          </p:spPr>
        </p:sp>
        <p:sp>
          <p:nvSpPr>
            <p:cNvPr name="TextBox 5" id="5"/>
            <p:cNvSpPr txBox="true"/>
            <p:nvPr/>
          </p:nvSpPr>
          <p:spPr>
            <a:xfrm rot="0">
              <a:off x="1231712" y="-19050"/>
              <a:ext cx="10414749" cy="2061210"/>
            </a:xfrm>
            <a:prstGeom prst="rect">
              <a:avLst/>
            </a:prstGeom>
          </p:spPr>
          <p:txBody>
            <a:bodyPr anchor="t" rtlCol="false" tIns="0" lIns="0" bIns="0" rIns="0">
              <a:spAutoFit/>
            </a:bodyPr>
            <a:lstStyle/>
            <a:p>
              <a:pPr algn="l">
                <a:lnSpc>
                  <a:spcPts val="3120"/>
                </a:lnSpc>
              </a:pPr>
              <a:r>
                <a:rPr lang="en-US" sz="2400" b="true">
                  <a:solidFill>
                    <a:srgbClr val="FFFAF4"/>
                  </a:solidFill>
                  <a:latin typeface="Open Sans Bold"/>
                  <a:ea typeface="Open Sans Bold"/>
                  <a:cs typeface="Open Sans Bold"/>
                  <a:sym typeface="Open Sans Bold"/>
                </a:rPr>
                <a:t>Ensured data to be complete</a:t>
              </a:r>
              <a:r>
                <a:rPr lang="en-US" sz="2400">
                  <a:solidFill>
                    <a:srgbClr val="FFFAF4"/>
                  </a:solidFill>
                  <a:latin typeface="Open Sans"/>
                  <a:ea typeface="Open Sans"/>
                  <a:cs typeface="Open Sans"/>
                  <a:sym typeface="Open Sans"/>
                </a:rPr>
                <a:t> (with no missing values), accurate (looked for inconsistencies and removed them if available) and removed unnecessary columns which do not add any value to table.</a:t>
              </a:r>
            </a:p>
          </p:txBody>
        </p:sp>
      </p:grpSp>
      <p:grpSp>
        <p:nvGrpSpPr>
          <p:cNvPr name="Group 6" id="6"/>
          <p:cNvGrpSpPr/>
          <p:nvPr/>
        </p:nvGrpSpPr>
        <p:grpSpPr>
          <a:xfrm rot="0">
            <a:off x="1028700" y="2653051"/>
            <a:ext cx="8796408" cy="1531620"/>
            <a:chOff x="0" y="0"/>
            <a:chExt cx="11728543" cy="2042160"/>
          </a:xfrm>
        </p:grpSpPr>
        <p:sp>
          <p:nvSpPr>
            <p:cNvPr name="Freeform 7" id="7"/>
            <p:cNvSpPr/>
            <p:nvPr/>
          </p:nvSpPr>
          <p:spPr>
            <a:xfrm flipH="false" flipV="false" rot="0">
              <a:off x="0" y="0"/>
              <a:ext cx="758621" cy="1556146"/>
            </a:xfrm>
            <a:custGeom>
              <a:avLst/>
              <a:gdLst/>
              <a:ahLst/>
              <a:cxnLst/>
              <a:rect r="r" b="b" t="t" l="l"/>
              <a:pathLst>
                <a:path h="1556146" w="758621">
                  <a:moveTo>
                    <a:pt x="0" y="0"/>
                  </a:moveTo>
                  <a:lnTo>
                    <a:pt x="758621" y="0"/>
                  </a:lnTo>
                  <a:lnTo>
                    <a:pt x="758621" y="1556146"/>
                  </a:lnTo>
                  <a:lnTo>
                    <a:pt x="0" y="1556146"/>
                  </a:lnTo>
                  <a:lnTo>
                    <a:pt x="0" y="0"/>
                  </a:lnTo>
                  <a:close/>
                </a:path>
              </a:pathLst>
            </a:custGeom>
            <a:blipFill>
              <a:blip r:embed="rId4"/>
              <a:stretch>
                <a:fillRect l="0" t="0" r="0" b="0"/>
              </a:stretch>
            </a:blipFill>
          </p:spPr>
        </p:sp>
        <p:sp>
          <p:nvSpPr>
            <p:cNvPr name="TextBox 8" id="8"/>
            <p:cNvSpPr txBox="true"/>
            <p:nvPr/>
          </p:nvSpPr>
          <p:spPr>
            <a:xfrm rot="0">
              <a:off x="1313794" y="-19050"/>
              <a:ext cx="10414749" cy="2061210"/>
            </a:xfrm>
            <a:prstGeom prst="rect">
              <a:avLst/>
            </a:prstGeom>
          </p:spPr>
          <p:txBody>
            <a:bodyPr anchor="t" rtlCol="false" tIns="0" lIns="0" bIns="0" rIns="0">
              <a:spAutoFit/>
            </a:bodyPr>
            <a:lstStyle/>
            <a:p>
              <a:pPr algn="l">
                <a:lnSpc>
                  <a:spcPts val="3120"/>
                </a:lnSpc>
              </a:pPr>
              <a:r>
                <a:rPr lang="en-US" sz="2400" b="true">
                  <a:solidFill>
                    <a:srgbClr val="FFFAF4"/>
                  </a:solidFill>
                  <a:latin typeface="Open Sans Bold"/>
                  <a:ea typeface="Open Sans Bold"/>
                  <a:cs typeface="Open Sans Bold"/>
                  <a:sym typeface="Open Sans Bold"/>
                </a:rPr>
                <a:t>Imputed missing values</a:t>
              </a:r>
              <a:r>
                <a:rPr lang="en-US" sz="2400">
                  <a:solidFill>
                    <a:srgbClr val="FFFAF4"/>
                  </a:solidFill>
                  <a:latin typeface="Open Sans"/>
                  <a:ea typeface="Open Sans"/>
                  <a:cs typeface="Open Sans"/>
                  <a:sym typeface="Open Sans"/>
                </a:rPr>
                <a:t> in </a:t>
              </a:r>
              <a:r>
                <a:rPr lang="en-US" sz="2400" b="true">
                  <a:solidFill>
                    <a:srgbClr val="FFFAF4"/>
                  </a:solidFill>
                  <a:latin typeface="Open Sans Bold"/>
                  <a:ea typeface="Open Sans Bold"/>
                  <a:cs typeface="Open Sans Bold"/>
                  <a:sym typeface="Open Sans Bold"/>
                </a:rPr>
                <a:t>`Churn Reason`</a:t>
              </a:r>
              <a:r>
                <a:rPr lang="en-US" sz="2400">
                  <a:solidFill>
                    <a:srgbClr val="FFFAF4"/>
                  </a:solidFill>
                  <a:latin typeface="Open Sans"/>
                  <a:ea typeface="Open Sans"/>
                  <a:cs typeface="Open Sans"/>
                  <a:sym typeface="Open Sans"/>
                </a:rPr>
                <a:t> &amp; </a:t>
              </a:r>
              <a:r>
                <a:rPr lang="en-US" sz="2400" b="true">
                  <a:solidFill>
                    <a:srgbClr val="FFFAF4"/>
                  </a:solidFill>
                  <a:latin typeface="Open Sans Bold"/>
                  <a:ea typeface="Open Sans Bold"/>
                  <a:cs typeface="Open Sans Bold"/>
                  <a:sym typeface="Open Sans Bold"/>
                </a:rPr>
                <a:t>`Churn Category`</a:t>
              </a:r>
              <a:r>
                <a:rPr lang="en-US" sz="2400">
                  <a:solidFill>
                    <a:srgbClr val="FFFAF4"/>
                  </a:solidFill>
                  <a:latin typeface="Open Sans"/>
                  <a:ea typeface="Open Sans"/>
                  <a:cs typeface="Open Sans"/>
                  <a:sym typeface="Open Sans"/>
                </a:rPr>
                <a:t> column of </a:t>
              </a:r>
              <a:r>
                <a:rPr lang="en-US" sz="2400" b="true">
                  <a:solidFill>
                    <a:srgbClr val="FFFAF4"/>
                  </a:solidFill>
                  <a:latin typeface="Open Sans Bold"/>
                  <a:ea typeface="Open Sans Bold"/>
                  <a:cs typeface="Open Sans Bold"/>
                  <a:sym typeface="Open Sans Bold"/>
                </a:rPr>
                <a:t>`Status` table</a:t>
              </a:r>
              <a:r>
                <a:rPr lang="en-US" sz="2400">
                  <a:solidFill>
                    <a:srgbClr val="FFFAF4"/>
                  </a:solidFill>
                  <a:latin typeface="Open Sans"/>
                  <a:ea typeface="Open Sans"/>
                  <a:cs typeface="Open Sans"/>
                  <a:sym typeface="Open Sans"/>
                </a:rPr>
                <a:t> with </a:t>
              </a:r>
              <a:r>
                <a:rPr lang="en-US" sz="2400" b="true">
                  <a:solidFill>
                    <a:srgbClr val="FFFAF4"/>
                  </a:solidFill>
                  <a:latin typeface="Open Sans Bold"/>
                  <a:ea typeface="Open Sans Bold"/>
                  <a:cs typeface="Open Sans Bold"/>
                  <a:sym typeface="Open Sans Bold"/>
                </a:rPr>
                <a:t>`Not Applicable`</a:t>
              </a:r>
              <a:r>
                <a:rPr lang="en-US" sz="2400">
                  <a:solidFill>
                    <a:srgbClr val="FFFAF4"/>
                  </a:solidFill>
                  <a:latin typeface="Open Sans"/>
                  <a:ea typeface="Open Sans"/>
                  <a:cs typeface="Open Sans"/>
                  <a:sym typeface="Open Sans"/>
                </a:rPr>
                <a:t> as missing values were only in the customers who did not churn.</a:t>
              </a:r>
            </a:p>
          </p:txBody>
        </p:sp>
      </p:grpSp>
      <p:sp>
        <p:nvSpPr>
          <p:cNvPr name="TextBox 9" id="9"/>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5" action="ppaction://hlinksldjump"/>
              </a:rPr>
              <a:t>Back to Agenda</a:t>
            </a:r>
          </a:p>
        </p:txBody>
      </p:sp>
      <p:grpSp>
        <p:nvGrpSpPr>
          <p:cNvPr name="Group 10" id="10"/>
          <p:cNvGrpSpPr/>
          <p:nvPr/>
        </p:nvGrpSpPr>
        <p:grpSpPr>
          <a:xfrm rot="0">
            <a:off x="1028700" y="7335848"/>
            <a:ext cx="8691839" cy="1922145"/>
            <a:chOff x="0" y="0"/>
            <a:chExt cx="11589118" cy="2562860"/>
          </a:xfrm>
        </p:grpSpPr>
        <p:sp>
          <p:nvSpPr>
            <p:cNvPr name="Freeform 11" id="11"/>
            <p:cNvSpPr/>
            <p:nvPr/>
          </p:nvSpPr>
          <p:spPr>
            <a:xfrm flipH="false" flipV="false" rot="0">
              <a:off x="0" y="0"/>
              <a:ext cx="937383" cy="1502818"/>
            </a:xfrm>
            <a:custGeom>
              <a:avLst/>
              <a:gdLst/>
              <a:ahLst/>
              <a:cxnLst/>
              <a:rect r="r" b="b" t="t" l="l"/>
              <a:pathLst>
                <a:path h="1502818" w="937383">
                  <a:moveTo>
                    <a:pt x="0" y="0"/>
                  </a:moveTo>
                  <a:lnTo>
                    <a:pt x="937383" y="0"/>
                  </a:lnTo>
                  <a:lnTo>
                    <a:pt x="937383" y="1502818"/>
                  </a:lnTo>
                  <a:lnTo>
                    <a:pt x="0" y="1502818"/>
                  </a:lnTo>
                  <a:lnTo>
                    <a:pt x="0" y="0"/>
                  </a:lnTo>
                  <a:close/>
                </a:path>
              </a:pathLst>
            </a:custGeom>
            <a:blipFill>
              <a:blip r:embed="rId6"/>
              <a:stretch>
                <a:fillRect l="0" t="0" r="0" b="0"/>
              </a:stretch>
            </a:blipFill>
          </p:spPr>
        </p:sp>
        <p:sp>
          <p:nvSpPr>
            <p:cNvPr name="TextBox 12" id="12"/>
            <p:cNvSpPr txBox="true"/>
            <p:nvPr/>
          </p:nvSpPr>
          <p:spPr>
            <a:xfrm rot="0">
              <a:off x="1174369" y="-19050"/>
              <a:ext cx="10414749" cy="2581910"/>
            </a:xfrm>
            <a:prstGeom prst="rect">
              <a:avLst/>
            </a:prstGeom>
          </p:spPr>
          <p:txBody>
            <a:bodyPr anchor="t" rtlCol="false" tIns="0" lIns="0" bIns="0" rIns="0">
              <a:spAutoFit/>
            </a:bodyPr>
            <a:lstStyle/>
            <a:p>
              <a:pPr algn="l">
                <a:lnSpc>
                  <a:spcPts val="3120"/>
                </a:lnSpc>
              </a:pPr>
              <a:r>
                <a:rPr lang="en-US" sz="2400">
                  <a:solidFill>
                    <a:srgbClr val="FFFAF4"/>
                  </a:solidFill>
                  <a:latin typeface="Open Sans"/>
                  <a:ea typeface="Open Sans"/>
                  <a:cs typeface="Open Sans"/>
                  <a:sym typeface="Open Sans"/>
                </a:rPr>
                <a:t>Finally, </a:t>
              </a:r>
              <a:r>
                <a:rPr lang="en-US" sz="2400" b="true">
                  <a:solidFill>
                    <a:srgbClr val="FFFAF4"/>
                  </a:solidFill>
                  <a:latin typeface="Open Sans Bold"/>
                  <a:ea typeface="Open Sans Bold"/>
                  <a:cs typeface="Open Sans Bold"/>
                  <a:sym typeface="Open Sans Bold"/>
                </a:rPr>
                <a:t>merged all the tables </a:t>
              </a:r>
              <a:r>
                <a:rPr lang="en-US" sz="2400">
                  <a:solidFill>
                    <a:srgbClr val="FFFAF4"/>
                  </a:solidFill>
                  <a:latin typeface="Open Sans"/>
                  <a:ea typeface="Open Sans"/>
                  <a:cs typeface="Open Sans"/>
                  <a:sym typeface="Open Sans"/>
                </a:rPr>
                <a:t>as left joined all tables as (on common field “</a:t>
              </a:r>
              <a:r>
                <a:rPr lang="en-US" sz="2400" b="true">
                  <a:solidFill>
                    <a:srgbClr val="FFFAF4"/>
                  </a:solidFill>
                  <a:latin typeface="Open Sans Bold"/>
                  <a:ea typeface="Open Sans Bold"/>
                  <a:cs typeface="Open Sans Bold"/>
                  <a:sym typeface="Open Sans Bold"/>
                </a:rPr>
                <a:t>Customer ID</a:t>
              </a:r>
              <a:r>
                <a:rPr lang="en-US" sz="2400">
                  <a:solidFill>
                    <a:srgbClr val="FFFAF4"/>
                  </a:solidFill>
                  <a:latin typeface="Open Sans"/>
                  <a:ea typeface="Open Sans"/>
                  <a:cs typeface="Open Sans"/>
                  <a:sym typeface="Open Sans"/>
                </a:rPr>
                <a:t>”): </a:t>
              </a:r>
            </a:p>
            <a:p>
              <a:pPr algn="l">
                <a:lnSpc>
                  <a:spcPts val="3120"/>
                </a:lnSpc>
              </a:pPr>
            </a:p>
            <a:p>
              <a:pPr algn="l">
                <a:lnSpc>
                  <a:spcPts val="3120"/>
                </a:lnSpc>
              </a:pPr>
              <a:r>
                <a:rPr lang="en-US" sz="2400" b="true">
                  <a:solidFill>
                    <a:srgbClr val="FFFAF4"/>
                  </a:solidFill>
                  <a:latin typeface="Open Sans Bold"/>
                  <a:ea typeface="Open Sans Bold"/>
                  <a:cs typeface="Open Sans Bold"/>
                  <a:sym typeface="Open Sans Bold"/>
                </a:rPr>
                <a:t>services</a:t>
              </a:r>
              <a:r>
                <a:rPr lang="en-US" sz="2400">
                  <a:solidFill>
                    <a:srgbClr val="FFFAF4"/>
                  </a:solidFill>
                  <a:latin typeface="Open Sans"/>
                  <a:ea typeface="Open Sans"/>
                  <a:cs typeface="Open Sans"/>
                  <a:sym typeface="Open Sans"/>
                </a:rPr>
                <a:t> - - - &gt; </a:t>
              </a:r>
              <a:r>
                <a:rPr lang="en-US" sz="2400" b="true">
                  <a:solidFill>
                    <a:srgbClr val="FFFAF4"/>
                  </a:solidFill>
                  <a:latin typeface="Open Sans Bold"/>
                  <a:ea typeface="Open Sans Bold"/>
                  <a:cs typeface="Open Sans Bold"/>
                  <a:sym typeface="Open Sans Bold"/>
                </a:rPr>
                <a:t>status</a:t>
              </a:r>
              <a:r>
                <a:rPr lang="en-US" sz="2400">
                  <a:solidFill>
                    <a:srgbClr val="FFFAF4"/>
                  </a:solidFill>
                  <a:latin typeface="Open Sans"/>
                  <a:ea typeface="Open Sans"/>
                  <a:cs typeface="Open Sans"/>
                  <a:sym typeface="Open Sans"/>
                </a:rPr>
                <a:t> - - -&gt; </a:t>
              </a:r>
              <a:r>
                <a:rPr lang="en-US" sz="2400" b="true">
                  <a:solidFill>
                    <a:srgbClr val="FFFAF4"/>
                  </a:solidFill>
                  <a:latin typeface="Open Sans Bold"/>
                  <a:ea typeface="Open Sans Bold"/>
                  <a:cs typeface="Open Sans Bold"/>
                  <a:sym typeface="Open Sans Bold"/>
                </a:rPr>
                <a:t>demographics</a:t>
              </a:r>
              <a:r>
                <a:rPr lang="en-US" sz="2400">
                  <a:solidFill>
                    <a:srgbClr val="FFFAF4"/>
                  </a:solidFill>
                  <a:latin typeface="Open Sans"/>
                  <a:ea typeface="Open Sans"/>
                  <a:cs typeface="Open Sans"/>
                  <a:sym typeface="Open Sans"/>
                </a:rPr>
                <a:t> - - -&gt; </a:t>
              </a:r>
              <a:r>
                <a:rPr lang="en-US" sz="2400" b="true">
                  <a:solidFill>
                    <a:srgbClr val="FFFAF4"/>
                  </a:solidFill>
                  <a:latin typeface="Open Sans Bold"/>
                  <a:ea typeface="Open Sans Bold"/>
                  <a:cs typeface="Open Sans Bold"/>
                  <a:sym typeface="Open Sans Bold"/>
                </a:rPr>
                <a:t>location</a:t>
              </a:r>
              <a:r>
                <a:rPr lang="en-US" sz="2400">
                  <a:solidFill>
                    <a:srgbClr val="FFFAF4"/>
                  </a:solidFill>
                  <a:latin typeface="Open Sans"/>
                  <a:ea typeface="Open Sans"/>
                  <a:cs typeface="Open Sans"/>
                  <a:sym typeface="Open Sans"/>
                </a:rPr>
                <a:t> - - -&gt; </a:t>
              </a:r>
              <a:r>
                <a:rPr lang="en-US" sz="2400" b="true">
                  <a:solidFill>
                    <a:srgbClr val="FFFAF4"/>
                  </a:solidFill>
                  <a:latin typeface="Open Sans Bold"/>
                  <a:ea typeface="Open Sans Bold"/>
                  <a:cs typeface="Open Sans Bold"/>
                  <a:sym typeface="Open Sans Bold"/>
                </a:rPr>
                <a:t>population</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516667">
            <a:off x="14666481" y="1440550"/>
            <a:ext cx="9921661" cy="9849504"/>
          </a:xfrm>
          <a:custGeom>
            <a:avLst/>
            <a:gdLst/>
            <a:ahLst/>
            <a:cxnLst/>
            <a:rect r="r" b="b" t="t" l="l"/>
            <a:pathLst>
              <a:path h="9849504" w="9921661">
                <a:moveTo>
                  <a:pt x="0" y="0"/>
                </a:moveTo>
                <a:lnTo>
                  <a:pt x="9921661" y="0"/>
                </a:lnTo>
                <a:lnTo>
                  <a:pt x="9921661" y="9849504"/>
                </a:lnTo>
                <a:lnTo>
                  <a:pt x="0" y="9849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16667">
            <a:off x="5686466" y="8281841"/>
            <a:ext cx="9921661" cy="9849504"/>
          </a:xfrm>
          <a:custGeom>
            <a:avLst/>
            <a:gdLst/>
            <a:ahLst/>
            <a:cxnLst/>
            <a:rect r="r" b="b" t="t" l="l"/>
            <a:pathLst>
              <a:path h="9849504" w="9921661">
                <a:moveTo>
                  <a:pt x="0" y="0"/>
                </a:moveTo>
                <a:lnTo>
                  <a:pt x="9921662" y="0"/>
                </a:lnTo>
                <a:lnTo>
                  <a:pt x="9921662" y="9849504"/>
                </a:lnTo>
                <a:lnTo>
                  <a:pt x="0" y="9849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57371" y="981075"/>
            <a:ext cx="2803253" cy="1121301"/>
          </a:xfrm>
          <a:custGeom>
            <a:avLst/>
            <a:gdLst/>
            <a:ahLst/>
            <a:cxnLst/>
            <a:rect r="r" b="b" t="t" l="l"/>
            <a:pathLst>
              <a:path h="1121301" w="2803253">
                <a:moveTo>
                  <a:pt x="0" y="0"/>
                </a:moveTo>
                <a:lnTo>
                  <a:pt x="2803253" y="0"/>
                </a:lnTo>
                <a:lnTo>
                  <a:pt x="2803253" y="1121301"/>
                </a:lnTo>
                <a:lnTo>
                  <a:pt x="0" y="1121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689960">
            <a:off x="11411006" y="6326798"/>
            <a:ext cx="7725537" cy="8229600"/>
          </a:xfrm>
          <a:custGeom>
            <a:avLst/>
            <a:gdLst/>
            <a:ahLst/>
            <a:cxnLst/>
            <a:rect r="r" b="b" t="t" l="l"/>
            <a:pathLst>
              <a:path h="8229600" w="7725537">
                <a:moveTo>
                  <a:pt x="0" y="0"/>
                </a:moveTo>
                <a:lnTo>
                  <a:pt x="7725537" y="0"/>
                </a:lnTo>
                <a:lnTo>
                  <a:pt x="7725537" y="8229600"/>
                </a:lnTo>
                <a:lnTo>
                  <a:pt x="0" y="8229600"/>
                </a:lnTo>
                <a:lnTo>
                  <a:pt x="0" y="0"/>
                </a:lnTo>
                <a:close/>
              </a:path>
            </a:pathLst>
          </a:custGeom>
          <a:blipFill>
            <a:blip r:embed="rId6"/>
            <a:stretch>
              <a:fillRect l="0" t="0" r="0" b="0"/>
            </a:stretch>
          </a:blipFill>
        </p:spPr>
      </p:sp>
      <p:sp>
        <p:nvSpPr>
          <p:cNvPr name="TextBox 6" id="6"/>
          <p:cNvSpPr txBox="true"/>
          <p:nvPr/>
        </p:nvSpPr>
        <p:spPr>
          <a:xfrm rot="0">
            <a:off x="3426999" y="1028700"/>
            <a:ext cx="11118183" cy="1095375"/>
          </a:xfrm>
          <a:prstGeom prst="rect">
            <a:avLst/>
          </a:prstGeom>
        </p:spPr>
        <p:txBody>
          <a:bodyPr anchor="t" rtlCol="false" tIns="0" lIns="0" bIns="0" rIns="0">
            <a:spAutoFit/>
          </a:bodyPr>
          <a:lstStyle/>
          <a:p>
            <a:pPr algn="l">
              <a:lnSpc>
                <a:spcPts val="8640"/>
              </a:lnSpc>
            </a:pPr>
            <a:r>
              <a:rPr lang="en-US" sz="7200">
                <a:solidFill>
                  <a:srgbClr val="1C402E"/>
                </a:solidFill>
                <a:latin typeface="Montserrat"/>
                <a:ea typeface="Montserrat"/>
                <a:cs typeface="Montserrat"/>
                <a:sym typeface="Montserrat"/>
              </a:rPr>
              <a:t>Analysis &amp; Insights</a:t>
            </a:r>
          </a:p>
        </p:txBody>
      </p:sp>
      <p:sp>
        <p:nvSpPr>
          <p:cNvPr name="TextBox 7" id="7"/>
          <p:cNvSpPr txBox="true"/>
          <p:nvPr/>
        </p:nvSpPr>
        <p:spPr>
          <a:xfrm rot="0">
            <a:off x="1028700" y="3323574"/>
            <a:ext cx="8401260" cy="2261235"/>
          </a:xfrm>
          <a:prstGeom prst="rect">
            <a:avLst/>
          </a:prstGeom>
        </p:spPr>
        <p:txBody>
          <a:bodyPr anchor="t" rtlCol="false" tIns="0" lIns="0" bIns="0" rIns="0">
            <a:spAutoFit/>
          </a:bodyPr>
          <a:lstStyle/>
          <a:p>
            <a:pPr algn="l">
              <a:lnSpc>
                <a:spcPts val="3600"/>
              </a:lnSpc>
            </a:pPr>
            <a:r>
              <a:rPr lang="en-US" sz="2400">
                <a:solidFill>
                  <a:srgbClr val="1C402E"/>
                </a:solidFill>
                <a:latin typeface="Open Sans"/>
                <a:ea typeface="Open Sans"/>
                <a:cs typeface="Open Sans"/>
                <a:sym typeface="Open Sans"/>
              </a:rPr>
              <a:t>This step involves </a:t>
            </a:r>
            <a:r>
              <a:rPr lang="en-US" sz="2400" b="true">
                <a:solidFill>
                  <a:srgbClr val="1C402E"/>
                </a:solidFill>
                <a:latin typeface="Open Sans Bold"/>
                <a:ea typeface="Open Sans Bold"/>
                <a:cs typeface="Open Sans Bold"/>
                <a:sym typeface="Open Sans Bold"/>
              </a:rPr>
              <a:t>Univariate, Bivariate and Multivariate analysis of variables </a:t>
            </a:r>
            <a:r>
              <a:rPr lang="en-US" sz="2400">
                <a:solidFill>
                  <a:srgbClr val="1C402E"/>
                </a:solidFill>
                <a:latin typeface="Open Sans"/>
                <a:ea typeface="Open Sans"/>
                <a:cs typeface="Open Sans"/>
                <a:sym typeface="Open Sans"/>
              </a:rPr>
              <a:t>and</a:t>
            </a:r>
            <a:r>
              <a:rPr lang="en-US" sz="2400" b="true">
                <a:solidFill>
                  <a:srgbClr val="1C402E"/>
                </a:solidFill>
                <a:latin typeface="Open Sans Bold"/>
                <a:ea typeface="Open Sans Bold"/>
                <a:cs typeface="Open Sans Bold"/>
                <a:sym typeface="Open Sans Bold"/>
              </a:rPr>
              <a:t> drawing insights in Tableau. </a:t>
            </a:r>
          </a:p>
          <a:p>
            <a:pPr algn="l">
              <a:lnSpc>
                <a:spcPts val="3600"/>
              </a:lnSpc>
            </a:pPr>
          </a:p>
          <a:p>
            <a:pPr algn="l">
              <a:lnSpc>
                <a:spcPts val="3600"/>
              </a:lnSpc>
            </a:pPr>
            <a:r>
              <a:rPr lang="en-US" sz="2400">
                <a:solidFill>
                  <a:srgbClr val="1C402E"/>
                </a:solidFill>
                <a:latin typeface="Open Sans"/>
                <a:ea typeface="Open Sans"/>
                <a:cs typeface="Open Sans"/>
                <a:sym typeface="Open Sans"/>
              </a:rPr>
              <a:t>Apart from building visualisations</a:t>
            </a:r>
            <a:r>
              <a:rPr lang="en-US" sz="2400" b="true">
                <a:solidFill>
                  <a:srgbClr val="1C402E"/>
                </a:solidFill>
                <a:latin typeface="Open Sans Bold"/>
                <a:ea typeface="Open Sans Bold"/>
                <a:cs typeface="Open Sans Bold"/>
                <a:sym typeface="Open Sans Bold"/>
              </a:rPr>
              <a:t>, a dynamic dashboard would also be added.</a:t>
            </a:r>
          </a:p>
        </p:txBody>
      </p:sp>
      <p:sp>
        <p:nvSpPr>
          <p:cNvPr name="TextBox 8" id="8"/>
          <p:cNvSpPr txBox="true"/>
          <p:nvPr/>
        </p:nvSpPr>
        <p:spPr>
          <a:xfrm rot="0">
            <a:off x="13010793" y="94297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7" action="ppaction://hlinksldjump"/>
              </a:rPr>
              <a:t>Back to Agenda</a:t>
            </a:r>
          </a:p>
        </p:txBody>
      </p:sp>
      <p:sp>
        <p:nvSpPr>
          <p:cNvPr name="TextBox 9" id="9"/>
          <p:cNvSpPr txBox="true"/>
          <p:nvPr/>
        </p:nvSpPr>
        <p:spPr>
          <a:xfrm rot="0">
            <a:off x="609771" y="1084600"/>
            <a:ext cx="1295221" cy="1000125"/>
          </a:xfrm>
          <a:prstGeom prst="rect">
            <a:avLst/>
          </a:prstGeom>
        </p:spPr>
        <p:txBody>
          <a:bodyPr anchor="t" rtlCol="false" tIns="0" lIns="0" bIns="0" rIns="0">
            <a:spAutoFit/>
          </a:bodyPr>
          <a:lstStyle/>
          <a:p>
            <a:pPr algn="l" marL="0" indent="0" lvl="0">
              <a:lnSpc>
                <a:spcPts val="7800"/>
              </a:lnSpc>
              <a:spcBef>
                <a:spcPct val="0"/>
              </a:spcBef>
            </a:pPr>
            <a:r>
              <a:rPr lang="en-US" sz="6500" u="none">
                <a:solidFill>
                  <a:srgbClr val="FFFAF4"/>
                </a:solidFill>
                <a:latin typeface="Montserrat"/>
                <a:ea typeface="Montserrat"/>
                <a:cs typeface="Montserrat"/>
                <a:sym typeface="Montserrat"/>
              </a:rPr>
              <a:t>02</a:t>
            </a:r>
          </a:p>
        </p:txBody>
      </p:sp>
      <p:sp>
        <p:nvSpPr>
          <p:cNvPr name="TextBox 10" id="10"/>
          <p:cNvSpPr txBox="true"/>
          <p:nvPr/>
        </p:nvSpPr>
        <p:spPr>
          <a:xfrm rot="0">
            <a:off x="1028700" y="7345029"/>
            <a:ext cx="8401260" cy="43243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u="sng">
                <a:solidFill>
                  <a:srgbClr val="1C402E"/>
                </a:solidFill>
                <a:latin typeface="Open Sans Bold"/>
                <a:ea typeface="Open Sans Bold"/>
                <a:cs typeface="Open Sans Bold"/>
                <a:sym typeface="Open Sans Bold"/>
                <a:hlinkClick r:id="rId8" action="ppaction://hlinksldjump"/>
              </a:rPr>
              <a:t>Overview</a:t>
            </a:r>
          </a:p>
        </p:txBody>
      </p:sp>
      <p:sp>
        <p:nvSpPr>
          <p:cNvPr name="TextBox 11" id="11"/>
          <p:cNvSpPr txBox="true"/>
          <p:nvPr/>
        </p:nvSpPr>
        <p:spPr>
          <a:xfrm rot="0">
            <a:off x="1028700" y="8078894"/>
            <a:ext cx="8401260" cy="43243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u="sng">
                <a:solidFill>
                  <a:srgbClr val="1C402E"/>
                </a:solidFill>
                <a:latin typeface="Open Sans Bold"/>
                <a:ea typeface="Open Sans Bold"/>
                <a:cs typeface="Open Sans Bold"/>
                <a:sym typeface="Open Sans Bold"/>
                <a:hlinkClick r:id="rId9" action="ppaction://hlinksldjump"/>
              </a:rPr>
              <a:t>Customer Analysis</a:t>
            </a:r>
          </a:p>
        </p:txBody>
      </p:sp>
      <p:sp>
        <p:nvSpPr>
          <p:cNvPr name="TextBox 12" id="12"/>
          <p:cNvSpPr txBox="true"/>
          <p:nvPr/>
        </p:nvSpPr>
        <p:spPr>
          <a:xfrm rot="0">
            <a:off x="1028700" y="8816129"/>
            <a:ext cx="8401260" cy="432435"/>
          </a:xfrm>
          <a:prstGeom prst="rect">
            <a:avLst/>
          </a:prstGeom>
        </p:spPr>
        <p:txBody>
          <a:bodyPr anchor="t" rtlCol="false" tIns="0" lIns="0" bIns="0" rIns="0">
            <a:spAutoFit/>
          </a:bodyPr>
          <a:lstStyle/>
          <a:p>
            <a:pPr algn="l" marL="518160" indent="-259080" lvl="1">
              <a:lnSpc>
                <a:spcPts val="3600"/>
              </a:lnSpc>
              <a:buFont typeface="Arial"/>
              <a:buChar char="•"/>
            </a:pPr>
            <a:r>
              <a:rPr lang="en-US" b="true" sz="2400" u="sng">
                <a:solidFill>
                  <a:srgbClr val="1C402E"/>
                </a:solidFill>
                <a:latin typeface="Open Sans Bold"/>
                <a:ea typeface="Open Sans Bold"/>
                <a:cs typeface="Open Sans Bold"/>
                <a:sym typeface="Open Sans Bold"/>
                <a:hlinkClick r:id="rId10" action="ppaction://hlinksldjump"/>
              </a:rPr>
              <a:t>Service Analysis</a:t>
            </a:r>
          </a:p>
        </p:txBody>
      </p:sp>
      <p:sp>
        <p:nvSpPr>
          <p:cNvPr name="TextBox 13" id="13"/>
          <p:cNvSpPr txBox="true"/>
          <p:nvPr/>
        </p:nvSpPr>
        <p:spPr>
          <a:xfrm rot="0">
            <a:off x="1028700" y="6607794"/>
            <a:ext cx="8401260" cy="432435"/>
          </a:xfrm>
          <a:prstGeom prst="rect">
            <a:avLst/>
          </a:prstGeom>
        </p:spPr>
        <p:txBody>
          <a:bodyPr anchor="t" rtlCol="false" tIns="0" lIns="0" bIns="0" rIns="0">
            <a:spAutoFit/>
          </a:bodyPr>
          <a:lstStyle/>
          <a:p>
            <a:pPr algn="l">
              <a:lnSpc>
                <a:spcPts val="3600"/>
              </a:lnSpc>
            </a:pPr>
            <a:r>
              <a:rPr lang="en-US" sz="2400">
                <a:solidFill>
                  <a:srgbClr val="1C402E"/>
                </a:solidFill>
                <a:latin typeface="Open Sans"/>
                <a:ea typeface="Open Sans"/>
                <a:cs typeface="Open Sans"/>
                <a:sym typeface="Open Sans"/>
              </a:rPr>
              <a:t>This analysis is further divided into following three parts: </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337" r="0" b="-5337"/>
            </a:stretch>
          </a:blipFill>
        </p:spPr>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1028700" y="809625"/>
            <a:ext cx="10691558" cy="2143125"/>
          </a:xfrm>
          <a:prstGeom prst="rect">
            <a:avLst/>
          </a:prstGeom>
        </p:spPr>
        <p:txBody>
          <a:bodyPr anchor="t" rtlCol="false" tIns="0" lIns="0" bIns="0" rIns="0">
            <a:spAutoFit/>
          </a:bodyPr>
          <a:lstStyle/>
          <a:p>
            <a:pPr algn="l">
              <a:lnSpc>
                <a:spcPts val="8400"/>
              </a:lnSpc>
            </a:pPr>
            <a:r>
              <a:rPr lang="en-US" sz="7000">
                <a:solidFill>
                  <a:srgbClr val="FFFAF4"/>
                </a:solidFill>
                <a:latin typeface="Montserrat"/>
                <a:ea typeface="Montserrat"/>
                <a:cs typeface="Montserrat"/>
                <a:sym typeface="Montserrat"/>
              </a:rPr>
              <a:t>Overall Customers &amp; Churn Rate</a:t>
            </a:r>
          </a:p>
        </p:txBody>
      </p:sp>
      <p:sp>
        <p:nvSpPr>
          <p:cNvPr name="TextBox 3" id="3"/>
          <p:cNvSpPr txBox="true"/>
          <p:nvPr/>
        </p:nvSpPr>
        <p:spPr>
          <a:xfrm rot="0">
            <a:off x="1028700" y="5955665"/>
            <a:ext cx="7811062" cy="1160145"/>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FFFAF4"/>
                </a:solidFill>
                <a:latin typeface="Open Sans"/>
                <a:ea typeface="Open Sans"/>
                <a:cs typeface="Open Sans"/>
                <a:sym typeface="Open Sans"/>
              </a:rPr>
              <a:t>Out of </a:t>
            </a:r>
            <a:r>
              <a:rPr lang="en-US" b="true" sz="2400">
                <a:solidFill>
                  <a:srgbClr val="FFFAF4"/>
                </a:solidFill>
                <a:latin typeface="Open Sans Bold"/>
                <a:ea typeface="Open Sans Bold"/>
                <a:cs typeface="Open Sans Bold"/>
                <a:sym typeface="Open Sans Bold"/>
              </a:rPr>
              <a:t>7043 total customers</a:t>
            </a:r>
            <a:r>
              <a:rPr lang="en-US" sz="2400">
                <a:solidFill>
                  <a:srgbClr val="FFFAF4"/>
                </a:solidFill>
                <a:latin typeface="Open Sans"/>
                <a:ea typeface="Open Sans"/>
                <a:cs typeface="Open Sans"/>
                <a:sym typeface="Open Sans"/>
              </a:rPr>
              <a:t>, </a:t>
            </a:r>
            <a:r>
              <a:rPr lang="en-US" b="true" sz="2400">
                <a:solidFill>
                  <a:srgbClr val="FFFAF4"/>
                </a:solidFill>
                <a:latin typeface="Open Sans Bold"/>
                <a:ea typeface="Open Sans Bold"/>
                <a:cs typeface="Open Sans Bold"/>
                <a:sym typeface="Open Sans Bold"/>
              </a:rPr>
              <a:t>1869</a:t>
            </a:r>
            <a:r>
              <a:rPr lang="en-US" sz="2400">
                <a:solidFill>
                  <a:srgbClr val="FFFAF4"/>
                </a:solidFill>
                <a:latin typeface="Open Sans"/>
                <a:ea typeface="Open Sans"/>
                <a:cs typeface="Open Sans"/>
                <a:sym typeface="Open Sans"/>
              </a:rPr>
              <a:t> (26.54%) have stopped using services offered by TeleWave and are </a:t>
            </a:r>
            <a:r>
              <a:rPr lang="en-US" b="true" sz="2400">
                <a:solidFill>
                  <a:srgbClr val="FFFAF4"/>
                </a:solidFill>
                <a:latin typeface="Open Sans Bold"/>
                <a:ea typeface="Open Sans Bold"/>
                <a:cs typeface="Open Sans Bold"/>
                <a:sym typeface="Open Sans Bold"/>
              </a:rPr>
              <a:t>not customers anymore</a:t>
            </a:r>
            <a:r>
              <a:rPr lang="en-US" sz="2400">
                <a:solidFill>
                  <a:srgbClr val="FFFAF4"/>
                </a:solidFill>
                <a:latin typeface="Open Sans"/>
                <a:ea typeface="Open Sans"/>
                <a:cs typeface="Open Sans"/>
                <a:sym typeface="Open Sans"/>
              </a:rPr>
              <a:t>.</a:t>
            </a:r>
          </a:p>
        </p:txBody>
      </p:sp>
      <p:sp>
        <p:nvSpPr>
          <p:cNvPr name="TextBox 4" id="4"/>
          <p:cNvSpPr txBox="true"/>
          <p:nvPr/>
        </p:nvSpPr>
        <p:spPr>
          <a:xfrm rot="0">
            <a:off x="1028700" y="4563745"/>
            <a:ext cx="7811062" cy="1035685"/>
          </a:xfrm>
          <a:prstGeom prst="rect">
            <a:avLst/>
          </a:prstGeom>
        </p:spPr>
        <p:txBody>
          <a:bodyPr anchor="t" rtlCol="false" tIns="0" lIns="0" bIns="0" rIns="0">
            <a:spAutoFit/>
          </a:bodyPr>
          <a:lstStyle/>
          <a:p>
            <a:pPr algn="l">
              <a:lnSpc>
                <a:spcPts val="4160"/>
              </a:lnSpc>
            </a:pPr>
            <a:r>
              <a:rPr lang="en-US" sz="3200">
                <a:solidFill>
                  <a:srgbClr val="FFFAF4"/>
                </a:solidFill>
                <a:latin typeface="Open Sans"/>
                <a:ea typeface="Open Sans"/>
                <a:cs typeface="Open Sans"/>
                <a:sym typeface="Open Sans"/>
              </a:rPr>
              <a:t>High churn rate of </a:t>
            </a:r>
            <a:r>
              <a:rPr lang="en-US" sz="3200" b="true">
                <a:solidFill>
                  <a:srgbClr val="FFFAF4"/>
                </a:solidFill>
                <a:latin typeface="Open Sans Bold"/>
                <a:ea typeface="Open Sans Bold"/>
                <a:cs typeface="Open Sans Bold"/>
                <a:sym typeface="Open Sans Bold"/>
              </a:rPr>
              <a:t>26.54%</a:t>
            </a:r>
            <a:r>
              <a:rPr lang="en-US" sz="3200">
                <a:solidFill>
                  <a:srgbClr val="FFFAF4"/>
                </a:solidFill>
                <a:latin typeface="Open Sans"/>
                <a:ea typeface="Open Sans"/>
                <a:cs typeface="Open Sans"/>
                <a:sym typeface="Open Sans"/>
              </a:rPr>
              <a:t> was observed during </a:t>
            </a:r>
            <a:r>
              <a:rPr lang="en-US" sz="3200" b="true">
                <a:solidFill>
                  <a:srgbClr val="FFFAF4"/>
                </a:solidFill>
                <a:latin typeface="Open Sans Bold"/>
                <a:ea typeface="Open Sans Bold"/>
                <a:cs typeface="Open Sans Bold"/>
                <a:sym typeface="Open Sans Bold"/>
              </a:rPr>
              <a:t>third quarter</a:t>
            </a:r>
            <a:r>
              <a:rPr lang="en-US" sz="3200">
                <a:solidFill>
                  <a:srgbClr val="FFFAF4"/>
                </a:solidFill>
                <a:latin typeface="Open Sans"/>
                <a:ea typeface="Open Sans"/>
                <a:cs typeface="Open Sans"/>
                <a:sym typeface="Open Sans"/>
              </a:rPr>
              <a:t> overall.</a:t>
            </a:r>
          </a:p>
        </p:txBody>
      </p:sp>
      <p:sp>
        <p:nvSpPr>
          <p:cNvPr name="TextBox 5" id="5"/>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3" action="ppaction://hlinksldjump"/>
              </a:rPr>
              <a:t>Back to Agenda</a:t>
            </a:r>
          </a:p>
        </p:txBody>
      </p:sp>
      <p:grpSp>
        <p:nvGrpSpPr>
          <p:cNvPr name="Group 6" id="6"/>
          <p:cNvGrpSpPr/>
          <p:nvPr/>
        </p:nvGrpSpPr>
        <p:grpSpPr>
          <a:xfrm rot="0">
            <a:off x="9500785" y="3940637"/>
            <a:ext cx="8787215" cy="2816714"/>
            <a:chOff x="0" y="0"/>
            <a:chExt cx="11716286" cy="3755619"/>
          </a:xfrm>
        </p:grpSpPr>
        <p:sp>
          <p:nvSpPr>
            <p:cNvPr name="Freeform 7" id="7"/>
            <p:cNvSpPr/>
            <p:nvPr/>
          </p:nvSpPr>
          <p:spPr>
            <a:xfrm flipH="false" flipV="false" rot="0">
              <a:off x="0" y="0"/>
              <a:ext cx="11716286" cy="2712103"/>
            </a:xfrm>
            <a:custGeom>
              <a:avLst/>
              <a:gdLst/>
              <a:ahLst/>
              <a:cxnLst/>
              <a:rect r="r" b="b" t="t" l="l"/>
              <a:pathLst>
                <a:path h="2712103" w="11716286">
                  <a:moveTo>
                    <a:pt x="0" y="0"/>
                  </a:moveTo>
                  <a:lnTo>
                    <a:pt x="11716286" y="0"/>
                  </a:lnTo>
                  <a:lnTo>
                    <a:pt x="11716286" y="2712103"/>
                  </a:lnTo>
                  <a:lnTo>
                    <a:pt x="0" y="2712103"/>
                  </a:lnTo>
                  <a:lnTo>
                    <a:pt x="0" y="0"/>
                  </a:lnTo>
                  <a:close/>
                </a:path>
              </a:pathLst>
            </a:custGeom>
            <a:blipFill>
              <a:blip r:embed="rId4"/>
              <a:stretch>
                <a:fillRect l="0" t="0" r="0" b="0"/>
              </a:stretch>
            </a:blipFill>
          </p:spPr>
        </p:sp>
        <p:sp>
          <p:nvSpPr>
            <p:cNvPr name="TextBox 8" id="8"/>
            <p:cNvSpPr txBox="true"/>
            <p:nvPr/>
          </p:nvSpPr>
          <p:spPr>
            <a:xfrm rot="0">
              <a:off x="3058589" y="3132898"/>
              <a:ext cx="6210697" cy="622721"/>
            </a:xfrm>
            <a:prstGeom prst="rect">
              <a:avLst/>
            </a:prstGeom>
          </p:spPr>
          <p:txBody>
            <a:bodyPr anchor="t" rtlCol="false" tIns="0" lIns="0" bIns="0" rIns="0">
              <a:spAutoFit/>
            </a:bodyPr>
            <a:lstStyle/>
            <a:p>
              <a:pPr algn="ctr" marL="0" indent="0" lvl="0">
                <a:lnSpc>
                  <a:spcPts val="3920"/>
                </a:lnSpc>
                <a:spcBef>
                  <a:spcPct val="0"/>
                </a:spcBef>
              </a:pPr>
              <a:r>
                <a:rPr lang="en-US" b="true" sz="2800">
                  <a:solidFill>
                    <a:srgbClr val="FFFFFF"/>
                  </a:solidFill>
                  <a:latin typeface="Canva Sans Bold"/>
                  <a:ea typeface="Canva Sans Bold"/>
                  <a:cs typeface="Canva Sans Bold"/>
                  <a:sym typeface="Canva Sans Bold"/>
                </a:rPr>
                <a:t>Customers and Churn Rate</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1028700" y="415290"/>
            <a:ext cx="10360479" cy="1371600"/>
          </a:xfrm>
          <a:prstGeom prst="rect">
            <a:avLst/>
          </a:prstGeom>
        </p:spPr>
        <p:txBody>
          <a:bodyPr anchor="t" rtlCol="false" tIns="0" lIns="0" bIns="0" rIns="0">
            <a:spAutoFit/>
          </a:bodyPr>
          <a:lstStyle/>
          <a:p>
            <a:pPr algn="l">
              <a:lnSpc>
                <a:spcPts val="10800"/>
              </a:lnSpc>
            </a:pPr>
            <a:r>
              <a:rPr lang="en-US" sz="9000">
                <a:solidFill>
                  <a:srgbClr val="FFFAF4"/>
                </a:solidFill>
                <a:latin typeface="Montserrat"/>
                <a:ea typeface="Montserrat"/>
                <a:cs typeface="Montserrat"/>
                <a:sym typeface="Montserrat"/>
              </a:rPr>
              <a:t>Churn Category</a:t>
            </a:r>
          </a:p>
        </p:txBody>
      </p:sp>
      <p:sp>
        <p:nvSpPr>
          <p:cNvPr name="TextBox 3" id="3"/>
          <p:cNvSpPr txBox="true"/>
          <p:nvPr/>
        </p:nvSpPr>
        <p:spPr>
          <a:xfrm rot="0">
            <a:off x="1028700" y="5425547"/>
            <a:ext cx="8310507" cy="1550670"/>
          </a:xfrm>
          <a:prstGeom prst="rect">
            <a:avLst/>
          </a:prstGeom>
        </p:spPr>
        <p:txBody>
          <a:bodyPr anchor="t" rtlCol="false" tIns="0" lIns="0" bIns="0" rIns="0">
            <a:spAutoFit/>
          </a:bodyPr>
          <a:lstStyle/>
          <a:p>
            <a:pPr algn="l" marL="518160" indent="-259080" lvl="1">
              <a:lnSpc>
                <a:spcPts val="3120"/>
              </a:lnSpc>
              <a:buFont typeface="Arial"/>
              <a:buChar char="•"/>
            </a:pPr>
            <a:r>
              <a:rPr lang="en-US" b="true" sz="2400">
                <a:solidFill>
                  <a:srgbClr val="FFFAF4"/>
                </a:solidFill>
                <a:latin typeface="Open Sans Bold"/>
                <a:ea typeface="Open Sans Bold"/>
                <a:cs typeface="Open Sans Bold"/>
                <a:sym typeface="Open Sans Bold"/>
              </a:rPr>
              <a:t>Competitor</a:t>
            </a:r>
            <a:r>
              <a:rPr lang="en-US" sz="2400">
                <a:solidFill>
                  <a:srgbClr val="FFFAF4"/>
                </a:solidFill>
                <a:latin typeface="Open Sans"/>
                <a:ea typeface="Open Sans"/>
                <a:cs typeface="Open Sans"/>
                <a:sym typeface="Open Sans"/>
              </a:rPr>
              <a:t> (45%), </a:t>
            </a:r>
            <a:r>
              <a:rPr lang="en-US" b="true" sz="2400">
                <a:solidFill>
                  <a:srgbClr val="FFFAF4"/>
                </a:solidFill>
                <a:latin typeface="Open Sans Bold"/>
                <a:ea typeface="Open Sans Bold"/>
                <a:cs typeface="Open Sans Bold"/>
                <a:sym typeface="Open Sans Bold"/>
              </a:rPr>
              <a:t>Attitude </a:t>
            </a:r>
            <a:r>
              <a:rPr lang="en-US" sz="2400">
                <a:solidFill>
                  <a:srgbClr val="FFFAF4"/>
                </a:solidFill>
                <a:latin typeface="Open Sans"/>
                <a:ea typeface="Open Sans"/>
                <a:cs typeface="Open Sans"/>
                <a:sym typeface="Open Sans"/>
              </a:rPr>
              <a:t>(17%) and </a:t>
            </a:r>
            <a:r>
              <a:rPr lang="en-US" b="true" sz="2400">
                <a:solidFill>
                  <a:srgbClr val="FFFAF4"/>
                </a:solidFill>
                <a:latin typeface="Open Sans Bold"/>
                <a:ea typeface="Open Sans Bold"/>
                <a:cs typeface="Open Sans Bold"/>
                <a:sym typeface="Open Sans Bold"/>
              </a:rPr>
              <a:t>Dissatisfaction</a:t>
            </a:r>
            <a:r>
              <a:rPr lang="en-US" sz="2400">
                <a:solidFill>
                  <a:srgbClr val="FFFAF4"/>
                </a:solidFill>
                <a:latin typeface="Open Sans"/>
                <a:ea typeface="Open Sans"/>
                <a:cs typeface="Open Sans"/>
                <a:sym typeface="Open Sans"/>
              </a:rPr>
              <a:t> (16%) are the most popular categories for customer churning. </a:t>
            </a:r>
          </a:p>
          <a:p>
            <a:pPr algn="l">
              <a:lnSpc>
                <a:spcPts val="3120"/>
              </a:lnSpc>
            </a:pPr>
          </a:p>
        </p:txBody>
      </p:sp>
      <p:sp>
        <p:nvSpPr>
          <p:cNvPr name="TextBox 4" id="4"/>
          <p:cNvSpPr txBox="true"/>
          <p:nvPr/>
        </p:nvSpPr>
        <p:spPr>
          <a:xfrm rot="0">
            <a:off x="1028700" y="4033627"/>
            <a:ext cx="7811062" cy="1035685"/>
          </a:xfrm>
          <a:prstGeom prst="rect">
            <a:avLst/>
          </a:prstGeom>
        </p:spPr>
        <p:txBody>
          <a:bodyPr anchor="t" rtlCol="false" tIns="0" lIns="0" bIns="0" rIns="0">
            <a:spAutoFit/>
          </a:bodyPr>
          <a:lstStyle/>
          <a:p>
            <a:pPr algn="l">
              <a:lnSpc>
                <a:spcPts val="4160"/>
              </a:lnSpc>
            </a:pPr>
            <a:r>
              <a:rPr lang="en-US" sz="3200" b="true">
                <a:solidFill>
                  <a:srgbClr val="FFFAF4"/>
                </a:solidFill>
                <a:latin typeface="Open Sans Bold"/>
                <a:ea typeface="Open Sans Bold"/>
                <a:cs typeface="Open Sans Bold"/>
                <a:sym typeface="Open Sans Bold"/>
              </a:rPr>
              <a:t>Competitor </a:t>
            </a:r>
            <a:r>
              <a:rPr lang="en-US" sz="3200">
                <a:solidFill>
                  <a:srgbClr val="FFFAF4"/>
                </a:solidFill>
                <a:latin typeface="Open Sans"/>
                <a:ea typeface="Open Sans"/>
                <a:cs typeface="Open Sans"/>
                <a:sym typeface="Open Sans"/>
              </a:rPr>
              <a:t>is a major reason for nearly half of churned customers.</a:t>
            </a:r>
          </a:p>
        </p:txBody>
      </p:sp>
      <p:pic>
        <p:nvPicPr>
          <p:cNvPr name="Picture 5" id="5"/>
          <p:cNvPicPr>
            <a:picLocks noChangeAspect="true"/>
          </p:cNvPicPr>
          <p:nvPr/>
        </p:nvPicPr>
        <p:blipFill>
          <a:blip r:embed="rId2"/>
          <a:stretch>
            <a:fillRect/>
          </a:stretch>
        </p:blipFill>
        <p:spPr>
          <a:xfrm rot="0">
            <a:off x="9632952" y="1264348"/>
            <a:ext cx="8653764" cy="7758305"/>
          </a:xfrm>
          <a:prstGeom prst="rect">
            <a:avLst/>
          </a:prstGeom>
        </p:spPr>
      </p:pic>
      <p:sp>
        <p:nvSpPr>
          <p:cNvPr name="TextBox 6" id="6"/>
          <p:cNvSpPr txBox="true"/>
          <p:nvPr/>
        </p:nvSpPr>
        <p:spPr>
          <a:xfrm rot="0">
            <a:off x="13317061" y="377190"/>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3" action="ppaction://hlinksldjump"/>
              </a:rPr>
              <a:t>Back to Agenda</a:t>
            </a:r>
          </a:p>
        </p:txBody>
      </p:sp>
      <p:sp>
        <p:nvSpPr>
          <p:cNvPr name="TextBox 7" id="7"/>
          <p:cNvSpPr txBox="true"/>
          <p:nvPr/>
        </p:nvSpPr>
        <p:spPr>
          <a:xfrm rot="0">
            <a:off x="5183953" y="9232480"/>
            <a:ext cx="8310507" cy="769620"/>
          </a:xfrm>
          <a:prstGeom prst="rect">
            <a:avLst/>
          </a:prstGeom>
        </p:spPr>
        <p:txBody>
          <a:bodyPr anchor="t" rtlCol="false" tIns="0" lIns="0" bIns="0" rIns="0">
            <a:spAutoFit/>
          </a:bodyPr>
          <a:lstStyle/>
          <a:p>
            <a:pPr algn="l">
              <a:lnSpc>
                <a:spcPts val="3120"/>
              </a:lnSpc>
            </a:pPr>
            <a:r>
              <a:rPr lang="en-US" sz="2400" b="true">
                <a:solidFill>
                  <a:srgbClr val="FFFAF4"/>
                </a:solidFill>
                <a:latin typeface="Open Sans Bold"/>
                <a:ea typeface="Open Sans Bold"/>
                <a:cs typeface="Open Sans Bold"/>
                <a:sym typeface="Open Sans Bold"/>
              </a:rPr>
              <a:t>Let us look deeper into each category to understand better...</a:t>
            </a:r>
          </a:p>
        </p:txBody>
      </p:sp>
      <p:sp>
        <p:nvSpPr>
          <p:cNvPr name="TextBox 8" id="8"/>
          <p:cNvSpPr txBox="true"/>
          <p:nvPr/>
        </p:nvSpPr>
        <p:spPr>
          <a:xfrm rot="0">
            <a:off x="13600281" y="8542838"/>
            <a:ext cx="2378869" cy="356234"/>
          </a:xfrm>
          <a:prstGeom prst="rect">
            <a:avLst/>
          </a:prstGeom>
        </p:spPr>
        <p:txBody>
          <a:bodyPr anchor="t" rtlCol="false" tIns="0" lIns="0" bIns="0" rIns="0">
            <a:spAutoFit/>
          </a:bodyPr>
          <a:lstStyle/>
          <a:p>
            <a:pPr algn="ctr" marL="0" indent="0" lvl="0">
              <a:lnSpc>
                <a:spcPts val="2940"/>
              </a:lnSpc>
              <a:spcBef>
                <a:spcPct val="0"/>
              </a:spcBef>
            </a:pPr>
            <a:r>
              <a:rPr lang="en-US" sz="2100">
                <a:solidFill>
                  <a:srgbClr val="FFFFFF"/>
                </a:solidFill>
                <a:latin typeface="Canva Sans"/>
                <a:ea typeface="Canva Sans"/>
                <a:cs typeface="Canva Sans"/>
                <a:sym typeface="Canva Sans"/>
              </a:rPr>
              <a:t>Churn by category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9671066" y="1937851"/>
            <a:ext cx="7449709" cy="7449709"/>
          </a:xfrm>
          <a:custGeom>
            <a:avLst/>
            <a:gdLst/>
            <a:ahLst/>
            <a:cxnLst/>
            <a:rect r="r" b="b" t="t" l="l"/>
            <a:pathLst>
              <a:path h="7449709" w="7449709">
                <a:moveTo>
                  <a:pt x="0" y="0"/>
                </a:moveTo>
                <a:lnTo>
                  <a:pt x="7449709" y="0"/>
                </a:lnTo>
                <a:lnTo>
                  <a:pt x="7449709" y="7449709"/>
                </a:lnTo>
                <a:lnTo>
                  <a:pt x="0" y="7449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p:cNvPicPr>
            <a:picLocks noChangeAspect="true"/>
          </p:cNvPicPr>
          <p:nvPr/>
        </p:nvPicPr>
        <p:blipFill>
          <a:blip r:embed="rId4"/>
          <a:stretch>
            <a:fillRect/>
          </a:stretch>
        </p:blipFill>
        <p:spPr>
          <a:xfrm rot="0">
            <a:off x="9842604" y="1325624"/>
            <a:ext cx="7106634" cy="8794840"/>
          </a:xfrm>
          <a:prstGeom prst="rect">
            <a:avLst/>
          </a:prstGeom>
        </p:spPr>
      </p:pic>
      <p:sp>
        <p:nvSpPr>
          <p:cNvPr name="TextBox 4" id="4"/>
          <p:cNvSpPr txBox="true"/>
          <p:nvPr/>
        </p:nvSpPr>
        <p:spPr>
          <a:xfrm rot="0">
            <a:off x="1028700" y="800100"/>
            <a:ext cx="7538080" cy="2143125"/>
          </a:xfrm>
          <a:prstGeom prst="rect">
            <a:avLst/>
          </a:prstGeom>
        </p:spPr>
        <p:txBody>
          <a:bodyPr anchor="t" rtlCol="false" tIns="0" lIns="0" bIns="0" rIns="0">
            <a:spAutoFit/>
          </a:bodyPr>
          <a:lstStyle/>
          <a:p>
            <a:pPr algn="l">
              <a:lnSpc>
                <a:spcPts val="8400"/>
              </a:lnSpc>
            </a:pPr>
            <a:r>
              <a:rPr lang="en-US" sz="7000">
                <a:solidFill>
                  <a:srgbClr val="1C402E"/>
                </a:solidFill>
                <a:latin typeface="Montserrat"/>
                <a:ea typeface="Montserrat"/>
                <a:cs typeface="Montserrat"/>
                <a:sym typeface="Montserrat"/>
              </a:rPr>
              <a:t>Competitor (Subcategory)</a:t>
            </a:r>
          </a:p>
        </p:txBody>
      </p:sp>
      <p:sp>
        <p:nvSpPr>
          <p:cNvPr name="TextBox 5" id="5"/>
          <p:cNvSpPr txBox="true"/>
          <p:nvPr/>
        </p:nvSpPr>
        <p:spPr>
          <a:xfrm rot="0">
            <a:off x="1154811" y="6022186"/>
            <a:ext cx="7811062" cy="769620"/>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1C402E"/>
                </a:solidFill>
                <a:latin typeface="Open Sans"/>
                <a:ea typeface="Open Sans"/>
                <a:cs typeface="Open Sans"/>
                <a:sym typeface="Open Sans"/>
              </a:rPr>
              <a:t>Competitor is offering better devices, better offers, more data, and higher download speeds</a:t>
            </a:r>
          </a:p>
        </p:txBody>
      </p:sp>
      <p:sp>
        <p:nvSpPr>
          <p:cNvPr name="TextBox 6" id="6"/>
          <p:cNvSpPr txBox="true"/>
          <p:nvPr/>
        </p:nvSpPr>
        <p:spPr>
          <a:xfrm rot="0">
            <a:off x="1154811" y="4505030"/>
            <a:ext cx="7811062" cy="1035685"/>
          </a:xfrm>
          <a:prstGeom prst="rect">
            <a:avLst/>
          </a:prstGeom>
        </p:spPr>
        <p:txBody>
          <a:bodyPr anchor="t" rtlCol="false" tIns="0" lIns="0" bIns="0" rIns="0">
            <a:spAutoFit/>
          </a:bodyPr>
          <a:lstStyle/>
          <a:p>
            <a:pPr algn="l">
              <a:lnSpc>
                <a:spcPts val="4160"/>
              </a:lnSpc>
            </a:pPr>
            <a:r>
              <a:rPr lang="en-US" sz="3200" b="true">
                <a:solidFill>
                  <a:srgbClr val="1C402E"/>
                </a:solidFill>
                <a:latin typeface="Open Sans Bold"/>
                <a:ea typeface="Open Sans Bold"/>
                <a:cs typeface="Open Sans Bold"/>
                <a:sym typeface="Open Sans Bold"/>
              </a:rPr>
              <a:t>Competitor</a:t>
            </a:r>
            <a:r>
              <a:rPr lang="en-US" sz="3200">
                <a:solidFill>
                  <a:srgbClr val="1C402E"/>
                </a:solidFill>
                <a:latin typeface="Open Sans"/>
                <a:ea typeface="Open Sans"/>
                <a:cs typeface="Open Sans"/>
                <a:sym typeface="Open Sans"/>
              </a:rPr>
              <a:t> had </a:t>
            </a:r>
            <a:r>
              <a:rPr lang="en-US" sz="3200" b="true">
                <a:solidFill>
                  <a:srgbClr val="1C402E"/>
                </a:solidFill>
                <a:latin typeface="Open Sans Bold"/>
                <a:ea typeface="Open Sans Bold"/>
                <a:cs typeface="Open Sans Bold"/>
                <a:sym typeface="Open Sans Bold"/>
              </a:rPr>
              <a:t>better devices</a:t>
            </a:r>
            <a:r>
              <a:rPr lang="en-US" sz="3200">
                <a:solidFill>
                  <a:srgbClr val="1C402E"/>
                </a:solidFill>
                <a:latin typeface="Open Sans"/>
                <a:ea typeface="Open Sans"/>
                <a:cs typeface="Open Sans"/>
                <a:sym typeface="Open Sans"/>
              </a:rPr>
              <a:t> and made </a:t>
            </a:r>
            <a:r>
              <a:rPr lang="en-US" sz="3200" b="true">
                <a:solidFill>
                  <a:srgbClr val="1C402E"/>
                </a:solidFill>
                <a:latin typeface="Open Sans Bold"/>
                <a:ea typeface="Open Sans Bold"/>
                <a:cs typeface="Open Sans Bold"/>
                <a:sym typeface="Open Sans Bold"/>
              </a:rPr>
              <a:t>better offers</a:t>
            </a:r>
          </a:p>
        </p:txBody>
      </p:sp>
      <p:sp>
        <p:nvSpPr>
          <p:cNvPr name="TextBox 7" id="7"/>
          <p:cNvSpPr txBox="true"/>
          <p:nvPr/>
        </p:nvSpPr>
        <p:spPr>
          <a:xfrm rot="0">
            <a:off x="13010793" y="77152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5" action="ppaction://hlinksldjump"/>
              </a:rPr>
              <a:t>Back to Agenda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9816542" y="1488131"/>
            <a:ext cx="8349149" cy="8349149"/>
          </a:xfrm>
          <a:custGeom>
            <a:avLst/>
            <a:gdLst/>
            <a:ahLst/>
            <a:cxnLst/>
            <a:rect r="r" b="b" t="t" l="l"/>
            <a:pathLst>
              <a:path h="8349149" w="8349149">
                <a:moveTo>
                  <a:pt x="0" y="0"/>
                </a:moveTo>
                <a:lnTo>
                  <a:pt x="8349148" y="0"/>
                </a:lnTo>
                <a:lnTo>
                  <a:pt x="8349148" y="8349149"/>
                </a:lnTo>
                <a:lnTo>
                  <a:pt x="0" y="83491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p:cNvPicPr>
            <a:picLocks noChangeAspect="true"/>
          </p:cNvPicPr>
          <p:nvPr/>
        </p:nvPicPr>
        <p:blipFill>
          <a:blip r:embed="rId4"/>
          <a:stretch>
            <a:fillRect/>
          </a:stretch>
        </p:blipFill>
        <p:spPr>
          <a:xfrm rot="0">
            <a:off x="9235310" y="2499580"/>
            <a:ext cx="9511250" cy="5968027"/>
          </a:xfrm>
          <a:prstGeom prst="rect">
            <a:avLst/>
          </a:prstGeom>
        </p:spPr>
      </p:pic>
      <p:sp>
        <p:nvSpPr>
          <p:cNvPr name="TextBox 4" id="4"/>
          <p:cNvSpPr txBox="true"/>
          <p:nvPr/>
        </p:nvSpPr>
        <p:spPr>
          <a:xfrm rot="0">
            <a:off x="1028700" y="800100"/>
            <a:ext cx="7538080" cy="2143125"/>
          </a:xfrm>
          <a:prstGeom prst="rect">
            <a:avLst/>
          </a:prstGeom>
        </p:spPr>
        <p:txBody>
          <a:bodyPr anchor="t" rtlCol="false" tIns="0" lIns="0" bIns="0" rIns="0">
            <a:spAutoFit/>
          </a:bodyPr>
          <a:lstStyle/>
          <a:p>
            <a:pPr algn="l">
              <a:lnSpc>
                <a:spcPts val="8400"/>
              </a:lnSpc>
            </a:pPr>
            <a:r>
              <a:rPr lang="en-US" sz="7000">
                <a:solidFill>
                  <a:srgbClr val="1C402E"/>
                </a:solidFill>
                <a:latin typeface="Montserrat"/>
                <a:ea typeface="Montserrat"/>
                <a:cs typeface="Montserrat"/>
                <a:sym typeface="Montserrat"/>
              </a:rPr>
              <a:t>Attitude (Subcategory)</a:t>
            </a:r>
          </a:p>
        </p:txBody>
      </p:sp>
      <p:sp>
        <p:nvSpPr>
          <p:cNvPr name="TextBox 5" id="5"/>
          <p:cNvSpPr txBox="true"/>
          <p:nvPr/>
        </p:nvSpPr>
        <p:spPr>
          <a:xfrm rot="0">
            <a:off x="1154811" y="6022186"/>
            <a:ext cx="7811062" cy="1941195"/>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1C402E"/>
                </a:solidFill>
                <a:latin typeface="Open Sans"/>
                <a:ea typeface="Open Sans"/>
                <a:cs typeface="Open Sans"/>
                <a:sym typeface="Open Sans"/>
              </a:rPr>
              <a:t>Roughly </a:t>
            </a:r>
            <a:r>
              <a:rPr lang="en-US" b="true" sz="2400">
                <a:solidFill>
                  <a:srgbClr val="1C402E"/>
                </a:solidFill>
                <a:latin typeface="Open Sans Bold"/>
                <a:ea typeface="Open Sans Bold"/>
                <a:cs typeface="Open Sans Bold"/>
                <a:sym typeface="Open Sans Bold"/>
              </a:rPr>
              <a:t>17% </a:t>
            </a:r>
            <a:r>
              <a:rPr lang="en-US" sz="2400">
                <a:solidFill>
                  <a:srgbClr val="1C402E"/>
                </a:solidFill>
                <a:latin typeface="Open Sans"/>
                <a:ea typeface="Open Sans"/>
                <a:cs typeface="Open Sans"/>
                <a:sym typeface="Open Sans"/>
              </a:rPr>
              <a:t>of churned customers have </a:t>
            </a:r>
            <a:r>
              <a:rPr lang="en-US" b="true" sz="2400">
                <a:solidFill>
                  <a:srgbClr val="1C402E"/>
                </a:solidFill>
                <a:latin typeface="Open Sans Bold"/>
                <a:ea typeface="Open Sans Bold"/>
                <a:cs typeface="Open Sans Bold"/>
                <a:sym typeface="Open Sans Bold"/>
              </a:rPr>
              <a:t>attitude</a:t>
            </a:r>
            <a:r>
              <a:rPr lang="en-US" sz="2400">
                <a:solidFill>
                  <a:srgbClr val="1C402E"/>
                </a:solidFill>
                <a:latin typeface="Open Sans"/>
                <a:ea typeface="Open Sans"/>
                <a:cs typeface="Open Sans"/>
                <a:sym typeface="Open Sans"/>
              </a:rPr>
              <a:t> as reason to churn.</a:t>
            </a:r>
          </a:p>
          <a:p>
            <a:pPr algn="l" marL="518160" indent="-259080" lvl="1">
              <a:lnSpc>
                <a:spcPts val="3120"/>
              </a:lnSpc>
              <a:buFont typeface="Arial"/>
              <a:buChar char="•"/>
            </a:pPr>
            <a:r>
              <a:rPr lang="en-US" sz="2400">
                <a:solidFill>
                  <a:srgbClr val="1C402E"/>
                </a:solidFill>
                <a:latin typeface="Open Sans"/>
                <a:ea typeface="Open Sans"/>
                <a:cs typeface="Open Sans"/>
                <a:sym typeface="Open Sans"/>
              </a:rPr>
              <a:t>Digging deeper </a:t>
            </a:r>
            <a:r>
              <a:rPr lang="en-US" b="true" sz="2400">
                <a:solidFill>
                  <a:srgbClr val="1C402E"/>
                </a:solidFill>
                <a:latin typeface="Open Sans Bold"/>
                <a:ea typeface="Open Sans Bold"/>
                <a:cs typeface="Open Sans Bold"/>
                <a:sym typeface="Open Sans Bold"/>
              </a:rPr>
              <a:t>support person (70%) </a:t>
            </a:r>
            <a:r>
              <a:rPr lang="en-US" sz="2400">
                <a:solidFill>
                  <a:srgbClr val="1C402E"/>
                </a:solidFill>
                <a:latin typeface="Open Sans"/>
                <a:ea typeface="Open Sans"/>
                <a:cs typeface="Open Sans"/>
                <a:sym typeface="Open Sans"/>
              </a:rPr>
              <a:t>and </a:t>
            </a:r>
            <a:r>
              <a:rPr lang="en-US" b="true" sz="2400">
                <a:solidFill>
                  <a:srgbClr val="1C402E"/>
                </a:solidFill>
                <a:latin typeface="Open Sans Bold"/>
                <a:ea typeface="Open Sans Bold"/>
                <a:cs typeface="Open Sans Bold"/>
                <a:sym typeface="Open Sans Bold"/>
              </a:rPr>
              <a:t>service provider (30%)</a:t>
            </a:r>
            <a:r>
              <a:rPr lang="en-US" sz="2400">
                <a:solidFill>
                  <a:srgbClr val="1C402E"/>
                </a:solidFill>
                <a:latin typeface="Open Sans"/>
                <a:ea typeface="Open Sans"/>
                <a:cs typeface="Open Sans"/>
                <a:sym typeface="Open Sans"/>
              </a:rPr>
              <a:t> attitudes are leading to more customers dropping.</a:t>
            </a:r>
          </a:p>
        </p:txBody>
      </p:sp>
      <p:sp>
        <p:nvSpPr>
          <p:cNvPr name="TextBox 6" id="6"/>
          <p:cNvSpPr txBox="true"/>
          <p:nvPr/>
        </p:nvSpPr>
        <p:spPr>
          <a:xfrm rot="0">
            <a:off x="1154811" y="4505030"/>
            <a:ext cx="7811062" cy="1035685"/>
          </a:xfrm>
          <a:prstGeom prst="rect">
            <a:avLst/>
          </a:prstGeom>
        </p:spPr>
        <p:txBody>
          <a:bodyPr anchor="t" rtlCol="false" tIns="0" lIns="0" bIns="0" rIns="0">
            <a:spAutoFit/>
          </a:bodyPr>
          <a:lstStyle/>
          <a:p>
            <a:pPr algn="l">
              <a:lnSpc>
                <a:spcPts val="4160"/>
              </a:lnSpc>
            </a:pPr>
            <a:r>
              <a:rPr lang="en-US" sz="3200" b="true">
                <a:solidFill>
                  <a:srgbClr val="1C402E"/>
                </a:solidFill>
                <a:latin typeface="Open Sans Bold"/>
                <a:ea typeface="Open Sans Bold"/>
                <a:cs typeface="Open Sans Bold"/>
                <a:sym typeface="Open Sans Bold"/>
              </a:rPr>
              <a:t>Attitude of support person </a:t>
            </a:r>
            <a:r>
              <a:rPr lang="en-US" sz="3200">
                <a:solidFill>
                  <a:srgbClr val="1C402E"/>
                </a:solidFill>
                <a:latin typeface="Open Sans"/>
                <a:ea typeface="Open Sans"/>
                <a:cs typeface="Open Sans"/>
                <a:sym typeface="Open Sans"/>
              </a:rPr>
              <a:t>is a major concern.</a:t>
            </a:r>
          </a:p>
        </p:txBody>
      </p:sp>
      <p:sp>
        <p:nvSpPr>
          <p:cNvPr name="TextBox 7" id="7"/>
          <p:cNvSpPr txBox="true"/>
          <p:nvPr/>
        </p:nvSpPr>
        <p:spPr>
          <a:xfrm rot="0">
            <a:off x="13010793" y="77152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5" action="ppaction://hlinksldjump"/>
              </a:rPr>
              <a:t>Back to Agenda</a:t>
            </a:r>
          </a:p>
        </p:txBody>
      </p:sp>
      <p:sp>
        <p:nvSpPr>
          <p:cNvPr name="TextBox 8" id="8"/>
          <p:cNvSpPr txBox="true"/>
          <p:nvPr/>
        </p:nvSpPr>
        <p:spPr>
          <a:xfrm rot="0">
            <a:off x="12253250" y="8480735"/>
            <a:ext cx="3475732" cy="448308"/>
          </a:xfrm>
          <a:prstGeom prst="rect">
            <a:avLst/>
          </a:prstGeom>
        </p:spPr>
        <p:txBody>
          <a:bodyPr anchor="t" rtlCol="false" tIns="0" lIns="0" bIns="0" rIns="0">
            <a:spAutoFit/>
          </a:bodyPr>
          <a:lstStyle/>
          <a:p>
            <a:pPr algn="ctr" marL="0" indent="0" lvl="0">
              <a:lnSpc>
                <a:spcPts val="3640"/>
              </a:lnSpc>
              <a:spcBef>
                <a:spcPct val="0"/>
              </a:spcBef>
            </a:pPr>
            <a:r>
              <a:rPr lang="en-US" b="true" sz="2600">
                <a:solidFill>
                  <a:srgbClr val="FFFFFF"/>
                </a:solidFill>
                <a:latin typeface="Canva Sans Bold"/>
                <a:ea typeface="Canva Sans Bold"/>
                <a:cs typeface="Canva Sans Bold"/>
                <a:sym typeface="Canva Sans Bold"/>
              </a:rPr>
              <a:t>Attitude Subcategory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9816542" y="1488131"/>
            <a:ext cx="8349149" cy="8349149"/>
          </a:xfrm>
          <a:custGeom>
            <a:avLst/>
            <a:gdLst/>
            <a:ahLst/>
            <a:cxnLst/>
            <a:rect r="r" b="b" t="t" l="l"/>
            <a:pathLst>
              <a:path h="8349149" w="8349149">
                <a:moveTo>
                  <a:pt x="0" y="0"/>
                </a:moveTo>
                <a:lnTo>
                  <a:pt x="8349148" y="0"/>
                </a:lnTo>
                <a:lnTo>
                  <a:pt x="8349148" y="8349149"/>
                </a:lnTo>
                <a:lnTo>
                  <a:pt x="0" y="83491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p:cNvPicPr>
            <a:picLocks noChangeAspect="true"/>
          </p:cNvPicPr>
          <p:nvPr/>
        </p:nvPicPr>
        <p:blipFill>
          <a:blip r:embed="rId4"/>
          <a:stretch>
            <a:fillRect/>
          </a:stretch>
        </p:blipFill>
        <p:spPr>
          <a:xfrm rot="0">
            <a:off x="9283174" y="2182954"/>
            <a:ext cx="9123247" cy="6482530"/>
          </a:xfrm>
          <a:prstGeom prst="rect">
            <a:avLst/>
          </a:prstGeom>
        </p:spPr>
      </p:pic>
      <p:sp>
        <p:nvSpPr>
          <p:cNvPr name="TextBox 4" id="4"/>
          <p:cNvSpPr txBox="true"/>
          <p:nvPr/>
        </p:nvSpPr>
        <p:spPr>
          <a:xfrm rot="0">
            <a:off x="1028700" y="800100"/>
            <a:ext cx="7538080" cy="2143125"/>
          </a:xfrm>
          <a:prstGeom prst="rect">
            <a:avLst/>
          </a:prstGeom>
        </p:spPr>
        <p:txBody>
          <a:bodyPr anchor="t" rtlCol="false" tIns="0" lIns="0" bIns="0" rIns="0">
            <a:spAutoFit/>
          </a:bodyPr>
          <a:lstStyle/>
          <a:p>
            <a:pPr algn="l">
              <a:lnSpc>
                <a:spcPts val="8400"/>
              </a:lnSpc>
            </a:pPr>
            <a:r>
              <a:rPr lang="en-US" sz="7000">
                <a:solidFill>
                  <a:srgbClr val="1C402E"/>
                </a:solidFill>
                <a:latin typeface="Montserrat"/>
                <a:ea typeface="Montserrat"/>
                <a:cs typeface="Montserrat"/>
                <a:sym typeface="Montserrat"/>
              </a:rPr>
              <a:t>Dissatisfaction (Subcategory)</a:t>
            </a:r>
          </a:p>
        </p:txBody>
      </p:sp>
      <p:sp>
        <p:nvSpPr>
          <p:cNvPr name="TextBox 5" id="5"/>
          <p:cNvSpPr txBox="true"/>
          <p:nvPr/>
        </p:nvSpPr>
        <p:spPr>
          <a:xfrm rot="0">
            <a:off x="730067" y="5933750"/>
            <a:ext cx="8135346" cy="1550670"/>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1C402E"/>
                </a:solidFill>
                <a:latin typeface="Open Sans"/>
                <a:ea typeface="Open Sans"/>
                <a:cs typeface="Open Sans"/>
                <a:sym typeface="Open Sans"/>
              </a:rPr>
              <a:t>Dissatisfaction with basic facilities as well as limited range of devices, poor website interface and poor customer support are leading to overall dissatisfaction amongst customers.</a:t>
            </a:r>
          </a:p>
        </p:txBody>
      </p:sp>
      <p:sp>
        <p:nvSpPr>
          <p:cNvPr name="TextBox 6" id="6"/>
          <p:cNvSpPr txBox="true"/>
          <p:nvPr/>
        </p:nvSpPr>
        <p:spPr>
          <a:xfrm rot="0">
            <a:off x="730067" y="4031785"/>
            <a:ext cx="8135346" cy="1420495"/>
          </a:xfrm>
          <a:prstGeom prst="rect">
            <a:avLst/>
          </a:prstGeom>
        </p:spPr>
        <p:txBody>
          <a:bodyPr anchor="t" rtlCol="false" tIns="0" lIns="0" bIns="0" rIns="0">
            <a:spAutoFit/>
          </a:bodyPr>
          <a:lstStyle/>
          <a:p>
            <a:pPr algn="l">
              <a:lnSpc>
                <a:spcPts val="3770"/>
              </a:lnSpc>
            </a:pPr>
            <a:r>
              <a:rPr lang="en-US" sz="2900" b="true">
                <a:solidFill>
                  <a:srgbClr val="1C402E"/>
                </a:solidFill>
                <a:latin typeface="Open Sans Bold"/>
                <a:ea typeface="Open Sans Bold"/>
                <a:cs typeface="Open Sans Bold"/>
                <a:sym typeface="Open Sans Bold"/>
              </a:rPr>
              <a:t>Product, Network Reliability</a:t>
            </a:r>
            <a:r>
              <a:rPr lang="en-US" sz="2900">
                <a:solidFill>
                  <a:srgbClr val="1C402E"/>
                </a:solidFill>
                <a:latin typeface="Open Sans"/>
                <a:ea typeface="Open Sans"/>
                <a:cs typeface="Open Sans"/>
                <a:sym typeface="Open Sans"/>
              </a:rPr>
              <a:t> and</a:t>
            </a:r>
            <a:r>
              <a:rPr lang="en-US" sz="2900" b="true">
                <a:solidFill>
                  <a:srgbClr val="1C402E"/>
                </a:solidFill>
                <a:latin typeface="Open Sans Bold"/>
                <a:ea typeface="Open Sans Bold"/>
                <a:cs typeface="Open Sans Bold"/>
                <a:sym typeface="Open Sans Bold"/>
              </a:rPr>
              <a:t> Service Dissatisfaction </a:t>
            </a:r>
            <a:r>
              <a:rPr lang="en-US" sz="2900">
                <a:solidFill>
                  <a:srgbClr val="1C402E"/>
                </a:solidFill>
                <a:latin typeface="Open Sans"/>
                <a:ea typeface="Open Sans"/>
                <a:cs typeface="Open Sans"/>
                <a:sym typeface="Open Sans"/>
              </a:rPr>
              <a:t>are big</a:t>
            </a:r>
            <a:r>
              <a:rPr lang="en-US" sz="2900" b="true">
                <a:solidFill>
                  <a:srgbClr val="1C402E"/>
                </a:solidFill>
                <a:latin typeface="Open Sans Bold"/>
                <a:ea typeface="Open Sans Bold"/>
                <a:cs typeface="Open Sans Bold"/>
                <a:sym typeface="Open Sans Bold"/>
              </a:rPr>
              <a:t> reasons </a:t>
            </a:r>
            <a:r>
              <a:rPr lang="en-US" sz="2900">
                <a:solidFill>
                  <a:srgbClr val="1C402E"/>
                </a:solidFill>
                <a:latin typeface="Open Sans"/>
                <a:ea typeface="Open Sans"/>
                <a:cs typeface="Open Sans"/>
                <a:sym typeface="Open Sans"/>
              </a:rPr>
              <a:t>for customers getting dissatisfied and</a:t>
            </a:r>
            <a:r>
              <a:rPr lang="en-US" sz="2900" b="true">
                <a:solidFill>
                  <a:srgbClr val="1C402E"/>
                </a:solidFill>
                <a:latin typeface="Open Sans Bold"/>
                <a:ea typeface="Open Sans Bold"/>
                <a:cs typeface="Open Sans Bold"/>
                <a:sym typeface="Open Sans Bold"/>
              </a:rPr>
              <a:t> churning.</a:t>
            </a:r>
          </a:p>
        </p:txBody>
      </p:sp>
      <p:sp>
        <p:nvSpPr>
          <p:cNvPr name="TextBox 7" id="7"/>
          <p:cNvSpPr txBox="true"/>
          <p:nvPr/>
        </p:nvSpPr>
        <p:spPr>
          <a:xfrm rot="0">
            <a:off x="13010793" y="77152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5" action="ppaction://hlinksldjump"/>
              </a:rPr>
              <a:t>Back to Agenda</a:t>
            </a:r>
          </a:p>
        </p:txBody>
      </p:sp>
      <p:sp>
        <p:nvSpPr>
          <p:cNvPr name="TextBox 8" id="8"/>
          <p:cNvSpPr txBox="true"/>
          <p:nvPr/>
        </p:nvSpPr>
        <p:spPr>
          <a:xfrm rot="0">
            <a:off x="11724687" y="8480735"/>
            <a:ext cx="4532858" cy="448308"/>
          </a:xfrm>
          <a:prstGeom prst="rect">
            <a:avLst/>
          </a:prstGeom>
        </p:spPr>
        <p:txBody>
          <a:bodyPr anchor="t" rtlCol="false" tIns="0" lIns="0" bIns="0" rIns="0">
            <a:spAutoFit/>
          </a:bodyPr>
          <a:lstStyle/>
          <a:p>
            <a:pPr algn="ctr" marL="0" indent="0" lvl="0">
              <a:lnSpc>
                <a:spcPts val="3640"/>
              </a:lnSpc>
              <a:spcBef>
                <a:spcPct val="0"/>
              </a:spcBef>
            </a:pPr>
            <a:r>
              <a:rPr lang="en-US" b="true" sz="2600">
                <a:solidFill>
                  <a:srgbClr val="FFFFFF"/>
                </a:solidFill>
                <a:latin typeface="Canva Sans Bold"/>
                <a:ea typeface="Canva Sans Bold"/>
                <a:cs typeface="Canva Sans Bold"/>
                <a:sym typeface="Canva Sans Bold"/>
              </a:rPr>
              <a:t>Dissatisfaction Subcategory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9816542" y="1488131"/>
            <a:ext cx="8349149" cy="8349149"/>
          </a:xfrm>
          <a:custGeom>
            <a:avLst/>
            <a:gdLst/>
            <a:ahLst/>
            <a:cxnLst/>
            <a:rect r="r" b="b" t="t" l="l"/>
            <a:pathLst>
              <a:path h="8349149" w="8349149">
                <a:moveTo>
                  <a:pt x="0" y="0"/>
                </a:moveTo>
                <a:lnTo>
                  <a:pt x="8349148" y="0"/>
                </a:lnTo>
                <a:lnTo>
                  <a:pt x="8349148" y="8349149"/>
                </a:lnTo>
                <a:lnTo>
                  <a:pt x="0" y="83491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3" id="3"/>
          <p:cNvPicPr>
            <a:picLocks noChangeAspect="true"/>
          </p:cNvPicPr>
          <p:nvPr/>
        </p:nvPicPr>
        <p:blipFill>
          <a:blip r:embed="rId4"/>
          <a:stretch>
            <a:fillRect/>
          </a:stretch>
        </p:blipFill>
        <p:spPr>
          <a:xfrm rot="0">
            <a:off x="8936032" y="2112556"/>
            <a:ext cx="10566122" cy="6252374"/>
          </a:xfrm>
          <a:prstGeom prst="rect">
            <a:avLst/>
          </a:prstGeom>
        </p:spPr>
      </p:pic>
      <p:sp>
        <p:nvSpPr>
          <p:cNvPr name="TextBox 4" id="4"/>
          <p:cNvSpPr txBox="true"/>
          <p:nvPr/>
        </p:nvSpPr>
        <p:spPr>
          <a:xfrm rot="0">
            <a:off x="1028700" y="800100"/>
            <a:ext cx="7538080" cy="2143125"/>
          </a:xfrm>
          <a:prstGeom prst="rect">
            <a:avLst/>
          </a:prstGeom>
        </p:spPr>
        <p:txBody>
          <a:bodyPr anchor="t" rtlCol="false" tIns="0" lIns="0" bIns="0" rIns="0">
            <a:spAutoFit/>
          </a:bodyPr>
          <a:lstStyle/>
          <a:p>
            <a:pPr algn="l">
              <a:lnSpc>
                <a:spcPts val="8400"/>
              </a:lnSpc>
            </a:pPr>
            <a:r>
              <a:rPr lang="en-US" sz="7000">
                <a:solidFill>
                  <a:srgbClr val="1C402E"/>
                </a:solidFill>
                <a:latin typeface="Montserrat"/>
                <a:ea typeface="Montserrat"/>
                <a:cs typeface="Montserrat"/>
                <a:sym typeface="Montserrat"/>
              </a:rPr>
              <a:t>Price</a:t>
            </a:r>
          </a:p>
          <a:p>
            <a:pPr algn="l">
              <a:lnSpc>
                <a:spcPts val="8400"/>
              </a:lnSpc>
            </a:pPr>
            <a:r>
              <a:rPr lang="en-US" sz="7000">
                <a:solidFill>
                  <a:srgbClr val="1C402E"/>
                </a:solidFill>
                <a:latin typeface="Montserrat"/>
                <a:ea typeface="Montserrat"/>
                <a:cs typeface="Montserrat"/>
                <a:sym typeface="Montserrat"/>
              </a:rPr>
              <a:t>(Subcategory)</a:t>
            </a:r>
          </a:p>
        </p:txBody>
      </p:sp>
      <p:sp>
        <p:nvSpPr>
          <p:cNvPr name="TextBox 5" id="5"/>
          <p:cNvSpPr txBox="true"/>
          <p:nvPr/>
        </p:nvSpPr>
        <p:spPr>
          <a:xfrm rot="0">
            <a:off x="730067" y="5933750"/>
            <a:ext cx="8135346" cy="1160145"/>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1C402E"/>
                </a:solidFill>
                <a:latin typeface="Open Sans"/>
                <a:ea typeface="Open Sans"/>
                <a:cs typeface="Open Sans"/>
                <a:sym typeface="Open Sans"/>
              </a:rPr>
              <a:t>Not only the customers who churned dissatisfied with the services, other churned customers are getting overcharged with compromised quality.</a:t>
            </a:r>
          </a:p>
        </p:txBody>
      </p:sp>
      <p:sp>
        <p:nvSpPr>
          <p:cNvPr name="TextBox 6" id="6"/>
          <p:cNvSpPr txBox="true"/>
          <p:nvPr/>
        </p:nvSpPr>
        <p:spPr>
          <a:xfrm rot="0">
            <a:off x="730067" y="4031785"/>
            <a:ext cx="8135346" cy="1420495"/>
          </a:xfrm>
          <a:prstGeom prst="rect">
            <a:avLst/>
          </a:prstGeom>
        </p:spPr>
        <p:txBody>
          <a:bodyPr anchor="t" rtlCol="false" tIns="0" lIns="0" bIns="0" rIns="0">
            <a:spAutoFit/>
          </a:bodyPr>
          <a:lstStyle/>
          <a:p>
            <a:pPr algn="l">
              <a:lnSpc>
                <a:spcPts val="3770"/>
              </a:lnSpc>
            </a:pPr>
            <a:r>
              <a:rPr lang="en-US" sz="2900" b="true">
                <a:solidFill>
                  <a:srgbClr val="1C402E"/>
                </a:solidFill>
                <a:latin typeface="Open Sans Bold"/>
                <a:ea typeface="Open Sans Bold"/>
                <a:cs typeface="Open Sans Bold"/>
                <a:sym typeface="Open Sans Bold"/>
              </a:rPr>
              <a:t>Prices being too high, long distance charges along with extra data charges </a:t>
            </a:r>
            <a:r>
              <a:rPr lang="en-US" sz="2900">
                <a:solidFill>
                  <a:srgbClr val="1C402E"/>
                </a:solidFill>
                <a:latin typeface="Open Sans"/>
                <a:ea typeface="Open Sans"/>
                <a:cs typeface="Open Sans"/>
                <a:sym typeface="Open Sans"/>
              </a:rPr>
              <a:t>are also reason for customers churn</a:t>
            </a:r>
            <a:r>
              <a:rPr lang="en-US" sz="2900" b="true">
                <a:solidFill>
                  <a:srgbClr val="1C402E"/>
                </a:solidFill>
                <a:latin typeface="Open Sans Bold"/>
                <a:ea typeface="Open Sans Bold"/>
                <a:cs typeface="Open Sans Bold"/>
                <a:sym typeface="Open Sans Bold"/>
              </a:rPr>
              <a:t>.</a:t>
            </a:r>
          </a:p>
        </p:txBody>
      </p:sp>
      <p:sp>
        <p:nvSpPr>
          <p:cNvPr name="TextBox 7" id="7"/>
          <p:cNvSpPr txBox="true"/>
          <p:nvPr/>
        </p:nvSpPr>
        <p:spPr>
          <a:xfrm rot="0">
            <a:off x="13010793" y="77152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5" action="ppaction://hlinksldjump"/>
              </a:rPr>
              <a:t>Back to Agenda</a:t>
            </a:r>
          </a:p>
        </p:txBody>
      </p:sp>
      <p:sp>
        <p:nvSpPr>
          <p:cNvPr name="TextBox 8" id="8"/>
          <p:cNvSpPr txBox="true"/>
          <p:nvPr/>
        </p:nvSpPr>
        <p:spPr>
          <a:xfrm rot="0">
            <a:off x="12515708" y="8480735"/>
            <a:ext cx="2950815" cy="448308"/>
          </a:xfrm>
          <a:prstGeom prst="rect">
            <a:avLst/>
          </a:prstGeom>
        </p:spPr>
        <p:txBody>
          <a:bodyPr anchor="t" rtlCol="false" tIns="0" lIns="0" bIns="0" rIns="0">
            <a:spAutoFit/>
          </a:bodyPr>
          <a:lstStyle/>
          <a:p>
            <a:pPr algn="ctr" marL="0" indent="0" lvl="0">
              <a:lnSpc>
                <a:spcPts val="3640"/>
              </a:lnSpc>
              <a:spcBef>
                <a:spcPct val="0"/>
              </a:spcBef>
            </a:pPr>
            <a:r>
              <a:rPr lang="en-US" b="true" sz="2600">
                <a:solidFill>
                  <a:srgbClr val="FFFFFF"/>
                </a:solidFill>
                <a:latin typeface="Canva Sans Bold"/>
                <a:ea typeface="Canva Sans Bold"/>
                <a:cs typeface="Canva Sans Bold"/>
                <a:sym typeface="Canva Sans Bold"/>
              </a:rPr>
              <a:t>Price Subcategory</a:t>
            </a:r>
          </a:p>
        </p:txBody>
      </p:sp>
      <p:sp>
        <p:nvSpPr>
          <p:cNvPr name="TextBox 9" id="9"/>
          <p:cNvSpPr txBox="true"/>
          <p:nvPr/>
        </p:nvSpPr>
        <p:spPr>
          <a:xfrm rot="0">
            <a:off x="0" y="9220200"/>
            <a:ext cx="10645268" cy="786458"/>
          </a:xfrm>
          <a:prstGeom prst="rect">
            <a:avLst/>
          </a:prstGeom>
        </p:spPr>
        <p:txBody>
          <a:bodyPr anchor="t" rtlCol="false" tIns="0" lIns="0" bIns="0" rIns="0">
            <a:spAutoFit/>
          </a:bodyPr>
          <a:lstStyle/>
          <a:p>
            <a:pPr algn="ctr">
              <a:lnSpc>
                <a:spcPts val="2630"/>
              </a:lnSpc>
            </a:pPr>
            <a:r>
              <a:rPr lang="en-US" sz="1878">
                <a:solidFill>
                  <a:srgbClr val="000000"/>
                </a:solidFill>
                <a:latin typeface="Canva Sans"/>
                <a:ea typeface="Canva Sans"/>
                <a:cs typeface="Canva Sans"/>
                <a:sym typeface="Canva Sans"/>
              </a:rPr>
              <a:t>From the </a:t>
            </a:r>
            <a:r>
              <a:rPr lang="en-US" sz="1878" b="true">
                <a:solidFill>
                  <a:srgbClr val="000000"/>
                </a:solidFill>
                <a:latin typeface="Canva Sans Bold"/>
                <a:ea typeface="Canva Sans Bold"/>
                <a:cs typeface="Canva Sans Bold"/>
                <a:sym typeface="Canva Sans Bold"/>
              </a:rPr>
              <a:t>company’s end</a:t>
            </a:r>
            <a:r>
              <a:rPr lang="en-US" sz="1878">
                <a:solidFill>
                  <a:srgbClr val="000000"/>
                </a:solidFill>
                <a:latin typeface="Canva Sans"/>
                <a:ea typeface="Canva Sans"/>
                <a:cs typeface="Canva Sans"/>
                <a:sym typeface="Canva Sans"/>
              </a:rPr>
              <a:t> in terms of services, </a:t>
            </a:r>
            <a:r>
              <a:rPr lang="en-US" sz="1878" b="true">
                <a:solidFill>
                  <a:srgbClr val="000000"/>
                </a:solidFill>
                <a:latin typeface="Canva Sans Bold"/>
                <a:ea typeface="Canva Sans Bold"/>
                <a:cs typeface="Canva Sans Bold"/>
                <a:sym typeface="Canva Sans Bold"/>
              </a:rPr>
              <a:t>Attitude and Dissatisfaction</a:t>
            </a:r>
            <a:r>
              <a:rPr lang="en-US" sz="1878">
                <a:solidFill>
                  <a:srgbClr val="000000"/>
                </a:solidFill>
                <a:latin typeface="Canva Sans"/>
                <a:ea typeface="Canva Sans"/>
                <a:cs typeface="Canva Sans"/>
                <a:sym typeface="Canva Sans"/>
              </a:rPr>
              <a:t> are </a:t>
            </a:r>
            <a:r>
              <a:rPr lang="en-US" sz="1878" b="true">
                <a:solidFill>
                  <a:srgbClr val="000000"/>
                </a:solidFill>
                <a:latin typeface="Canva Sans Bold"/>
                <a:ea typeface="Canva Sans Bold"/>
                <a:cs typeface="Canva Sans Bold"/>
                <a:sym typeface="Canva Sans Bold"/>
              </a:rPr>
              <a:t>major red flags for churning</a:t>
            </a:r>
            <a:r>
              <a:rPr lang="en-US" sz="1878">
                <a:solidFill>
                  <a:srgbClr val="000000"/>
                </a:solidFill>
                <a:latin typeface="Canva Sans"/>
                <a:ea typeface="Canva Sans"/>
                <a:cs typeface="Canva Sans"/>
                <a:sym typeface="Canva Sans"/>
              </a:rPr>
              <a:t>. These are service issues and can be worked upon by the company.</a:t>
            </a:r>
          </a:p>
          <a:p>
            <a:pPr algn="ctr" marL="0" indent="0" lvl="0">
              <a:lnSpc>
                <a:spcPts val="956"/>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11506790" y="2489395"/>
            <a:ext cx="5969764" cy="5351080"/>
          </a:xfrm>
          <a:custGeom>
            <a:avLst/>
            <a:gdLst/>
            <a:ahLst/>
            <a:cxnLst/>
            <a:rect r="r" b="b" t="t" l="l"/>
            <a:pathLst>
              <a:path h="5351080" w="5969764">
                <a:moveTo>
                  <a:pt x="0" y="0"/>
                </a:moveTo>
                <a:lnTo>
                  <a:pt x="5969764" y="0"/>
                </a:lnTo>
                <a:lnTo>
                  <a:pt x="5969764" y="5351080"/>
                </a:lnTo>
                <a:lnTo>
                  <a:pt x="0" y="53510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740447"/>
            <a:ext cx="11118183" cy="1095375"/>
          </a:xfrm>
          <a:prstGeom prst="rect">
            <a:avLst/>
          </a:prstGeom>
        </p:spPr>
        <p:txBody>
          <a:bodyPr anchor="t" rtlCol="false" tIns="0" lIns="0" bIns="0" rIns="0">
            <a:spAutoFit/>
          </a:bodyPr>
          <a:lstStyle/>
          <a:p>
            <a:pPr algn="l">
              <a:lnSpc>
                <a:spcPts val="8640"/>
              </a:lnSpc>
            </a:pPr>
            <a:r>
              <a:rPr lang="en-US" sz="7200">
                <a:solidFill>
                  <a:srgbClr val="1C402E"/>
                </a:solidFill>
                <a:latin typeface="Montserrat"/>
                <a:ea typeface="Montserrat"/>
                <a:cs typeface="Montserrat"/>
                <a:sym typeface="Montserrat"/>
              </a:rPr>
              <a:t>Customer Analysis</a:t>
            </a:r>
          </a:p>
        </p:txBody>
      </p:sp>
      <p:sp>
        <p:nvSpPr>
          <p:cNvPr name="TextBox 4" id="4"/>
          <p:cNvSpPr txBox="true"/>
          <p:nvPr/>
        </p:nvSpPr>
        <p:spPr>
          <a:xfrm rot="0">
            <a:off x="1028700" y="2597273"/>
            <a:ext cx="8401260" cy="1804035"/>
          </a:xfrm>
          <a:prstGeom prst="rect">
            <a:avLst/>
          </a:prstGeom>
        </p:spPr>
        <p:txBody>
          <a:bodyPr anchor="t" rtlCol="false" tIns="0" lIns="0" bIns="0" rIns="0">
            <a:spAutoFit/>
          </a:bodyPr>
          <a:lstStyle/>
          <a:p>
            <a:pPr algn="l">
              <a:lnSpc>
                <a:spcPts val="3600"/>
              </a:lnSpc>
            </a:pPr>
            <a:r>
              <a:rPr lang="en-US" sz="2400">
                <a:solidFill>
                  <a:srgbClr val="1C402E"/>
                </a:solidFill>
                <a:latin typeface="Open Sans"/>
                <a:ea typeface="Open Sans"/>
                <a:cs typeface="Open Sans"/>
                <a:sym typeface="Open Sans"/>
              </a:rPr>
              <a:t>In this step, we are going to </a:t>
            </a:r>
            <a:r>
              <a:rPr lang="en-US" sz="2400" b="true">
                <a:solidFill>
                  <a:srgbClr val="1C402E"/>
                </a:solidFill>
                <a:latin typeface="Open Sans Bold"/>
                <a:ea typeface="Open Sans Bold"/>
                <a:cs typeface="Open Sans Bold"/>
                <a:sym typeface="Open Sans Bold"/>
              </a:rPr>
              <a:t>look into our customer and their overall demography</a:t>
            </a:r>
            <a:r>
              <a:rPr lang="en-US" sz="2400">
                <a:solidFill>
                  <a:srgbClr val="1C402E"/>
                </a:solidFill>
                <a:latin typeface="Open Sans"/>
                <a:ea typeface="Open Sans"/>
                <a:cs typeface="Open Sans"/>
                <a:sym typeface="Open Sans"/>
              </a:rPr>
              <a:t>. This would help us in </a:t>
            </a:r>
            <a:r>
              <a:rPr lang="en-US" sz="2400" b="true">
                <a:solidFill>
                  <a:srgbClr val="1C402E"/>
                </a:solidFill>
                <a:latin typeface="Open Sans Bold"/>
                <a:ea typeface="Open Sans Bold"/>
                <a:cs typeface="Open Sans Bold"/>
                <a:sym typeface="Open Sans Bold"/>
              </a:rPr>
              <a:t>understanding our customer better</a:t>
            </a:r>
            <a:r>
              <a:rPr lang="en-US" sz="2400">
                <a:solidFill>
                  <a:srgbClr val="1C402E"/>
                </a:solidFill>
                <a:latin typeface="Open Sans"/>
                <a:ea typeface="Open Sans"/>
                <a:cs typeface="Open Sans"/>
                <a:sym typeface="Open Sans"/>
              </a:rPr>
              <a:t>, </a:t>
            </a:r>
            <a:r>
              <a:rPr lang="en-US" sz="2400" b="true">
                <a:solidFill>
                  <a:srgbClr val="1C402E"/>
                </a:solidFill>
                <a:latin typeface="Open Sans Bold"/>
                <a:ea typeface="Open Sans Bold"/>
                <a:cs typeface="Open Sans Bold"/>
                <a:sym typeface="Open Sans Bold"/>
              </a:rPr>
              <a:t>identify churn trends</a:t>
            </a:r>
            <a:r>
              <a:rPr lang="en-US" sz="2400">
                <a:solidFill>
                  <a:srgbClr val="1C402E"/>
                </a:solidFill>
                <a:latin typeface="Open Sans"/>
                <a:ea typeface="Open Sans"/>
                <a:cs typeface="Open Sans"/>
                <a:sym typeface="Open Sans"/>
              </a:rPr>
              <a:t> and </a:t>
            </a:r>
            <a:r>
              <a:rPr lang="en-US" sz="2400" b="true">
                <a:solidFill>
                  <a:srgbClr val="1C402E"/>
                </a:solidFill>
                <a:latin typeface="Open Sans Bold"/>
                <a:ea typeface="Open Sans Bold"/>
                <a:cs typeface="Open Sans Bold"/>
                <a:sym typeface="Open Sans Bold"/>
              </a:rPr>
              <a:t>develop strategies to decease</a:t>
            </a:r>
            <a:r>
              <a:rPr lang="en-US" sz="2400">
                <a:solidFill>
                  <a:srgbClr val="1C402E"/>
                </a:solidFill>
                <a:latin typeface="Open Sans"/>
                <a:ea typeface="Open Sans"/>
                <a:cs typeface="Open Sans"/>
                <a:sym typeface="Open Sans"/>
              </a:rPr>
              <a:t> it.</a:t>
            </a:r>
          </a:p>
        </p:txBody>
      </p:sp>
    </p:spTree>
  </p:cSld>
  <p:clrMapOvr>
    <a:masterClrMapping/>
  </p:clrMapOvr>
  <p:transition spd="slow">
    <p:push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1028700" y="819150"/>
            <a:ext cx="11135158" cy="1371600"/>
          </a:xfrm>
          <a:prstGeom prst="rect">
            <a:avLst/>
          </a:prstGeom>
        </p:spPr>
        <p:txBody>
          <a:bodyPr anchor="t" rtlCol="false" tIns="0" lIns="0" bIns="0" rIns="0">
            <a:spAutoFit/>
          </a:bodyPr>
          <a:lstStyle/>
          <a:p>
            <a:pPr algn="l">
              <a:lnSpc>
                <a:spcPts val="10800"/>
              </a:lnSpc>
            </a:pPr>
            <a:r>
              <a:rPr lang="en-US" sz="9000">
                <a:solidFill>
                  <a:srgbClr val="FFFAF4"/>
                </a:solidFill>
                <a:latin typeface="Montserrat"/>
                <a:ea typeface="Montserrat"/>
                <a:cs typeface="Montserrat"/>
                <a:sym typeface="Montserrat"/>
              </a:rPr>
              <a:t>Churn by Contract</a:t>
            </a:r>
          </a:p>
        </p:txBody>
      </p:sp>
      <p:sp>
        <p:nvSpPr>
          <p:cNvPr name="TextBox 3" id="3"/>
          <p:cNvSpPr txBox="true"/>
          <p:nvPr/>
        </p:nvSpPr>
        <p:spPr>
          <a:xfrm rot="0">
            <a:off x="1028700" y="6128250"/>
            <a:ext cx="7811062" cy="2162810"/>
          </a:xfrm>
          <a:prstGeom prst="rect">
            <a:avLst/>
          </a:prstGeom>
        </p:spPr>
        <p:txBody>
          <a:bodyPr anchor="t" rtlCol="false" tIns="0" lIns="0" bIns="0" rIns="0">
            <a:spAutoFit/>
          </a:bodyPr>
          <a:lstStyle/>
          <a:p>
            <a:pPr algn="l" marL="474981" indent="-237491" lvl="1">
              <a:lnSpc>
                <a:spcPts val="2860"/>
              </a:lnSpc>
              <a:buFont typeface="Arial"/>
              <a:buChar char="•"/>
            </a:pPr>
            <a:r>
              <a:rPr lang="en-US" b="true" sz="2200">
                <a:solidFill>
                  <a:srgbClr val="FFFAF4"/>
                </a:solidFill>
                <a:latin typeface="Open Sans Bold"/>
                <a:ea typeface="Open Sans Bold"/>
                <a:cs typeface="Open Sans Bold"/>
                <a:sym typeface="Open Sans Bold"/>
              </a:rPr>
              <a:t>Month-to-Month </a:t>
            </a:r>
            <a:r>
              <a:rPr lang="en-US" sz="2200">
                <a:solidFill>
                  <a:srgbClr val="FFFAF4"/>
                </a:solidFill>
                <a:latin typeface="Open Sans"/>
                <a:ea typeface="Open Sans"/>
                <a:cs typeface="Open Sans"/>
                <a:sym typeface="Open Sans"/>
              </a:rPr>
              <a:t>customers comprise </a:t>
            </a:r>
            <a:r>
              <a:rPr lang="en-US" b="true" sz="2200">
                <a:solidFill>
                  <a:srgbClr val="FFFAF4"/>
                </a:solidFill>
                <a:latin typeface="Open Sans Bold"/>
                <a:ea typeface="Open Sans Bold"/>
                <a:cs typeface="Open Sans Bold"/>
                <a:sym typeface="Open Sans Bold"/>
              </a:rPr>
              <a:t>51%</a:t>
            </a:r>
            <a:r>
              <a:rPr lang="en-US" sz="2200">
                <a:solidFill>
                  <a:srgbClr val="FFFAF4"/>
                </a:solidFill>
                <a:latin typeface="Open Sans"/>
                <a:ea typeface="Open Sans"/>
                <a:cs typeface="Open Sans"/>
                <a:sym typeface="Open Sans"/>
              </a:rPr>
              <a:t> of the customers overall.</a:t>
            </a:r>
          </a:p>
          <a:p>
            <a:pPr algn="l">
              <a:lnSpc>
                <a:spcPts val="2860"/>
              </a:lnSpc>
            </a:pPr>
          </a:p>
          <a:p>
            <a:pPr algn="l" marL="474981" indent="-237491" lvl="1">
              <a:lnSpc>
                <a:spcPts val="2860"/>
              </a:lnSpc>
              <a:buFont typeface="Arial"/>
              <a:buChar char="•"/>
            </a:pPr>
            <a:r>
              <a:rPr lang="en-US" sz="2200">
                <a:solidFill>
                  <a:srgbClr val="FFFAF4"/>
                </a:solidFill>
                <a:latin typeface="Open Sans"/>
                <a:ea typeface="Open Sans"/>
                <a:cs typeface="Open Sans"/>
                <a:sym typeface="Open Sans"/>
              </a:rPr>
              <a:t>In Contract, </a:t>
            </a:r>
            <a:r>
              <a:rPr lang="en-US" b="true" sz="2200">
                <a:solidFill>
                  <a:srgbClr val="FFFAF4"/>
                </a:solidFill>
                <a:latin typeface="Open Sans Bold"/>
                <a:ea typeface="Open Sans Bold"/>
                <a:cs typeface="Open Sans Bold"/>
                <a:sym typeface="Open Sans Bold"/>
              </a:rPr>
              <a:t>One Year</a:t>
            </a:r>
            <a:r>
              <a:rPr lang="en-US" sz="2200">
                <a:solidFill>
                  <a:srgbClr val="FFFAF4"/>
                </a:solidFill>
                <a:latin typeface="Open Sans"/>
                <a:ea typeface="Open Sans"/>
                <a:cs typeface="Open Sans"/>
                <a:sym typeface="Open Sans"/>
              </a:rPr>
              <a:t> and </a:t>
            </a:r>
            <a:r>
              <a:rPr lang="en-US" b="true" sz="2200">
                <a:solidFill>
                  <a:srgbClr val="FFFAF4"/>
                </a:solidFill>
                <a:latin typeface="Open Sans Bold"/>
                <a:ea typeface="Open Sans Bold"/>
                <a:cs typeface="Open Sans Bold"/>
                <a:sym typeface="Open Sans Bold"/>
              </a:rPr>
              <a:t>Two Year</a:t>
            </a:r>
            <a:r>
              <a:rPr lang="en-US" sz="2200">
                <a:solidFill>
                  <a:srgbClr val="FFFAF4"/>
                </a:solidFill>
                <a:latin typeface="Open Sans"/>
                <a:ea typeface="Open Sans"/>
                <a:cs typeface="Open Sans"/>
                <a:sym typeface="Open Sans"/>
              </a:rPr>
              <a:t> contract customers have </a:t>
            </a:r>
            <a:r>
              <a:rPr lang="en-US" b="true" sz="2200">
                <a:solidFill>
                  <a:srgbClr val="FFFAF4"/>
                </a:solidFill>
                <a:latin typeface="Open Sans Bold"/>
                <a:ea typeface="Open Sans Bold"/>
                <a:cs typeface="Open Sans Bold"/>
                <a:sym typeface="Open Sans Bold"/>
              </a:rPr>
              <a:t>significantly lower churn rate (11% and 3% respectively)</a:t>
            </a:r>
          </a:p>
        </p:txBody>
      </p:sp>
      <p:sp>
        <p:nvSpPr>
          <p:cNvPr name="TextBox 4" id="4"/>
          <p:cNvSpPr txBox="true"/>
          <p:nvPr/>
        </p:nvSpPr>
        <p:spPr>
          <a:xfrm rot="0">
            <a:off x="1028700" y="4563745"/>
            <a:ext cx="7811062" cy="1035685"/>
          </a:xfrm>
          <a:prstGeom prst="rect">
            <a:avLst/>
          </a:prstGeom>
        </p:spPr>
        <p:txBody>
          <a:bodyPr anchor="t" rtlCol="false" tIns="0" lIns="0" bIns="0" rIns="0">
            <a:spAutoFit/>
          </a:bodyPr>
          <a:lstStyle/>
          <a:p>
            <a:pPr algn="l">
              <a:lnSpc>
                <a:spcPts val="4160"/>
              </a:lnSpc>
            </a:pPr>
            <a:r>
              <a:rPr lang="en-US" sz="3200" b="true">
                <a:solidFill>
                  <a:srgbClr val="FFFAF4"/>
                </a:solidFill>
                <a:latin typeface="Open Sans Bold"/>
                <a:ea typeface="Open Sans Bold"/>
                <a:cs typeface="Open Sans Bold"/>
                <a:sym typeface="Open Sans Bold"/>
              </a:rPr>
              <a:t>Month-to-Month </a:t>
            </a:r>
            <a:r>
              <a:rPr lang="en-US" sz="3200">
                <a:solidFill>
                  <a:srgbClr val="FFFAF4"/>
                </a:solidFill>
                <a:latin typeface="Open Sans"/>
                <a:ea typeface="Open Sans"/>
                <a:cs typeface="Open Sans"/>
                <a:sym typeface="Open Sans"/>
              </a:rPr>
              <a:t>contract customers with </a:t>
            </a:r>
            <a:r>
              <a:rPr lang="en-US" sz="3200" b="true">
                <a:solidFill>
                  <a:srgbClr val="FFFAF4"/>
                </a:solidFill>
                <a:latin typeface="Open Sans Bold"/>
                <a:ea typeface="Open Sans Bold"/>
                <a:cs typeface="Open Sans Bold"/>
                <a:sym typeface="Open Sans Bold"/>
              </a:rPr>
              <a:t>46% </a:t>
            </a:r>
            <a:r>
              <a:rPr lang="en-US" sz="3200">
                <a:solidFill>
                  <a:srgbClr val="FFFAF4"/>
                </a:solidFill>
                <a:latin typeface="Open Sans"/>
                <a:ea typeface="Open Sans"/>
                <a:cs typeface="Open Sans"/>
                <a:sym typeface="Open Sans"/>
              </a:rPr>
              <a:t>churn rate</a:t>
            </a:r>
          </a:p>
        </p:txBody>
      </p:sp>
      <p:sp>
        <p:nvSpPr>
          <p:cNvPr name="TextBox 5" id="5"/>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2" action="ppaction://hlinksldjump"/>
              </a:rPr>
              <a:t>Back to Agenda</a:t>
            </a:r>
          </a:p>
        </p:txBody>
      </p:sp>
      <p:grpSp>
        <p:nvGrpSpPr>
          <p:cNvPr name="Group 6" id="6"/>
          <p:cNvGrpSpPr/>
          <p:nvPr/>
        </p:nvGrpSpPr>
        <p:grpSpPr>
          <a:xfrm rot="0">
            <a:off x="9144000" y="2700397"/>
            <a:ext cx="9144000" cy="6150732"/>
            <a:chOff x="0" y="0"/>
            <a:chExt cx="12192000" cy="8200976"/>
          </a:xfrm>
        </p:grpSpPr>
        <p:sp>
          <p:nvSpPr>
            <p:cNvPr name="Freeform 7" id="7"/>
            <p:cNvSpPr/>
            <p:nvPr/>
          </p:nvSpPr>
          <p:spPr>
            <a:xfrm flipH="false" flipV="false" rot="0">
              <a:off x="0" y="0"/>
              <a:ext cx="12192000" cy="6993631"/>
            </a:xfrm>
            <a:custGeom>
              <a:avLst/>
              <a:gdLst/>
              <a:ahLst/>
              <a:cxnLst/>
              <a:rect r="r" b="b" t="t" l="l"/>
              <a:pathLst>
                <a:path h="6993631" w="12192000">
                  <a:moveTo>
                    <a:pt x="0" y="0"/>
                  </a:moveTo>
                  <a:lnTo>
                    <a:pt x="12192000" y="0"/>
                  </a:lnTo>
                  <a:lnTo>
                    <a:pt x="12192000" y="6993631"/>
                  </a:lnTo>
                  <a:lnTo>
                    <a:pt x="0" y="6993631"/>
                  </a:lnTo>
                  <a:lnTo>
                    <a:pt x="0" y="0"/>
                  </a:lnTo>
                  <a:close/>
                </a:path>
              </a:pathLst>
            </a:custGeom>
            <a:blipFill>
              <a:blip r:embed="rId3"/>
              <a:stretch>
                <a:fillRect l="0" t="0" r="0" b="0"/>
              </a:stretch>
            </a:blipFill>
          </p:spPr>
        </p:sp>
        <p:sp>
          <p:nvSpPr>
            <p:cNvPr name="TextBox 8" id="8"/>
            <p:cNvSpPr txBox="true"/>
            <p:nvPr/>
          </p:nvSpPr>
          <p:spPr>
            <a:xfrm rot="0">
              <a:off x="3392404" y="7622281"/>
              <a:ext cx="5005189" cy="578695"/>
            </a:xfrm>
            <a:prstGeom prst="rect">
              <a:avLst/>
            </a:prstGeom>
          </p:spPr>
          <p:txBody>
            <a:bodyPr anchor="t" rtlCol="false" tIns="0" lIns="0" bIns="0" rIns="0">
              <a:spAutoFit/>
            </a:bodyPr>
            <a:lstStyle/>
            <a:p>
              <a:pPr algn="ctr" marL="0" indent="0" lvl="0">
                <a:lnSpc>
                  <a:spcPts val="3640"/>
                </a:lnSpc>
                <a:spcBef>
                  <a:spcPct val="0"/>
                </a:spcBef>
              </a:pPr>
              <a:r>
                <a:rPr lang="en-US" b="true" sz="2600">
                  <a:solidFill>
                    <a:srgbClr val="FFFFFF"/>
                  </a:solidFill>
                  <a:latin typeface="Canva Sans Bold"/>
                  <a:ea typeface="Canva Sans Bold"/>
                  <a:cs typeface="Canva Sans Bold"/>
                  <a:sym typeface="Canva Sans Bold"/>
                </a:rPr>
                <a:t>Month-to-Month churn</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1028700" y="819150"/>
            <a:ext cx="10360479" cy="1371600"/>
          </a:xfrm>
          <a:prstGeom prst="rect">
            <a:avLst/>
          </a:prstGeom>
        </p:spPr>
        <p:txBody>
          <a:bodyPr anchor="t" rtlCol="false" tIns="0" lIns="0" bIns="0" rIns="0">
            <a:spAutoFit/>
          </a:bodyPr>
          <a:lstStyle/>
          <a:p>
            <a:pPr algn="l">
              <a:lnSpc>
                <a:spcPts val="10800"/>
              </a:lnSpc>
            </a:pPr>
            <a:r>
              <a:rPr lang="en-US" sz="9000">
                <a:solidFill>
                  <a:srgbClr val="FFFAF4"/>
                </a:solidFill>
                <a:latin typeface="Montserrat"/>
                <a:ea typeface="Montserrat"/>
                <a:cs typeface="Montserrat"/>
                <a:sym typeface="Montserrat"/>
              </a:rPr>
              <a:t>Senior vs Churn</a:t>
            </a:r>
          </a:p>
        </p:txBody>
      </p:sp>
      <p:sp>
        <p:nvSpPr>
          <p:cNvPr name="TextBox 3" id="3"/>
          <p:cNvSpPr txBox="true"/>
          <p:nvPr/>
        </p:nvSpPr>
        <p:spPr>
          <a:xfrm rot="0">
            <a:off x="1028700" y="6712328"/>
            <a:ext cx="7811062" cy="1160145"/>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FFFAF4"/>
                </a:solidFill>
                <a:latin typeface="Open Sans"/>
                <a:ea typeface="Open Sans"/>
                <a:cs typeface="Open Sans"/>
                <a:sym typeface="Open Sans"/>
              </a:rPr>
              <a:t>Customers over 65 (</a:t>
            </a:r>
            <a:r>
              <a:rPr lang="en-US" b="true" sz="2400">
                <a:solidFill>
                  <a:srgbClr val="FFFAF4"/>
                </a:solidFill>
                <a:latin typeface="Open Sans Bold"/>
                <a:ea typeface="Open Sans Bold"/>
                <a:cs typeface="Open Sans Bold"/>
                <a:sym typeface="Open Sans Bold"/>
              </a:rPr>
              <a:t>Senior</a:t>
            </a:r>
            <a:r>
              <a:rPr lang="en-US" sz="2400">
                <a:solidFill>
                  <a:srgbClr val="FFFAF4"/>
                </a:solidFill>
                <a:latin typeface="Open Sans"/>
                <a:ea typeface="Open Sans"/>
                <a:cs typeface="Open Sans"/>
                <a:sym typeface="Open Sans"/>
              </a:rPr>
              <a:t>) have nearly double the churn rate than the ones who are below 65 (</a:t>
            </a:r>
            <a:r>
              <a:rPr lang="en-US" b="true" sz="2400">
                <a:solidFill>
                  <a:srgbClr val="FFFAF4"/>
                </a:solidFill>
                <a:latin typeface="Open Sans Bold"/>
                <a:ea typeface="Open Sans Bold"/>
                <a:cs typeface="Open Sans Bold"/>
                <a:sym typeface="Open Sans Bold"/>
              </a:rPr>
              <a:t>Senior = 42%, Non Senior = 24%</a:t>
            </a:r>
            <a:r>
              <a:rPr lang="en-US" sz="2400">
                <a:solidFill>
                  <a:srgbClr val="FFFAF4"/>
                </a:solidFill>
                <a:latin typeface="Open Sans"/>
                <a:ea typeface="Open Sans"/>
                <a:cs typeface="Open Sans"/>
                <a:sym typeface="Open Sans"/>
              </a:rPr>
              <a:t>)</a:t>
            </a:r>
          </a:p>
        </p:txBody>
      </p:sp>
      <p:sp>
        <p:nvSpPr>
          <p:cNvPr name="TextBox 4" id="4"/>
          <p:cNvSpPr txBox="true"/>
          <p:nvPr/>
        </p:nvSpPr>
        <p:spPr>
          <a:xfrm rot="0">
            <a:off x="1028700" y="5320408"/>
            <a:ext cx="7811062" cy="1035685"/>
          </a:xfrm>
          <a:prstGeom prst="rect">
            <a:avLst/>
          </a:prstGeom>
        </p:spPr>
        <p:txBody>
          <a:bodyPr anchor="t" rtlCol="false" tIns="0" lIns="0" bIns="0" rIns="0">
            <a:spAutoFit/>
          </a:bodyPr>
          <a:lstStyle/>
          <a:p>
            <a:pPr algn="l">
              <a:lnSpc>
                <a:spcPts val="4160"/>
              </a:lnSpc>
            </a:pPr>
            <a:r>
              <a:rPr lang="en-US" sz="3200" b="true">
                <a:solidFill>
                  <a:srgbClr val="FFFAF4"/>
                </a:solidFill>
                <a:latin typeface="Open Sans Bold"/>
                <a:ea typeface="Open Sans Bold"/>
                <a:cs typeface="Open Sans Bold"/>
                <a:sym typeface="Open Sans Bold"/>
              </a:rPr>
              <a:t>Senior</a:t>
            </a:r>
            <a:r>
              <a:rPr lang="en-US" sz="3200">
                <a:solidFill>
                  <a:srgbClr val="FFFAF4"/>
                </a:solidFill>
                <a:latin typeface="Open Sans"/>
                <a:ea typeface="Open Sans"/>
                <a:cs typeface="Open Sans"/>
                <a:sym typeface="Open Sans"/>
              </a:rPr>
              <a:t> customers are </a:t>
            </a:r>
            <a:r>
              <a:rPr lang="en-US" sz="3200" b="true">
                <a:solidFill>
                  <a:srgbClr val="FFFAF4"/>
                </a:solidFill>
                <a:latin typeface="Open Sans Bold"/>
                <a:ea typeface="Open Sans Bold"/>
                <a:cs typeface="Open Sans Bold"/>
                <a:sym typeface="Open Sans Bold"/>
              </a:rPr>
              <a:t>twice</a:t>
            </a:r>
            <a:r>
              <a:rPr lang="en-US" sz="3200">
                <a:solidFill>
                  <a:srgbClr val="FFFAF4"/>
                </a:solidFill>
                <a:latin typeface="Open Sans"/>
                <a:ea typeface="Open Sans"/>
                <a:cs typeface="Open Sans"/>
                <a:sym typeface="Open Sans"/>
              </a:rPr>
              <a:t> as likely </a:t>
            </a:r>
            <a:r>
              <a:rPr lang="en-US" sz="3200" b="true">
                <a:solidFill>
                  <a:srgbClr val="FFFAF4"/>
                </a:solidFill>
                <a:latin typeface="Open Sans Bold"/>
                <a:ea typeface="Open Sans Bold"/>
                <a:cs typeface="Open Sans Bold"/>
                <a:sym typeface="Open Sans Bold"/>
              </a:rPr>
              <a:t>to</a:t>
            </a:r>
            <a:r>
              <a:rPr lang="en-US" sz="3200">
                <a:solidFill>
                  <a:srgbClr val="FFFAF4"/>
                </a:solidFill>
                <a:latin typeface="Open Sans"/>
                <a:ea typeface="Open Sans"/>
                <a:cs typeface="Open Sans"/>
                <a:sym typeface="Open Sans"/>
              </a:rPr>
              <a:t> </a:t>
            </a:r>
            <a:r>
              <a:rPr lang="en-US" sz="3200" b="true">
                <a:solidFill>
                  <a:srgbClr val="FFFAF4"/>
                </a:solidFill>
                <a:latin typeface="Open Sans Bold"/>
                <a:ea typeface="Open Sans Bold"/>
                <a:cs typeface="Open Sans Bold"/>
                <a:sym typeface="Open Sans Bold"/>
              </a:rPr>
              <a:t>churn.</a:t>
            </a:r>
          </a:p>
        </p:txBody>
      </p:sp>
      <p:pic>
        <p:nvPicPr>
          <p:cNvPr name="Picture 5" id="5"/>
          <p:cNvPicPr>
            <a:picLocks noChangeAspect="true"/>
          </p:cNvPicPr>
          <p:nvPr/>
        </p:nvPicPr>
        <p:blipFill>
          <a:blip r:embed="rId2"/>
          <a:stretch>
            <a:fillRect/>
          </a:stretch>
        </p:blipFill>
        <p:spPr>
          <a:xfrm rot="0">
            <a:off x="10034770" y="2090134"/>
            <a:ext cx="7881306" cy="7769162"/>
          </a:xfrm>
          <a:prstGeom prst="rect">
            <a:avLst/>
          </a:prstGeom>
        </p:spPr>
      </p:pic>
      <p:sp>
        <p:nvSpPr>
          <p:cNvPr name="TextBox 6" id="6"/>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3" action="ppaction://hlinksldjump"/>
              </a:rPr>
              <a:t>Back to Agenda</a:t>
            </a:r>
          </a:p>
        </p:txBody>
      </p:sp>
      <p:sp>
        <p:nvSpPr>
          <p:cNvPr name="TextBox 7" id="7"/>
          <p:cNvSpPr txBox="true"/>
          <p:nvPr/>
        </p:nvSpPr>
        <p:spPr>
          <a:xfrm rot="0">
            <a:off x="13408437" y="9536211"/>
            <a:ext cx="2331393" cy="297178"/>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FFFFFF"/>
                </a:solidFill>
                <a:latin typeface="Canva Sans Bold"/>
                <a:ea typeface="Canva Sans Bold"/>
                <a:cs typeface="Canva Sans Bold"/>
                <a:sym typeface="Canva Sans Bold"/>
              </a:rPr>
              <a:t>Senior vs Churn Rate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1028700" y="819150"/>
            <a:ext cx="10360479" cy="1371600"/>
          </a:xfrm>
          <a:prstGeom prst="rect">
            <a:avLst/>
          </a:prstGeom>
        </p:spPr>
        <p:txBody>
          <a:bodyPr anchor="t" rtlCol="false" tIns="0" lIns="0" bIns="0" rIns="0">
            <a:spAutoFit/>
          </a:bodyPr>
          <a:lstStyle/>
          <a:p>
            <a:pPr algn="l">
              <a:lnSpc>
                <a:spcPts val="10800"/>
              </a:lnSpc>
            </a:pPr>
            <a:r>
              <a:rPr lang="en-US" sz="9000">
                <a:solidFill>
                  <a:srgbClr val="FFFAF4"/>
                </a:solidFill>
                <a:latin typeface="Montserrat"/>
                <a:ea typeface="Montserrat"/>
                <a:cs typeface="Montserrat"/>
                <a:sym typeface="Montserrat"/>
              </a:rPr>
              <a:t>Married vs Churn</a:t>
            </a:r>
          </a:p>
        </p:txBody>
      </p:sp>
      <p:sp>
        <p:nvSpPr>
          <p:cNvPr name="TextBox 3" id="3"/>
          <p:cNvSpPr txBox="true"/>
          <p:nvPr/>
        </p:nvSpPr>
        <p:spPr>
          <a:xfrm rot="0">
            <a:off x="1028700" y="6712328"/>
            <a:ext cx="7811062" cy="1160145"/>
          </a:xfrm>
          <a:prstGeom prst="rect">
            <a:avLst/>
          </a:prstGeom>
        </p:spPr>
        <p:txBody>
          <a:bodyPr anchor="t" rtlCol="false" tIns="0" lIns="0" bIns="0" rIns="0">
            <a:spAutoFit/>
          </a:bodyPr>
          <a:lstStyle/>
          <a:p>
            <a:pPr algn="l" marL="518160" indent="-259080" lvl="1">
              <a:lnSpc>
                <a:spcPts val="3120"/>
              </a:lnSpc>
              <a:buFont typeface="Arial"/>
              <a:buChar char="•"/>
            </a:pPr>
            <a:r>
              <a:rPr lang="en-US" b="true" sz="2400">
                <a:solidFill>
                  <a:srgbClr val="FFFAF4"/>
                </a:solidFill>
                <a:latin typeface="Open Sans Bold"/>
                <a:ea typeface="Open Sans Bold"/>
                <a:cs typeface="Open Sans Bold"/>
                <a:sym typeface="Open Sans Bold"/>
              </a:rPr>
              <a:t>Married customers</a:t>
            </a:r>
            <a:r>
              <a:rPr lang="en-US" sz="2400">
                <a:solidFill>
                  <a:srgbClr val="FFFAF4"/>
                </a:solidFill>
                <a:latin typeface="Open Sans"/>
                <a:ea typeface="Open Sans"/>
                <a:cs typeface="Open Sans"/>
                <a:sym typeface="Open Sans"/>
              </a:rPr>
              <a:t> have </a:t>
            </a:r>
            <a:r>
              <a:rPr lang="en-US" b="true" sz="2400">
                <a:solidFill>
                  <a:srgbClr val="FFFAF4"/>
                </a:solidFill>
                <a:latin typeface="Open Sans Bold"/>
                <a:ea typeface="Open Sans Bold"/>
                <a:cs typeface="Open Sans Bold"/>
                <a:sym typeface="Open Sans Bold"/>
              </a:rPr>
              <a:t>significantly lower churn rate </a:t>
            </a:r>
            <a:r>
              <a:rPr lang="en-US" sz="2400">
                <a:solidFill>
                  <a:srgbClr val="FFFAF4"/>
                </a:solidFill>
                <a:latin typeface="Open Sans"/>
                <a:ea typeface="Open Sans"/>
                <a:cs typeface="Open Sans"/>
                <a:sym typeface="Open Sans"/>
              </a:rPr>
              <a:t>(nearly </a:t>
            </a:r>
            <a:r>
              <a:rPr lang="en-US" b="true" sz="2400">
                <a:solidFill>
                  <a:srgbClr val="FFFAF4"/>
                </a:solidFill>
                <a:latin typeface="Open Sans Bold"/>
                <a:ea typeface="Open Sans Bold"/>
                <a:cs typeface="Open Sans Bold"/>
                <a:sym typeface="Open Sans Bold"/>
              </a:rPr>
              <a:t>20%</a:t>
            </a:r>
            <a:r>
              <a:rPr lang="en-US" sz="2400">
                <a:solidFill>
                  <a:srgbClr val="FFFAF4"/>
                </a:solidFill>
                <a:latin typeface="Open Sans"/>
                <a:ea typeface="Open Sans"/>
                <a:cs typeface="Open Sans"/>
                <a:sym typeface="Open Sans"/>
              </a:rPr>
              <a:t>) than </a:t>
            </a:r>
            <a:r>
              <a:rPr lang="en-US" b="true" sz="2400">
                <a:solidFill>
                  <a:srgbClr val="FFFAF4"/>
                </a:solidFill>
                <a:latin typeface="Open Sans Bold"/>
                <a:ea typeface="Open Sans Bold"/>
                <a:cs typeface="Open Sans Bold"/>
                <a:sym typeface="Open Sans Bold"/>
              </a:rPr>
              <a:t>unmarried customers</a:t>
            </a:r>
            <a:r>
              <a:rPr lang="en-US" sz="2400">
                <a:solidFill>
                  <a:srgbClr val="FFFAF4"/>
                </a:solidFill>
                <a:latin typeface="Open Sans"/>
                <a:ea typeface="Open Sans"/>
                <a:cs typeface="Open Sans"/>
                <a:sym typeface="Open Sans"/>
              </a:rPr>
              <a:t> (roughly </a:t>
            </a:r>
            <a:r>
              <a:rPr lang="en-US" b="true" sz="2400">
                <a:solidFill>
                  <a:srgbClr val="FFFAF4"/>
                </a:solidFill>
                <a:latin typeface="Open Sans Bold"/>
                <a:ea typeface="Open Sans Bold"/>
                <a:cs typeface="Open Sans Bold"/>
                <a:sym typeface="Open Sans Bold"/>
              </a:rPr>
              <a:t>33%</a:t>
            </a:r>
            <a:r>
              <a:rPr lang="en-US" sz="2400">
                <a:solidFill>
                  <a:srgbClr val="FFFAF4"/>
                </a:solidFill>
                <a:latin typeface="Open Sans"/>
                <a:ea typeface="Open Sans"/>
                <a:cs typeface="Open Sans"/>
                <a:sym typeface="Open Sans"/>
              </a:rPr>
              <a:t>).</a:t>
            </a:r>
          </a:p>
        </p:txBody>
      </p:sp>
      <p:sp>
        <p:nvSpPr>
          <p:cNvPr name="TextBox 4" id="4"/>
          <p:cNvSpPr txBox="true"/>
          <p:nvPr/>
        </p:nvSpPr>
        <p:spPr>
          <a:xfrm rot="0">
            <a:off x="1028700" y="5320408"/>
            <a:ext cx="7811062" cy="1035685"/>
          </a:xfrm>
          <a:prstGeom prst="rect">
            <a:avLst/>
          </a:prstGeom>
        </p:spPr>
        <p:txBody>
          <a:bodyPr anchor="t" rtlCol="false" tIns="0" lIns="0" bIns="0" rIns="0">
            <a:spAutoFit/>
          </a:bodyPr>
          <a:lstStyle/>
          <a:p>
            <a:pPr algn="l">
              <a:lnSpc>
                <a:spcPts val="4160"/>
              </a:lnSpc>
            </a:pPr>
            <a:r>
              <a:rPr lang="en-US" sz="3200" b="true">
                <a:solidFill>
                  <a:srgbClr val="FFFAF4"/>
                </a:solidFill>
                <a:latin typeface="Open Sans Bold"/>
                <a:ea typeface="Open Sans Bold"/>
                <a:cs typeface="Open Sans Bold"/>
                <a:sym typeface="Open Sans Bold"/>
              </a:rPr>
              <a:t>Married </a:t>
            </a:r>
            <a:r>
              <a:rPr lang="en-US" sz="3200">
                <a:solidFill>
                  <a:srgbClr val="FFFAF4"/>
                </a:solidFill>
                <a:latin typeface="Open Sans"/>
                <a:ea typeface="Open Sans"/>
                <a:cs typeface="Open Sans"/>
                <a:sym typeface="Open Sans"/>
              </a:rPr>
              <a:t>customers are less likely to churn.</a:t>
            </a:r>
          </a:p>
        </p:txBody>
      </p:sp>
      <p:pic>
        <p:nvPicPr>
          <p:cNvPr name="Picture 5" id="5"/>
          <p:cNvPicPr>
            <a:picLocks noChangeAspect="true"/>
          </p:cNvPicPr>
          <p:nvPr/>
        </p:nvPicPr>
        <p:blipFill>
          <a:blip r:embed="rId2"/>
          <a:stretch>
            <a:fillRect/>
          </a:stretch>
        </p:blipFill>
        <p:spPr>
          <a:xfrm rot="0">
            <a:off x="10034770" y="2090134"/>
            <a:ext cx="7881306" cy="7769162"/>
          </a:xfrm>
          <a:prstGeom prst="rect">
            <a:avLst/>
          </a:prstGeom>
        </p:spPr>
      </p:pic>
      <p:sp>
        <p:nvSpPr>
          <p:cNvPr name="TextBox 6" id="6"/>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3" action="ppaction://hlinksldjump"/>
              </a:rPr>
              <a:t>Back to Agenda</a:t>
            </a:r>
          </a:p>
        </p:txBody>
      </p:sp>
      <p:sp>
        <p:nvSpPr>
          <p:cNvPr name="TextBox 7" id="7"/>
          <p:cNvSpPr txBox="true"/>
          <p:nvPr/>
        </p:nvSpPr>
        <p:spPr>
          <a:xfrm rot="0">
            <a:off x="13612852" y="9536211"/>
            <a:ext cx="1922562" cy="297178"/>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FFFFFF"/>
                </a:solidFill>
                <a:latin typeface="Canva Sans Bold"/>
                <a:ea typeface="Canva Sans Bold"/>
                <a:cs typeface="Canva Sans Bold"/>
                <a:sym typeface="Canva Sans Bold"/>
              </a:rPr>
              <a:t>Married vs Churn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1028700" y="819150"/>
            <a:ext cx="10360479" cy="2743200"/>
          </a:xfrm>
          <a:prstGeom prst="rect">
            <a:avLst/>
          </a:prstGeom>
        </p:spPr>
        <p:txBody>
          <a:bodyPr anchor="t" rtlCol="false" tIns="0" lIns="0" bIns="0" rIns="0">
            <a:spAutoFit/>
          </a:bodyPr>
          <a:lstStyle/>
          <a:p>
            <a:pPr algn="l">
              <a:lnSpc>
                <a:spcPts val="10800"/>
              </a:lnSpc>
            </a:pPr>
            <a:r>
              <a:rPr lang="en-US" sz="9000">
                <a:solidFill>
                  <a:srgbClr val="FFFAF4"/>
                </a:solidFill>
                <a:latin typeface="Montserrat"/>
                <a:ea typeface="Montserrat"/>
                <a:cs typeface="Montserrat"/>
                <a:sym typeface="Montserrat"/>
              </a:rPr>
              <a:t>Dependents vs Churn</a:t>
            </a:r>
          </a:p>
        </p:txBody>
      </p:sp>
      <p:sp>
        <p:nvSpPr>
          <p:cNvPr name="TextBox 3" id="3"/>
          <p:cNvSpPr txBox="true"/>
          <p:nvPr/>
        </p:nvSpPr>
        <p:spPr>
          <a:xfrm rot="0">
            <a:off x="1028700" y="6712328"/>
            <a:ext cx="7811062" cy="1160145"/>
          </a:xfrm>
          <a:prstGeom prst="rect">
            <a:avLst/>
          </a:prstGeom>
        </p:spPr>
        <p:txBody>
          <a:bodyPr anchor="t" rtlCol="false" tIns="0" lIns="0" bIns="0" rIns="0">
            <a:spAutoFit/>
          </a:bodyPr>
          <a:lstStyle/>
          <a:p>
            <a:pPr algn="l" marL="518160" indent="-259080" lvl="1">
              <a:lnSpc>
                <a:spcPts val="3120"/>
              </a:lnSpc>
              <a:buFont typeface="Arial"/>
              <a:buChar char="•"/>
            </a:pPr>
            <a:r>
              <a:rPr lang="en-US" b="true" sz="2400">
                <a:solidFill>
                  <a:srgbClr val="FFFAF4"/>
                </a:solidFill>
                <a:latin typeface="Open Sans Bold"/>
                <a:ea typeface="Open Sans Bold"/>
                <a:cs typeface="Open Sans Bold"/>
                <a:sym typeface="Open Sans Bold"/>
              </a:rPr>
              <a:t>Customers with dependents</a:t>
            </a:r>
            <a:r>
              <a:rPr lang="en-US" sz="2400">
                <a:solidFill>
                  <a:srgbClr val="FFFAF4"/>
                </a:solidFill>
                <a:latin typeface="Open Sans"/>
                <a:ea typeface="Open Sans"/>
                <a:cs typeface="Open Sans"/>
                <a:sym typeface="Open Sans"/>
              </a:rPr>
              <a:t> have </a:t>
            </a:r>
            <a:r>
              <a:rPr lang="en-US" b="true" sz="2400">
                <a:solidFill>
                  <a:srgbClr val="FFFAF4"/>
                </a:solidFill>
                <a:latin typeface="Open Sans Bold"/>
                <a:ea typeface="Open Sans Bold"/>
                <a:cs typeface="Open Sans Bold"/>
                <a:sym typeface="Open Sans Bold"/>
              </a:rPr>
              <a:t>significantly lower churn rate </a:t>
            </a:r>
            <a:r>
              <a:rPr lang="en-US" sz="2400">
                <a:solidFill>
                  <a:srgbClr val="FFFAF4"/>
                </a:solidFill>
                <a:latin typeface="Open Sans"/>
                <a:ea typeface="Open Sans"/>
                <a:cs typeface="Open Sans"/>
                <a:sym typeface="Open Sans"/>
              </a:rPr>
              <a:t>(nearly </a:t>
            </a:r>
            <a:r>
              <a:rPr lang="en-US" b="true" sz="2400">
                <a:solidFill>
                  <a:srgbClr val="FFFAF4"/>
                </a:solidFill>
                <a:latin typeface="Open Sans Bold"/>
                <a:ea typeface="Open Sans Bold"/>
                <a:cs typeface="Open Sans Bold"/>
                <a:sym typeface="Open Sans Bold"/>
              </a:rPr>
              <a:t>7%</a:t>
            </a:r>
            <a:r>
              <a:rPr lang="en-US" sz="2400">
                <a:solidFill>
                  <a:srgbClr val="FFFAF4"/>
                </a:solidFill>
                <a:latin typeface="Open Sans"/>
                <a:ea typeface="Open Sans"/>
                <a:cs typeface="Open Sans"/>
                <a:sym typeface="Open Sans"/>
              </a:rPr>
              <a:t>) than </a:t>
            </a:r>
            <a:r>
              <a:rPr lang="en-US" b="true" sz="2400">
                <a:solidFill>
                  <a:srgbClr val="FFFAF4"/>
                </a:solidFill>
                <a:latin typeface="Open Sans Bold"/>
                <a:ea typeface="Open Sans Bold"/>
                <a:cs typeface="Open Sans Bold"/>
                <a:sym typeface="Open Sans Bold"/>
              </a:rPr>
              <a:t>independent customers</a:t>
            </a:r>
            <a:r>
              <a:rPr lang="en-US" sz="2400">
                <a:solidFill>
                  <a:srgbClr val="FFFAF4"/>
                </a:solidFill>
                <a:latin typeface="Open Sans"/>
                <a:ea typeface="Open Sans"/>
                <a:cs typeface="Open Sans"/>
                <a:sym typeface="Open Sans"/>
              </a:rPr>
              <a:t> (roughly </a:t>
            </a:r>
            <a:r>
              <a:rPr lang="en-US" b="true" sz="2400">
                <a:solidFill>
                  <a:srgbClr val="FFFAF4"/>
                </a:solidFill>
                <a:latin typeface="Open Sans Bold"/>
                <a:ea typeface="Open Sans Bold"/>
                <a:cs typeface="Open Sans Bold"/>
                <a:sym typeface="Open Sans Bold"/>
              </a:rPr>
              <a:t>33%</a:t>
            </a:r>
            <a:r>
              <a:rPr lang="en-US" sz="2400">
                <a:solidFill>
                  <a:srgbClr val="FFFAF4"/>
                </a:solidFill>
                <a:latin typeface="Open Sans"/>
                <a:ea typeface="Open Sans"/>
                <a:cs typeface="Open Sans"/>
                <a:sym typeface="Open Sans"/>
              </a:rPr>
              <a:t>).</a:t>
            </a:r>
          </a:p>
        </p:txBody>
      </p:sp>
      <p:sp>
        <p:nvSpPr>
          <p:cNvPr name="TextBox 4" id="4"/>
          <p:cNvSpPr txBox="true"/>
          <p:nvPr/>
        </p:nvSpPr>
        <p:spPr>
          <a:xfrm rot="0">
            <a:off x="1028700" y="5114925"/>
            <a:ext cx="7811062" cy="1035685"/>
          </a:xfrm>
          <a:prstGeom prst="rect">
            <a:avLst/>
          </a:prstGeom>
        </p:spPr>
        <p:txBody>
          <a:bodyPr anchor="t" rtlCol="false" tIns="0" lIns="0" bIns="0" rIns="0">
            <a:spAutoFit/>
          </a:bodyPr>
          <a:lstStyle/>
          <a:p>
            <a:pPr algn="l">
              <a:lnSpc>
                <a:spcPts val="4160"/>
              </a:lnSpc>
            </a:pPr>
            <a:r>
              <a:rPr lang="en-US" sz="3200">
                <a:solidFill>
                  <a:srgbClr val="FFFAF4"/>
                </a:solidFill>
                <a:latin typeface="Open Sans"/>
                <a:ea typeface="Open Sans"/>
                <a:cs typeface="Open Sans"/>
                <a:sym typeface="Open Sans"/>
              </a:rPr>
              <a:t>Customers with </a:t>
            </a:r>
            <a:r>
              <a:rPr lang="en-US" sz="3200" b="true">
                <a:solidFill>
                  <a:srgbClr val="FFFAF4"/>
                </a:solidFill>
                <a:latin typeface="Open Sans Bold"/>
                <a:ea typeface="Open Sans Bold"/>
                <a:cs typeface="Open Sans Bold"/>
                <a:sym typeface="Open Sans Bold"/>
              </a:rPr>
              <a:t>no dependents are four times more likely to churn </a:t>
            </a:r>
          </a:p>
        </p:txBody>
      </p:sp>
      <p:pic>
        <p:nvPicPr>
          <p:cNvPr name="Picture 5" id="5"/>
          <p:cNvPicPr>
            <a:picLocks noChangeAspect="true"/>
          </p:cNvPicPr>
          <p:nvPr/>
        </p:nvPicPr>
        <p:blipFill>
          <a:blip r:embed="rId2"/>
          <a:stretch>
            <a:fillRect/>
          </a:stretch>
        </p:blipFill>
        <p:spPr>
          <a:xfrm rot="0">
            <a:off x="10034770" y="2090134"/>
            <a:ext cx="7881306" cy="7769162"/>
          </a:xfrm>
          <a:prstGeom prst="rect">
            <a:avLst/>
          </a:prstGeom>
        </p:spPr>
      </p:pic>
      <p:sp>
        <p:nvSpPr>
          <p:cNvPr name="TextBox 6" id="6"/>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3" action="ppaction://hlinksldjump"/>
              </a:rPr>
              <a:t>Back to Agenda</a:t>
            </a:r>
          </a:p>
        </p:txBody>
      </p:sp>
      <p:sp>
        <p:nvSpPr>
          <p:cNvPr name="TextBox 7" id="7"/>
          <p:cNvSpPr txBox="true"/>
          <p:nvPr/>
        </p:nvSpPr>
        <p:spPr>
          <a:xfrm rot="0">
            <a:off x="13612852" y="9536211"/>
            <a:ext cx="1922562" cy="297178"/>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FFFFFF"/>
                </a:solidFill>
                <a:latin typeface="Canva Sans Bold"/>
                <a:ea typeface="Canva Sans Bold"/>
                <a:cs typeface="Canva Sans Bold"/>
                <a:sym typeface="Canva Sans Bold"/>
              </a:rPr>
              <a:t>Married vs Churn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Freeform 2" id="2"/>
          <p:cNvSpPr/>
          <p:nvPr/>
        </p:nvSpPr>
        <p:spPr>
          <a:xfrm flipH="false" flipV="false" rot="0">
            <a:off x="1819553" y="173063"/>
            <a:ext cx="14648893" cy="9515061"/>
          </a:xfrm>
          <a:custGeom>
            <a:avLst/>
            <a:gdLst/>
            <a:ahLst/>
            <a:cxnLst/>
            <a:rect r="r" b="b" t="t" l="l"/>
            <a:pathLst>
              <a:path h="9515061" w="14648893">
                <a:moveTo>
                  <a:pt x="0" y="0"/>
                </a:moveTo>
                <a:lnTo>
                  <a:pt x="14648894" y="0"/>
                </a:lnTo>
                <a:lnTo>
                  <a:pt x="14648894" y="9515061"/>
                </a:lnTo>
                <a:lnTo>
                  <a:pt x="0" y="9515061"/>
                </a:lnTo>
                <a:lnTo>
                  <a:pt x="0" y="0"/>
                </a:lnTo>
                <a:close/>
              </a:path>
            </a:pathLst>
          </a:custGeom>
          <a:blipFill>
            <a:blip r:embed="rId2"/>
            <a:stretch>
              <a:fillRect l="0" t="0" r="0" b="0"/>
            </a:stretch>
          </a:blipFill>
        </p:spPr>
      </p:sp>
      <p:sp>
        <p:nvSpPr>
          <p:cNvPr name="TextBox 3" id="3"/>
          <p:cNvSpPr txBox="true"/>
          <p:nvPr/>
        </p:nvSpPr>
        <p:spPr>
          <a:xfrm rot="0">
            <a:off x="4965151" y="9809137"/>
            <a:ext cx="8357699" cy="304800"/>
          </a:xfrm>
          <a:prstGeom prst="rect">
            <a:avLst/>
          </a:prstGeom>
        </p:spPr>
        <p:txBody>
          <a:bodyPr anchor="t" rtlCol="false" tIns="0" lIns="0" bIns="0" rIns="0">
            <a:spAutoFit/>
          </a:bodyPr>
          <a:lstStyle/>
          <a:p>
            <a:pPr algn="ctr">
              <a:lnSpc>
                <a:spcPts val="2400"/>
              </a:lnSpc>
            </a:pPr>
            <a:r>
              <a:rPr lang="en-US" b="true" sz="2000">
                <a:solidFill>
                  <a:srgbClr val="FFFAF4"/>
                </a:solidFill>
                <a:latin typeface="Montserrat Bold"/>
                <a:ea typeface="Montserrat Bold"/>
                <a:cs typeface="Montserrat Bold"/>
                <a:sym typeface="Montserrat Bold"/>
              </a:rPr>
              <a:t>Tenure, Payment Method, Contract</a:t>
            </a:r>
            <a:r>
              <a:rPr lang="en-US" sz="2000">
                <a:solidFill>
                  <a:srgbClr val="FFFAF4"/>
                </a:solidFill>
                <a:latin typeface="Montserrat"/>
                <a:ea typeface="Montserrat"/>
                <a:cs typeface="Montserrat"/>
                <a:sym typeface="Montserrat"/>
              </a:rPr>
              <a:t> vs </a:t>
            </a:r>
            <a:r>
              <a:rPr lang="en-US" b="true" sz="2000">
                <a:solidFill>
                  <a:srgbClr val="FFFAF4"/>
                </a:solidFill>
                <a:latin typeface="Montserrat Bold"/>
                <a:ea typeface="Montserrat Bold"/>
                <a:cs typeface="Montserrat Bold"/>
                <a:sym typeface="Montserrat Bold"/>
              </a:rPr>
              <a:t>Churn Rate</a:t>
            </a:r>
          </a:p>
        </p:txBody>
      </p:sp>
    </p:spTree>
  </p:cSld>
  <p:clrMapOvr>
    <a:masterClrMapping/>
  </p:clrMapOvr>
  <p:transition spd="slow">
    <p:push dir="l"/>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Freeform 2" id="2"/>
          <p:cNvSpPr/>
          <p:nvPr/>
        </p:nvSpPr>
        <p:spPr>
          <a:xfrm flipH="false" flipV="false" rot="0">
            <a:off x="12775176" y="3657206"/>
            <a:ext cx="4484124" cy="4484124"/>
          </a:xfrm>
          <a:custGeom>
            <a:avLst/>
            <a:gdLst/>
            <a:ahLst/>
            <a:cxnLst/>
            <a:rect r="r" b="b" t="t" l="l"/>
            <a:pathLst>
              <a:path h="4484124" w="4484124">
                <a:moveTo>
                  <a:pt x="0" y="0"/>
                </a:moveTo>
                <a:lnTo>
                  <a:pt x="4484124" y="0"/>
                </a:lnTo>
                <a:lnTo>
                  <a:pt x="4484124" y="4484124"/>
                </a:lnTo>
                <a:lnTo>
                  <a:pt x="0" y="44841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71000" y="461962"/>
            <a:ext cx="6520088" cy="1133475"/>
          </a:xfrm>
          <a:prstGeom prst="rect">
            <a:avLst/>
          </a:prstGeom>
        </p:spPr>
        <p:txBody>
          <a:bodyPr anchor="t" rtlCol="false" tIns="0" lIns="0" bIns="0" rIns="0">
            <a:spAutoFit/>
          </a:bodyPr>
          <a:lstStyle/>
          <a:p>
            <a:pPr algn="l">
              <a:lnSpc>
                <a:spcPts val="8999"/>
              </a:lnSpc>
            </a:pPr>
            <a:r>
              <a:rPr lang="en-US" sz="7499">
                <a:solidFill>
                  <a:srgbClr val="FFFAF4"/>
                </a:solidFill>
                <a:latin typeface="Montserrat"/>
                <a:ea typeface="Montserrat"/>
                <a:cs typeface="Montserrat"/>
                <a:sym typeface="Montserrat"/>
              </a:rPr>
              <a:t>Insights?</a:t>
            </a:r>
          </a:p>
        </p:txBody>
      </p:sp>
      <p:sp>
        <p:nvSpPr>
          <p:cNvPr name="TextBox 4" id="4"/>
          <p:cNvSpPr txBox="true"/>
          <p:nvPr/>
        </p:nvSpPr>
        <p:spPr>
          <a:xfrm rot="0">
            <a:off x="1371000" y="2319334"/>
            <a:ext cx="14221380" cy="976507"/>
          </a:xfrm>
          <a:prstGeom prst="rect">
            <a:avLst/>
          </a:prstGeom>
        </p:spPr>
        <p:txBody>
          <a:bodyPr anchor="t" rtlCol="false" tIns="0" lIns="0" bIns="0" rIns="0">
            <a:spAutoFit/>
          </a:bodyPr>
          <a:lstStyle/>
          <a:p>
            <a:pPr algn="l" marL="0" indent="0" lvl="0">
              <a:lnSpc>
                <a:spcPts val="3926"/>
              </a:lnSpc>
              <a:spcBef>
                <a:spcPct val="0"/>
              </a:spcBef>
            </a:pPr>
            <a:r>
              <a:rPr lang="en-US" b="true" sz="2804">
                <a:solidFill>
                  <a:srgbClr val="FFFFFF"/>
                </a:solidFill>
                <a:latin typeface="Canva Sans Bold"/>
                <a:ea typeface="Canva Sans Bold"/>
                <a:cs typeface="Canva Sans Bold"/>
                <a:sym typeface="Canva Sans Bold"/>
              </a:rPr>
              <a:t>Recent Customers </a:t>
            </a:r>
            <a:r>
              <a:rPr lang="en-US" sz="2804">
                <a:solidFill>
                  <a:srgbClr val="FFFFFF"/>
                </a:solidFill>
                <a:latin typeface="Canva Sans"/>
                <a:ea typeface="Canva Sans"/>
                <a:cs typeface="Canva Sans"/>
                <a:sym typeface="Canva Sans"/>
              </a:rPr>
              <a:t>with</a:t>
            </a:r>
            <a:r>
              <a:rPr lang="en-US" b="true" sz="2804">
                <a:solidFill>
                  <a:srgbClr val="FFFFFF"/>
                </a:solidFill>
                <a:latin typeface="Canva Sans Bold"/>
                <a:ea typeface="Canva Sans Bold"/>
                <a:cs typeface="Canva Sans Bold"/>
                <a:sym typeface="Canva Sans Bold"/>
              </a:rPr>
              <a:t> Shorter Tenure </a:t>
            </a:r>
            <a:r>
              <a:rPr lang="en-US" sz="2804">
                <a:solidFill>
                  <a:srgbClr val="FFFFFF"/>
                </a:solidFill>
                <a:latin typeface="Canva Sans"/>
                <a:ea typeface="Canva Sans"/>
                <a:cs typeface="Canva Sans"/>
                <a:sym typeface="Canva Sans"/>
              </a:rPr>
              <a:t>Churn Due to</a:t>
            </a:r>
            <a:r>
              <a:rPr lang="en-US" b="true" sz="2804">
                <a:solidFill>
                  <a:srgbClr val="FFFFFF"/>
                </a:solidFill>
                <a:latin typeface="Canva Sans Bold"/>
                <a:ea typeface="Canva Sans Bold"/>
                <a:cs typeface="Canva Sans Bold"/>
                <a:sym typeface="Canva Sans Bold"/>
              </a:rPr>
              <a:t> Competitors </a:t>
            </a:r>
            <a:r>
              <a:rPr lang="en-US" sz="2804">
                <a:solidFill>
                  <a:srgbClr val="FFFFFF"/>
                </a:solidFill>
                <a:latin typeface="Canva Sans"/>
                <a:ea typeface="Canva Sans"/>
                <a:cs typeface="Canva Sans"/>
                <a:sym typeface="Canva Sans"/>
              </a:rPr>
              <a:t>and </a:t>
            </a:r>
            <a:r>
              <a:rPr lang="en-US" b="true" sz="2804">
                <a:solidFill>
                  <a:srgbClr val="FFFFFF"/>
                </a:solidFill>
                <a:latin typeface="Canva Sans Bold"/>
                <a:ea typeface="Canva Sans Bold"/>
                <a:cs typeface="Canva Sans Bold"/>
                <a:sym typeface="Canva Sans Bold"/>
              </a:rPr>
              <a:t>Poor Support, </a:t>
            </a:r>
            <a:r>
              <a:rPr lang="en-US" sz="2804">
                <a:solidFill>
                  <a:srgbClr val="FFFFFF"/>
                </a:solidFill>
                <a:latin typeface="Canva Sans"/>
                <a:ea typeface="Canva Sans"/>
                <a:cs typeface="Canva Sans"/>
                <a:sym typeface="Canva Sans"/>
              </a:rPr>
              <a:t>While</a:t>
            </a:r>
            <a:r>
              <a:rPr lang="en-US" b="true" sz="2804">
                <a:solidFill>
                  <a:srgbClr val="FFFFFF"/>
                </a:solidFill>
                <a:latin typeface="Canva Sans Bold"/>
                <a:ea typeface="Canva Sans Bold"/>
                <a:cs typeface="Canva Sans Bold"/>
                <a:sym typeface="Canva Sans Bold"/>
              </a:rPr>
              <a:t> Long-Term </a:t>
            </a:r>
            <a:r>
              <a:rPr lang="en-US" sz="2804">
                <a:solidFill>
                  <a:srgbClr val="FFFFFF"/>
                </a:solidFill>
                <a:latin typeface="Canva Sans"/>
                <a:ea typeface="Canva Sans"/>
                <a:cs typeface="Canva Sans"/>
                <a:sym typeface="Canva Sans"/>
              </a:rPr>
              <a:t>Users</a:t>
            </a:r>
            <a:r>
              <a:rPr lang="en-US" b="true" sz="2804">
                <a:solidFill>
                  <a:srgbClr val="FFFFFF"/>
                </a:solidFill>
                <a:latin typeface="Canva Sans Bold"/>
                <a:ea typeface="Canva Sans Bold"/>
                <a:cs typeface="Canva Sans Bold"/>
                <a:sym typeface="Canva Sans Bold"/>
              </a:rPr>
              <a:t> Churn Less</a:t>
            </a:r>
          </a:p>
        </p:txBody>
      </p:sp>
      <p:sp>
        <p:nvSpPr>
          <p:cNvPr name="TextBox 5" id="5"/>
          <p:cNvSpPr txBox="true"/>
          <p:nvPr/>
        </p:nvSpPr>
        <p:spPr>
          <a:xfrm rot="0">
            <a:off x="1371000" y="3793770"/>
            <a:ext cx="10225178" cy="5065395"/>
          </a:xfrm>
          <a:prstGeom prst="rect">
            <a:avLst/>
          </a:prstGeom>
        </p:spPr>
        <p:txBody>
          <a:bodyPr anchor="t" rtlCol="false" tIns="0" lIns="0" bIns="0" rIns="0">
            <a:spAutoFit/>
          </a:bodyPr>
          <a:lstStyle/>
          <a:p>
            <a:pPr algn="l" marL="518160" indent="-259080" lvl="1">
              <a:lnSpc>
                <a:spcPts val="3120"/>
              </a:lnSpc>
              <a:buFont typeface="Arial"/>
              <a:buChar char="•"/>
            </a:pPr>
            <a:r>
              <a:rPr lang="en-US" b="true" sz="2400">
                <a:solidFill>
                  <a:srgbClr val="FFFAF4"/>
                </a:solidFill>
                <a:latin typeface="Open Sans Bold"/>
                <a:ea typeface="Open Sans Bold"/>
                <a:cs typeface="Open Sans Bold"/>
                <a:sym typeface="Open Sans Bold"/>
              </a:rPr>
              <a:t>Customers with Average Tenure</a:t>
            </a:r>
            <a:r>
              <a:rPr lang="en-US" sz="2400">
                <a:solidFill>
                  <a:srgbClr val="FFFAF4"/>
                </a:solidFill>
                <a:latin typeface="Open Sans"/>
                <a:ea typeface="Open Sans"/>
                <a:cs typeface="Open Sans"/>
                <a:sym typeface="Open Sans"/>
              </a:rPr>
              <a:t> (in months) nearly </a:t>
            </a:r>
            <a:r>
              <a:rPr lang="en-US" b="true" sz="2400">
                <a:solidFill>
                  <a:srgbClr val="FFFAF4"/>
                </a:solidFill>
                <a:latin typeface="Open Sans Bold"/>
                <a:ea typeface="Open Sans Bold"/>
                <a:cs typeface="Open Sans Bold"/>
                <a:sym typeface="Open Sans Bold"/>
              </a:rPr>
              <a:t>20 months </a:t>
            </a:r>
            <a:r>
              <a:rPr lang="en-US" sz="2400">
                <a:solidFill>
                  <a:srgbClr val="FFFAF4"/>
                </a:solidFill>
                <a:latin typeface="Open Sans"/>
                <a:ea typeface="Open Sans"/>
                <a:cs typeface="Open Sans"/>
                <a:sym typeface="Open Sans"/>
              </a:rPr>
              <a:t>(or roughly two years) which means these are customers which started using company services only recently, </a:t>
            </a:r>
            <a:r>
              <a:rPr lang="en-US" b="true" sz="2400">
                <a:solidFill>
                  <a:srgbClr val="FFFAF4"/>
                </a:solidFill>
                <a:latin typeface="Open Sans Bold"/>
                <a:ea typeface="Open Sans Bold"/>
                <a:cs typeface="Open Sans Bold"/>
                <a:sym typeface="Open Sans Bold"/>
              </a:rPr>
              <a:t>have churned</a:t>
            </a:r>
            <a:r>
              <a:rPr lang="en-US" sz="2400">
                <a:solidFill>
                  <a:srgbClr val="FFFAF4"/>
                </a:solidFill>
                <a:latin typeface="Open Sans"/>
                <a:ea typeface="Open Sans"/>
                <a:cs typeface="Open Sans"/>
                <a:sym typeface="Open Sans"/>
              </a:rPr>
              <a:t>. And these are </a:t>
            </a:r>
            <a:r>
              <a:rPr lang="en-US" b="true" sz="2400">
                <a:solidFill>
                  <a:srgbClr val="FFFAF4"/>
                </a:solidFill>
                <a:latin typeface="Open Sans Bold"/>
                <a:ea typeface="Open Sans Bold"/>
                <a:cs typeface="Open Sans Bold"/>
                <a:sym typeface="Open Sans Bold"/>
              </a:rPr>
              <a:t>all month-to-month contract users</a:t>
            </a:r>
            <a:r>
              <a:rPr lang="en-US" sz="2400">
                <a:solidFill>
                  <a:srgbClr val="FFFAF4"/>
                </a:solidFill>
                <a:latin typeface="Open Sans"/>
                <a:ea typeface="Open Sans"/>
                <a:cs typeface="Open Sans"/>
                <a:sym typeface="Open Sans"/>
              </a:rPr>
              <a:t>.</a:t>
            </a:r>
          </a:p>
          <a:p>
            <a:pPr algn="l">
              <a:lnSpc>
                <a:spcPts val="3120"/>
              </a:lnSpc>
            </a:pPr>
          </a:p>
          <a:p>
            <a:pPr algn="l" marL="518160" indent="-259080" lvl="1">
              <a:lnSpc>
                <a:spcPts val="3120"/>
              </a:lnSpc>
              <a:buFont typeface="Arial"/>
              <a:buChar char="•"/>
            </a:pPr>
            <a:r>
              <a:rPr lang="en-US" sz="2400">
                <a:solidFill>
                  <a:srgbClr val="FFFAF4"/>
                </a:solidFill>
                <a:latin typeface="Open Sans"/>
                <a:ea typeface="Open Sans"/>
                <a:cs typeface="Open Sans"/>
                <a:sym typeface="Open Sans"/>
              </a:rPr>
              <a:t>Their major reason is </a:t>
            </a:r>
            <a:r>
              <a:rPr lang="en-US" b="true" sz="2400">
                <a:solidFill>
                  <a:srgbClr val="FFFAF4"/>
                </a:solidFill>
                <a:latin typeface="Open Sans Bold"/>
                <a:ea typeface="Open Sans Bold"/>
                <a:cs typeface="Open Sans Bold"/>
                <a:sym typeface="Open Sans Bold"/>
              </a:rPr>
              <a:t>competitor offering better devices</a:t>
            </a:r>
            <a:r>
              <a:rPr lang="en-US" b="true" sz="2400">
                <a:solidFill>
                  <a:srgbClr val="FFFAF4"/>
                </a:solidFill>
                <a:latin typeface="Open Sans Medium"/>
                <a:ea typeface="Open Sans Medium"/>
                <a:cs typeface="Open Sans Medium"/>
                <a:sym typeface="Open Sans Medium"/>
              </a:rPr>
              <a:t> and </a:t>
            </a:r>
            <a:r>
              <a:rPr lang="en-US" sz="2400">
                <a:solidFill>
                  <a:srgbClr val="FFFAF4"/>
                </a:solidFill>
                <a:latin typeface="Open Sans"/>
                <a:ea typeface="Open Sans"/>
                <a:cs typeface="Open Sans"/>
                <a:sym typeface="Open Sans"/>
              </a:rPr>
              <a:t>better offers (external reasons) and </a:t>
            </a:r>
            <a:r>
              <a:rPr lang="en-US" b="true" sz="2400">
                <a:solidFill>
                  <a:srgbClr val="FFFAF4"/>
                </a:solidFill>
                <a:latin typeface="Open Sans Bold"/>
                <a:ea typeface="Open Sans Bold"/>
                <a:cs typeface="Open Sans Bold"/>
                <a:sym typeface="Open Sans Bold"/>
              </a:rPr>
              <a:t>attitude of support person</a:t>
            </a:r>
            <a:r>
              <a:rPr lang="en-US" b="true" sz="2400">
                <a:solidFill>
                  <a:srgbClr val="FFFAF4"/>
                </a:solidFill>
                <a:latin typeface="Open Sans Medium"/>
                <a:ea typeface="Open Sans Medium"/>
                <a:cs typeface="Open Sans Medium"/>
                <a:sym typeface="Open Sans Medium"/>
              </a:rPr>
              <a:t> </a:t>
            </a:r>
            <a:r>
              <a:rPr lang="en-US" sz="2400">
                <a:solidFill>
                  <a:srgbClr val="FFFAF4"/>
                </a:solidFill>
                <a:latin typeface="Open Sans"/>
                <a:ea typeface="Open Sans"/>
                <a:cs typeface="Open Sans"/>
                <a:sym typeface="Open Sans"/>
              </a:rPr>
              <a:t>(internal reason) as a major </a:t>
            </a:r>
            <a:r>
              <a:rPr lang="en-US" b="true" sz="2400">
                <a:solidFill>
                  <a:srgbClr val="FFFAF4"/>
                </a:solidFill>
                <a:latin typeface="Open Sans Bold"/>
                <a:ea typeface="Open Sans Bold"/>
                <a:cs typeface="Open Sans Bold"/>
                <a:sym typeface="Open Sans Bold"/>
              </a:rPr>
              <a:t>reason to churn</a:t>
            </a:r>
            <a:r>
              <a:rPr lang="en-US" sz="2400">
                <a:solidFill>
                  <a:srgbClr val="FFFAF4"/>
                </a:solidFill>
                <a:latin typeface="Open Sans"/>
                <a:ea typeface="Open Sans"/>
                <a:cs typeface="Open Sans"/>
                <a:sym typeface="Open Sans"/>
              </a:rPr>
              <a:t>.</a:t>
            </a:r>
          </a:p>
          <a:p>
            <a:pPr algn="l">
              <a:lnSpc>
                <a:spcPts val="3120"/>
              </a:lnSpc>
            </a:pPr>
          </a:p>
          <a:p>
            <a:pPr algn="l" marL="518160" indent="-259080" lvl="1">
              <a:lnSpc>
                <a:spcPts val="3120"/>
              </a:lnSpc>
              <a:buFont typeface="Arial"/>
              <a:buChar char="•"/>
            </a:pPr>
            <a:r>
              <a:rPr lang="en-US" sz="2400">
                <a:solidFill>
                  <a:srgbClr val="FFFAF4"/>
                </a:solidFill>
                <a:latin typeface="Open Sans"/>
                <a:ea typeface="Open Sans"/>
                <a:cs typeface="Open Sans"/>
                <a:sym typeface="Open Sans"/>
              </a:rPr>
              <a:t>There is a</a:t>
            </a:r>
            <a:r>
              <a:rPr lang="en-US" b="true" sz="2400">
                <a:solidFill>
                  <a:srgbClr val="FFFAF4"/>
                </a:solidFill>
                <a:latin typeface="Open Sans Bold"/>
                <a:ea typeface="Open Sans Bold"/>
                <a:cs typeface="Open Sans Bold"/>
                <a:sym typeface="Open Sans Bold"/>
              </a:rPr>
              <a:t> significantly lower churn rate </a:t>
            </a:r>
            <a:r>
              <a:rPr lang="en-US" sz="2400">
                <a:solidFill>
                  <a:srgbClr val="FFFAF4"/>
                </a:solidFill>
                <a:latin typeface="Open Sans"/>
                <a:ea typeface="Open Sans"/>
                <a:cs typeface="Open Sans"/>
                <a:sym typeface="Open Sans"/>
              </a:rPr>
              <a:t>in customers with </a:t>
            </a:r>
            <a:r>
              <a:rPr lang="en-US" b="true" sz="2400">
                <a:solidFill>
                  <a:srgbClr val="FFFAF4"/>
                </a:solidFill>
                <a:latin typeface="Open Sans Bold"/>
                <a:ea typeface="Open Sans Bold"/>
                <a:cs typeface="Open Sans Bold"/>
                <a:sym typeface="Open Sans Bold"/>
              </a:rPr>
              <a:t>average tenure over 20 months (churn rate nearly halves) and </a:t>
            </a:r>
            <a:r>
              <a:rPr lang="en-US" sz="2400">
                <a:solidFill>
                  <a:srgbClr val="FFFAF4"/>
                </a:solidFill>
                <a:latin typeface="Open Sans"/>
                <a:ea typeface="Open Sans"/>
                <a:cs typeface="Open Sans"/>
                <a:sym typeface="Open Sans"/>
              </a:rPr>
              <a:t>their </a:t>
            </a:r>
            <a:r>
              <a:rPr lang="en-US" b="true" sz="2400">
                <a:solidFill>
                  <a:srgbClr val="FFFAF4"/>
                </a:solidFill>
                <a:latin typeface="Open Sans Bold"/>
                <a:ea typeface="Open Sans Bold"/>
                <a:cs typeface="Open Sans Bold"/>
                <a:sym typeface="Open Sans Bold"/>
              </a:rPr>
              <a:t>churn reason </a:t>
            </a:r>
            <a:r>
              <a:rPr lang="en-US" sz="2400">
                <a:solidFill>
                  <a:srgbClr val="FFFAF4"/>
                </a:solidFill>
                <a:latin typeface="Open Sans"/>
                <a:ea typeface="Open Sans"/>
                <a:cs typeface="Open Sans"/>
                <a:sym typeface="Open Sans"/>
              </a:rPr>
              <a:t>is either</a:t>
            </a:r>
            <a:r>
              <a:rPr lang="en-US" b="true" sz="2400">
                <a:solidFill>
                  <a:srgbClr val="FFFAF4"/>
                </a:solidFill>
                <a:latin typeface="Open Sans Bold"/>
                <a:ea typeface="Open Sans Bold"/>
                <a:cs typeface="Open Sans Bold"/>
                <a:sym typeface="Open Sans Bold"/>
              </a:rPr>
              <a:t> Competitor or Product Dissatis- faction.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11681460" y="2354580"/>
            <a:ext cx="5577840" cy="5577840"/>
          </a:xfrm>
          <a:custGeom>
            <a:avLst/>
            <a:gdLst/>
            <a:ahLst/>
            <a:cxnLst/>
            <a:rect r="r" b="b" t="t" l="l"/>
            <a:pathLst>
              <a:path h="5577840" w="5577840">
                <a:moveTo>
                  <a:pt x="0" y="0"/>
                </a:moveTo>
                <a:lnTo>
                  <a:pt x="5577840" y="0"/>
                </a:lnTo>
                <a:lnTo>
                  <a:pt x="5577840" y="5577840"/>
                </a:lnTo>
                <a:lnTo>
                  <a:pt x="0" y="55778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740447"/>
            <a:ext cx="11118183" cy="1095375"/>
          </a:xfrm>
          <a:prstGeom prst="rect">
            <a:avLst/>
          </a:prstGeom>
        </p:spPr>
        <p:txBody>
          <a:bodyPr anchor="t" rtlCol="false" tIns="0" lIns="0" bIns="0" rIns="0">
            <a:spAutoFit/>
          </a:bodyPr>
          <a:lstStyle/>
          <a:p>
            <a:pPr algn="l">
              <a:lnSpc>
                <a:spcPts val="8640"/>
              </a:lnSpc>
            </a:pPr>
            <a:r>
              <a:rPr lang="en-US" sz="7200">
                <a:solidFill>
                  <a:srgbClr val="1C402E"/>
                </a:solidFill>
                <a:latin typeface="Montserrat"/>
                <a:ea typeface="Montserrat"/>
                <a:cs typeface="Montserrat"/>
                <a:sym typeface="Montserrat"/>
              </a:rPr>
              <a:t>Service Analysis</a:t>
            </a:r>
          </a:p>
        </p:txBody>
      </p:sp>
      <p:sp>
        <p:nvSpPr>
          <p:cNvPr name="TextBox 4" id="4"/>
          <p:cNvSpPr txBox="true"/>
          <p:nvPr/>
        </p:nvSpPr>
        <p:spPr>
          <a:xfrm rot="0">
            <a:off x="1028700" y="2296610"/>
            <a:ext cx="8401260" cy="2261235"/>
          </a:xfrm>
          <a:prstGeom prst="rect">
            <a:avLst/>
          </a:prstGeom>
        </p:spPr>
        <p:txBody>
          <a:bodyPr anchor="t" rtlCol="false" tIns="0" lIns="0" bIns="0" rIns="0">
            <a:spAutoFit/>
          </a:bodyPr>
          <a:lstStyle/>
          <a:p>
            <a:pPr algn="l">
              <a:lnSpc>
                <a:spcPts val="3600"/>
              </a:lnSpc>
            </a:pPr>
            <a:r>
              <a:rPr lang="en-US" sz="2400">
                <a:solidFill>
                  <a:srgbClr val="1C402E"/>
                </a:solidFill>
                <a:latin typeface="Open Sans"/>
                <a:ea typeface="Open Sans"/>
                <a:cs typeface="Open Sans"/>
                <a:sym typeface="Open Sans"/>
              </a:rPr>
              <a:t>In this step, we are going to </a:t>
            </a:r>
            <a:r>
              <a:rPr lang="en-US" sz="2400" b="true">
                <a:solidFill>
                  <a:srgbClr val="1C402E"/>
                </a:solidFill>
                <a:latin typeface="Open Sans Bold"/>
                <a:ea typeface="Open Sans Bold"/>
                <a:cs typeface="Open Sans Bold"/>
                <a:sym typeface="Open Sans Bold"/>
              </a:rPr>
              <a:t>look deeper into services offered by TeleWave Communications </a:t>
            </a:r>
            <a:r>
              <a:rPr lang="en-US" sz="2400">
                <a:solidFill>
                  <a:srgbClr val="1C402E"/>
                </a:solidFill>
                <a:latin typeface="Open Sans"/>
                <a:ea typeface="Open Sans"/>
                <a:cs typeface="Open Sans"/>
                <a:sym typeface="Open Sans"/>
              </a:rPr>
              <a:t>and </a:t>
            </a:r>
            <a:r>
              <a:rPr lang="en-US" sz="2400" b="true">
                <a:solidFill>
                  <a:srgbClr val="1C402E"/>
                </a:solidFill>
                <a:latin typeface="Open Sans Bold"/>
                <a:ea typeface="Open Sans Bold"/>
                <a:cs typeface="Open Sans Bold"/>
                <a:sym typeface="Open Sans Bold"/>
              </a:rPr>
              <a:t>its effect on overall churn</a:t>
            </a:r>
            <a:r>
              <a:rPr lang="en-US" sz="2400">
                <a:solidFill>
                  <a:srgbClr val="1C402E"/>
                </a:solidFill>
                <a:latin typeface="Open Sans"/>
                <a:ea typeface="Open Sans"/>
                <a:cs typeface="Open Sans"/>
                <a:sym typeface="Open Sans"/>
              </a:rPr>
              <a:t>. This would help us in </a:t>
            </a:r>
            <a:r>
              <a:rPr lang="en-US" sz="2400" b="true">
                <a:solidFill>
                  <a:srgbClr val="1C402E"/>
                </a:solidFill>
                <a:latin typeface="Open Sans Bold"/>
                <a:ea typeface="Open Sans Bold"/>
                <a:cs typeface="Open Sans Bold"/>
                <a:sym typeface="Open Sans Bold"/>
              </a:rPr>
              <a:t>identifying faulty services </a:t>
            </a:r>
            <a:r>
              <a:rPr lang="en-US" sz="2400">
                <a:solidFill>
                  <a:srgbClr val="1C402E"/>
                </a:solidFill>
                <a:latin typeface="Open Sans"/>
                <a:ea typeface="Open Sans"/>
                <a:cs typeface="Open Sans"/>
                <a:sym typeface="Open Sans"/>
              </a:rPr>
              <a:t>and </a:t>
            </a:r>
            <a:r>
              <a:rPr lang="en-US" sz="2400" b="true">
                <a:solidFill>
                  <a:srgbClr val="1C402E"/>
                </a:solidFill>
                <a:latin typeface="Open Sans Bold"/>
                <a:ea typeface="Open Sans Bold"/>
                <a:cs typeface="Open Sans Bold"/>
                <a:sym typeface="Open Sans Bold"/>
              </a:rPr>
              <a:t>issues from company’s end </a:t>
            </a:r>
            <a:r>
              <a:rPr lang="en-US" sz="2400">
                <a:solidFill>
                  <a:srgbClr val="1C402E"/>
                </a:solidFill>
                <a:latin typeface="Open Sans"/>
                <a:ea typeface="Open Sans"/>
                <a:cs typeface="Open Sans"/>
                <a:sym typeface="Open Sans"/>
              </a:rPr>
              <a:t>which are leading to customer churn.</a:t>
            </a:r>
          </a:p>
        </p:txBody>
      </p:sp>
    </p:spTree>
  </p:cSld>
  <p:clrMapOvr>
    <a:masterClrMapping/>
  </p:clrMapOvr>
  <p:transition spd="slow">
    <p:push dir="l"/>
  </p:transition>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1028700" y="819150"/>
            <a:ext cx="10360479" cy="1371600"/>
          </a:xfrm>
          <a:prstGeom prst="rect">
            <a:avLst/>
          </a:prstGeom>
        </p:spPr>
        <p:txBody>
          <a:bodyPr anchor="t" rtlCol="false" tIns="0" lIns="0" bIns="0" rIns="0">
            <a:spAutoFit/>
          </a:bodyPr>
          <a:lstStyle/>
          <a:p>
            <a:pPr algn="l">
              <a:lnSpc>
                <a:spcPts val="10800"/>
              </a:lnSpc>
            </a:pPr>
            <a:r>
              <a:rPr lang="en-US" sz="9000">
                <a:solidFill>
                  <a:srgbClr val="FFFAF4"/>
                </a:solidFill>
                <a:latin typeface="Montserrat"/>
                <a:ea typeface="Montserrat"/>
                <a:cs typeface="Montserrat"/>
                <a:sym typeface="Montserrat"/>
              </a:rPr>
              <a:t>Unlimited Data</a:t>
            </a:r>
          </a:p>
        </p:txBody>
      </p:sp>
      <p:sp>
        <p:nvSpPr>
          <p:cNvPr name="TextBox 3" id="3"/>
          <p:cNvSpPr txBox="true"/>
          <p:nvPr/>
        </p:nvSpPr>
        <p:spPr>
          <a:xfrm rot="0">
            <a:off x="1028700" y="6712328"/>
            <a:ext cx="7811062" cy="1160145"/>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FFFAF4"/>
                </a:solidFill>
                <a:latin typeface="Open Sans"/>
                <a:ea typeface="Open Sans"/>
                <a:cs typeface="Open Sans"/>
                <a:sym typeface="Open Sans"/>
              </a:rPr>
              <a:t>Customers with </a:t>
            </a:r>
            <a:r>
              <a:rPr lang="en-US" b="true" sz="2400">
                <a:solidFill>
                  <a:srgbClr val="FFFAF4"/>
                </a:solidFill>
                <a:latin typeface="Open Sans Bold"/>
                <a:ea typeface="Open Sans Bold"/>
                <a:cs typeface="Open Sans Bold"/>
                <a:sym typeface="Open Sans Bold"/>
              </a:rPr>
              <a:t>Unlimited Data </a:t>
            </a:r>
            <a:r>
              <a:rPr lang="en-US" sz="2400">
                <a:solidFill>
                  <a:srgbClr val="FFFAF4"/>
                </a:solidFill>
                <a:latin typeface="Open Sans"/>
                <a:ea typeface="Open Sans"/>
                <a:cs typeface="Open Sans"/>
                <a:sym typeface="Open Sans"/>
              </a:rPr>
              <a:t>have a churn rate </a:t>
            </a:r>
            <a:r>
              <a:rPr lang="en-US" b="true" sz="2400">
                <a:solidFill>
                  <a:srgbClr val="FFFAF4"/>
                </a:solidFill>
                <a:latin typeface="Open Sans Bold"/>
                <a:ea typeface="Open Sans Bold"/>
                <a:cs typeface="Open Sans Bold"/>
                <a:sym typeface="Open Sans Bold"/>
              </a:rPr>
              <a:t>32% </a:t>
            </a:r>
            <a:r>
              <a:rPr lang="en-US" sz="2400">
                <a:solidFill>
                  <a:srgbClr val="FFFAF4"/>
                </a:solidFill>
                <a:latin typeface="Open Sans"/>
                <a:ea typeface="Open Sans"/>
                <a:cs typeface="Open Sans"/>
                <a:sym typeface="Open Sans"/>
              </a:rPr>
              <a:t>compared to ones with </a:t>
            </a:r>
            <a:r>
              <a:rPr lang="en-US" b="true" sz="2400">
                <a:solidFill>
                  <a:srgbClr val="FFFAF4"/>
                </a:solidFill>
                <a:latin typeface="Open Sans Bold"/>
                <a:ea typeface="Open Sans Bold"/>
                <a:cs typeface="Open Sans Bold"/>
                <a:sym typeface="Open Sans Bold"/>
              </a:rPr>
              <a:t>no unlimited data 16%</a:t>
            </a:r>
          </a:p>
        </p:txBody>
      </p:sp>
      <p:sp>
        <p:nvSpPr>
          <p:cNvPr name="TextBox 4" id="4"/>
          <p:cNvSpPr txBox="true"/>
          <p:nvPr/>
        </p:nvSpPr>
        <p:spPr>
          <a:xfrm rot="0">
            <a:off x="1028700" y="4647943"/>
            <a:ext cx="7811062" cy="1559560"/>
          </a:xfrm>
          <a:prstGeom prst="rect">
            <a:avLst/>
          </a:prstGeom>
        </p:spPr>
        <p:txBody>
          <a:bodyPr anchor="t" rtlCol="false" tIns="0" lIns="0" bIns="0" rIns="0">
            <a:spAutoFit/>
          </a:bodyPr>
          <a:lstStyle/>
          <a:p>
            <a:pPr algn="l">
              <a:lnSpc>
                <a:spcPts val="4160"/>
              </a:lnSpc>
            </a:pPr>
            <a:r>
              <a:rPr lang="en-US" sz="3200">
                <a:solidFill>
                  <a:srgbClr val="FFFAF4"/>
                </a:solidFill>
                <a:latin typeface="Open Sans"/>
                <a:ea typeface="Open Sans"/>
                <a:cs typeface="Open Sans"/>
                <a:sym typeface="Open Sans"/>
              </a:rPr>
              <a:t>Customers with</a:t>
            </a:r>
            <a:r>
              <a:rPr lang="en-US" sz="3200" b="true">
                <a:solidFill>
                  <a:srgbClr val="FFFAF4"/>
                </a:solidFill>
                <a:latin typeface="Open Sans Bold"/>
                <a:ea typeface="Open Sans Bold"/>
                <a:cs typeface="Open Sans Bold"/>
                <a:sym typeface="Open Sans Bold"/>
              </a:rPr>
              <a:t> unlimited data </a:t>
            </a:r>
            <a:r>
              <a:rPr lang="en-US" sz="3200">
                <a:solidFill>
                  <a:srgbClr val="FFFAF4"/>
                </a:solidFill>
                <a:latin typeface="Open Sans"/>
                <a:ea typeface="Open Sans"/>
                <a:cs typeface="Open Sans"/>
                <a:sym typeface="Open Sans"/>
              </a:rPr>
              <a:t>are </a:t>
            </a:r>
            <a:r>
              <a:rPr lang="en-US" sz="3200" b="true">
                <a:solidFill>
                  <a:srgbClr val="FFFAF4"/>
                </a:solidFill>
                <a:latin typeface="Open Sans Bold"/>
                <a:ea typeface="Open Sans Bold"/>
                <a:cs typeface="Open Sans Bold"/>
                <a:sym typeface="Open Sans Bold"/>
              </a:rPr>
              <a:t>twice</a:t>
            </a:r>
            <a:r>
              <a:rPr lang="en-US" sz="3200">
                <a:solidFill>
                  <a:srgbClr val="FFFAF4"/>
                </a:solidFill>
                <a:latin typeface="Open Sans"/>
                <a:ea typeface="Open Sans"/>
                <a:cs typeface="Open Sans"/>
                <a:sym typeface="Open Sans"/>
              </a:rPr>
              <a:t> as</a:t>
            </a:r>
            <a:r>
              <a:rPr lang="en-US" sz="3200" b="true">
                <a:solidFill>
                  <a:srgbClr val="FFFAF4"/>
                </a:solidFill>
                <a:latin typeface="Open Sans Bold"/>
                <a:ea typeface="Open Sans Bold"/>
                <a:cs typeface="Open Sans Bold"/>
                <a:sym typeface="Open Sans Bold"/>
              </a:rPr>
              <a:t> likely to churn </a:t>
            </a:r>
            <a:r>
              <a:rPr lang="en-US" sz="3200">
                <a:solidFill>
                  <a:srgbClr val="FFFAF4"/>
                </a:solidFill>
                <a:latin typeface="Open Sans"/>
                <a:ea typeface="Open Sans"/>
                <a:cs typeface="Open Sans"/>
                <a:sym typeface="Open Sans"/>
              </a:rPr>
              <a:t>compared to ones with</a:t>
            </a:r>
            <a:r>
              <a:rPr lang="en-US" sz="3200" b="true">
                <a:solidFill>
                  <a:srgbClr val="FFFAF4"/>
                </a:solidFill>
                <a:latin typeface="Open Sans Bold"/>
                <a:ea typeface="Open Sans Bold"/>
                <a:cs typeface="Open Sans Bold"/>
                <a:sym typeface="Open Sans Bold"/>
              </a:rPr>
              <a:t> no unlimited data </a:t>
            </a:r>
          </a:p>
        </p:txBody>
      </p:sp>
      <p:pic>
        <p:nvPicPr>
          <p:cNvPr name="Picture 5" id="5"/>
          <p:cNvPicPr>
            <a:picLocks noChangeAspect="true"/>
          </p:cNvPicPr>
          <p:nvPr/>
        </p:nvPicPr>
        <p:blipFill>
          <a:blip r:embed="rId2"/>
          <a:stretch>
            <a:fillRect/>
          </a:stretch>
        </p:blipFill>
        <p:spPr>
          <a:xfrm rot="0">
            <a:off x="10034770" y="2090134"/>
            <a:ext cx="7881306" cy="7769162"/>
          </a:xfrm>
          <a:prstGeom prst="rect">
            <a:avLst/>
          </a:prstGeom>
        </p:spPr>
      </p:pic>
      <p:sp>
        <p:nvSpPr>
          <p:cNvPr name="TextBox 6" id="6"/>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3" action="ppaction://hlinksldjump"/>
              </a:rPr>
              <a:t>Back to Agenda</a:t>
            </a:r>
          </a:p>
        </p:txBody>
      </p:sp>
      <p:sp>
        <p:nvSpPr>
          <p:cNvPr name="TextBox 7" id="7"/>
          <p:cNvSpPr txBox="true"/>
          <p:nvPr/>
        </p:nvSpPr>
        <p:spPr>
          <a:xfrm rot="0">
            <a:off x="12951386" y="9536211"/>
            <a:ext cx="3245495" cy="297178"/>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FFFFFF"/>
                </a:solidFill>
                <a:latin typeface="Canva Sans Bold"/>
                <a:ea typeface="Canva Sans Bold"/>
                <a:cs typeface="Canva Sans Bold"/>
                <a:sym typeface="Canva Sans Bold"/>
              </a:rPr>
              <a:t>Unlimited Data vs Churn rate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Freeform 2" id="2"/>
          <p:cNvSpPr/>
          <p:nvPr/>
        </p:nvSpPr>
        <p:spPr>
          <a:xfrm flipH="false" flipV="false" rot="0">
            <a:off x="416163" y="1585968"/>
            <a:ext cx="11876573" cy="7944555"/>
          </a:xfrm>
          <a:custGeom>
            <a:avLst/>
            <a:gdLst/>
            <a:ahLst/>
            <a:cxnLst/>
            <a:rect r="r" b="b" t="t" l="l"/>
            <a:pathLst>
              <a:path h="7944555" w="11876573">
                <a:moveTo>
                  <a:pt x="0" y="0"/>
                </a:moveTo>
                <a:lnTo>
                  <a:pt x="11876574" y="0"/>
                </a:lnTo>
                <a:lnTo>
                  <a:pt x="11876574" y="7944556"/>
                </a:lnTo>
                <a:lnTo>
                  <a:pt x="0" y="7944556"/>
                </a:lnTo>
                <a:lnTo>
                  <a:pt x="0" y="0"/>
                </a:lnTo>
                <a:close/>
              </a:path>
            </a:pathLst>
          </a:custGeom>
          <a:blipFill>
            <a:blip r:embed="rId2"/>
            <a:stretch>
              <a:fillRect l="0" t="0" r="0" b="0"/>
            </a:stretch>
          </a:blipFill>
        </p:spPr>
      </p:sp>
      <p:sp>
        <p:nvSpPr>
          <p:cNvPr name="TextBox 3" id="3"/>
          <p:cNvSpPr txBox="true"/>
          <p:nvPr/>
        </p:nvSpPr>
        <p:spPr>
          <a:xfrm rot="0">
            <a:off x="416163" y="402800"/>
            <a:ext cx="12864674" cy="971550"/>
          </a:xfrm>
          <a:prstGeom prst="rect">
            <a:avLst/>
          </a:prstGeom>
        </p:spPr>
        <p:txBody>
          <a:bodyPr anchor="t" rtlCol="false" tIns="0" lIns="0" bIns="0" rIns="0">
            <a:spAutoFit/>
          </a:bodyPr>
          <a:lstStyle/>
          <a:p>
            <a:pPr algn="l">
              <a:lnSpc>
                <a:spcPts val="7680"/>
              </a:lnSpc>
            </a:pPr>
            <a:r>
              <a:rPr lang="en-US" sz="6400">
                <a:solidFill>
                  <a:srgbClr val="FFFAF4"/>
                </a:solidFill>
                <a:latin typeface="Montserrat"/>
                <a:ea typeface="Montserrat"/>
                <a:cs typeface="Montserrat"/>
                <a:sym typeface="Montserrat"/>
              </a:rPr>
              <a:t>Streaming Services vs Churn</a:t>
            </a:r>
          </a:p>
        </p:txBody>
      </p:sp>
      <p:sp>
        <p:nvSpPr>
          <p:cNvPr name="TextBox 4" id="4"/>
          <p:cNvSpPr txBox="true"/>
          <p:nvPr/>
        </p:nvSpPr>
        <p:spPr>
          <a:xfrm rot="0">
            <a:off x="4475068" y="9747612"/>
            <a:ext cx="4106168" cy="297178"/>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FFFFFF"/>
                </a:solidFill>
                <a:latin typeface="Canva Sans Bold"/>
                <a:ea typeface="Canva Sans Bold"/>
                <a:cs typeface="Canva Sans Bold"/>
                <a:sym typeface="Canva Sans Bold"/>
              </a:rPr>
              <a:t>Streaming Services with Churn Rates</a:t>
            </a:r>
          </a:p>
        </p:txBody>
      </p:sp>
      <p:sp>
        <p:nvSpPr>
          <p:cNvPr name="TextBox 5" id="5"/>
          <p:cNvSpPr txBox="true"/>
          <p:nvPr/>
        </p:nvSpPr>
        <p:spPr>
          <a:xfrm rot="0">
            <a:off x="12712911" y="4796156"/>
            <a:ext cx="4932759" cy="656588"/>
          </a:xfrm>
          <a:prstGeom prst="rect">
            <a:avLst/>
          </a:prstGeom>
        </p:spPr>
        <p:txBody>
          <a:bodyPr anchor="t" rtlCol="false" tIns="0" lIns="0" bIns="0" rIns="0">
            <a:spAutoFit/>
          </a:bodyPr>
          <a:lstStyle/>
          <a:p>
            <a:pPr algn="ctr">
              <a:lnSpc>
                <a:spcPts val="2660"/>
              </a:lnSpc>
            </a:pPr>
            <a:r>
              <a:rPr lang="en-US" sz="1900" b="true">
                <a:solidFill>
                  <a:srgbClr val="FFFFFF"/>
                </a:solidFill>
                <a:latin typeface="Canva Sans Bold"/>
                <a:ea typeface="Canva Sans Bold"/>
                <a:cs typeface="Canva Sans Bold"/>
                <a:sym typeface="Canva Sans Bold"/>
              </a:rPr>
              <a:t>It can be clearly seen that there are many </a:t>
            </a:r>
          </a:p>
          <a:p>
            <a:pPr algn="ctr">
              <a:lnSpc>
                <a:spcPts val="2660"/>
              </a:lnSpc>
            </a:pPr>
            <a:r>
              <a:rPr lang="en-US" sz="1900" b="true">
                <a:solidFill>
                  <a:srgbClr val="FFFFFF"/>
                </a:solidFill>
                <a:latin typeface="Canva Sans Bold"/>
                <a:ea typeface="Canva Sans Bold"/>
                <a:cs typeface="Canva Sans Bold"/>
                <a:sym typeface="Canva Sans Bold"/>
              </a:rPr>
              <a:t>red markers indicating high churn rates</a:t>
            </a:r>
          </a:p>
        </p:txBody>
      </p:sp>
    </p:spTree>
  </p:cSld>
  <p:clrMapOvr>
    <a:masterClrMapping/>
  </p:clrMapOvr>
  <p:transition spd="slow">
    <p:push dir="l"/>
  </p:transition>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Freeform 2" id="2"/>
          <p:cNvSpPr/>
          <p:nvPr/>
        </p:nvSpPr>
        <p:spPr>
          <a:xfrm flipH="false" flipV="false" rot="0">
            <a:off x="12775176" y="2414116"/>
            <a:ext cx="4484124" cy="4484124"/>
          </a:xfrm>
          <a:custGeom>
            <a:avLst/>
            <a:gdLst/>
            <a:ahLst/>
            <a:cxnLst/>
            <a:rect r="r" b="b" t="t" l="l"/>
            <a:pathLst>
              <a:path h="4484124" w="4484124">
                <a:moveTo>
                  <a:pt x="0" y="0"/>
                </a:moveTo>
                <a:lnTo>
                  <a:pt x="4484124" y="0"/>
                </a:lnTo>
                <a:lnTo>
                  <a:pt x="4484124" y="4484124"/>
                </a:lnTo>
                <a:lnTo>
                  <a:pt x="0" y="44841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71000" y="461962"/>
            <a:ext cx="6520088" cy="1133475"/>
          </a:xfrm>
          <a:prstGeom prst="rect">
            <a:avLst/>
          </a:prstGeom>
        </p:spPr>
        <p:txBody>
          <a:bodyPr anchor="t" rtlCol="false" tIns="0" lIns="0" bIns="0" rIns="0">
            <a:spAutoFit/>
          </a:bodyPr>
          <a:lstStyle/>
          <a:p>
            <a:pPr algn="l">
              <a:lnSpc>
                <a:spcPts val="8999"/>
              </a:lnSpc>
            </a:pPr>
            <a:r>
              <a:rPr lang="en-US" sz="7499">
                <a:solidFill>
                  <a:srgbClr val="FFFAF4"/>
                </a:solidFill>
                <a:latin typeface="Montserrat"/>
                <a:ea typeface="Montserrat"/>
                <a:cs typeface="Montserrat"/>
                <a:sym typeface="Montserrat"/>
              </a:rPr>
              <a:t>Insights?</a:t>
            </a:r>
          </a:p>
        </p:txBody>
      </p:sp>
      <p:sp>
        <p:nvSpPr>
          <p:cNvPr name="TextBox 4" id="4"/>
          <p:cNvSpPr txBox="true"/>
          <p:nvPr/>
        </p:nvSpPr>
        <p:spPr>
          <a:xfrm rot="0">
            <a:off x="1371000" y="2805761"/>
            <a:ext cx="14221380" cy="481207"/>
          </a:xfrm>
          <a:prstGeom prst="rect">
            <a:avLst/>
          </a:prstGeom>
        </p:spPr>
        <p:txBody>
          <a:bodyPr anchor="t" rtlCol="false" tIns="0" lIns="0" bIns="0" rIns="0">
            <a:spAutoFit/>
          </a:bodyPr>
          <a:lstStyle/>
          <a:p>
            <a:pPr algn="l" marL="0" indent="0" lvl="0">
              <a:lnSpc>
                <a:spcPts val="3926"/>
              </a:lnSpc>
              <a:spcBef>
                <a:spcPct val="0"/>
              </a:spcBef>
            </a:pPr>
            <a:r>
              <a:rPr lang="en-US" sz="2804">
                <a:solidFill>
                  <a:srgbClr val="FFFFFF"/>
                </a:solidFill>
                <a:latin typeface="Canva Sans"/>
                <a:ea typeface="Canva Sans"/>
                <a:cs typeface="Canva Sans"/>
                <a:sym typeface="Canva Sans"/>
              </a:rPr>
              <a:t>TeleWave has </a:t>
            </a:r>
            <a:r>
              <a:rPr lang="en-US" b="true" sz="2804">
                <a:solidFill>
                  <a:srgbClr val="FFFFFF"/>
                </a:solidFill>
                <a:latin typeface="Canva Sans Bold"/>
                <a:ea typeface="Canva Sans Bold"/>
                <a:cs typeface="Canva Sans Bold"/>
                <a:sym typeface="Canva Sans Bold"/>
              </a:rPr>
              <a:t>very poor music and movie streaming services</a:t>
            </a:r>
          </a:p>
        </p:txBody>
      </p:sp>
      <p:sp>
        <p:nvSpPr>
          <p:cNvPr name="TextBox 5" id="5"/>
          <p:cNvSpPr txBox="true"/>
          <p:nvPr/>
        </p:nvSpPr>
        <p:spPr>
          <a:xfrm rot="0">
            <a:off x="1371000" y="3793770"/>
            <a:ext cx="10225178" cy="2722245"/>
          </a:xfrm>
          <a:prstGeom prst="rect">
            <a:avLst/>
          </a:prstGeom>
        </p:spPr>
        <p:txBody>
          <a:bodyPr anchor="t" rtlCol="false" tIns="0" lIns="0" bIns="0" rIns="0">
            <a:spAutoFit/>
          </a:bodyPr>
          <a:lstStyle/>
          <a:p>
            <a:pPr algn="l" marL="518160" indent="-259080" lvl="1">
              <a:lnSpc>
                <a:spcPts val="3120"/>
              </a:lnSpc>
              <a:buFont typeface="Arial"/>
              <a:buChar char="•"/>
            </a:pPr>
            <a:r>
              <a:rPr lang="en-US" b="true" sz="2400">
                <a:solidFill>
                  <a:srgbClr val="FFFAF4"/>
                </a:solidFill>
                <a:latin typeface="Open Sans Bold"/>
                <a:ea typeface="Open Sans Bold"/>
                <a:cs typeface="Open Sans Bold"/>
                <a:sym typeface="Open Sans Bold"/>
              </a:rPr>
              <a:t>Regardless of </a:t>
            </a:r>
            <a:r>
              <a:rPr lang="en-US" sz="2400">
                <a:solidFill>
                  <a:srgbClr val="FFFAF4"/>
                </a:solidFill>
                <a:latin typeface="Open Sans"/>
                <a:ea typeface="Open Sans"/>
                <a:cs typeface="Open Sans"/>
                <a:sym typeface="Open Sans"/>
              </a:rPr>
              <a:t>customer having using a</a:t>
            </a:r>
            <a:r>
              <a:rPr lang="en-US" b="true" sz="2400">
                <a:solidFill>
                  <a:srgbClr val="FFFAF4"/>
                </a:solidFill>
                <a:latin typeface="Open Sans Bold"/>
                <a:ea typeface="Open Sans Bold"/>
                <a:cs typeface="Open Sans Bold"/>
                <a:sym typeface="Open Sans Bold"/>
              </a:rPr>
              <a:t> streaming TV (Str TV), </a:t>
            </a:r>
            <a:r>
              <a:rPr lang="en-US" sz="2400">
                <a:solidFill>
                  <a:srgbClr val="FFFAF4"/>
                </a:solidFill>
                <a:latin typeface="Open Sans"/>
                <a:ea typeface="Open Sans"/>
                <a:cs typeface="Open Sans"/>
                <a:sym typeface="Open Sans"/>
              </a:rPr>
              <a:t>if they use internet service for</a:t>
            </a:r>
            <a:r>
              <a:rPr lang="en-US" b="true" sz="2400">
                <a:solidFill>
                  <a:srgbClr val="FFFAF4"/>
                </a:solidFill>
                <a:latin typeface="Open Sans Bold"/>
                <a:ea typeface="Open Sans Bold"/>
                <a:cs typeface="Open Sans Bold"/>
                <a:sym typeface="Open Sans Bold"/>
              </a:rPr>
              <a:t> streaming music, </a:t>
            </a:r>
            <a:r>
              <a:rPr lang="en-US" sz="2400">
                <a:solidFill>
                  <a:srgbClr val="FFFAF4"/>
                </a:solidFill>
                <a:latin typeface="Open Sans"/>
                <a:ea typeface="Open Sans"/>
                <a:cs typeface="Open Sans"/>
                <a:sym typeface="Open Sans"/>
              </a:rPr>
              <a:t>their </a:t>
            </a:r>
            <a:r>
              <a:rPr lang="en-US" b="true" sz="2400">
                <a:solidFill>
                  <a:srgbClr val="FFFAF4"/>
                </a:solidFill>
                <a:latin typeface="Open Sans Bold"/>
                <a:ea typeface="Open Sans Bold"/>
                <a:cs typeface="Open Sans Bold"/>
                <a:sym typeface="Open Sans Bold"/>
              </a:rPr>
              <a:t>churn rate is very high (more than 60%). </a:t>
            </a:r>
            <a:r>
              <a:rPr lang="en-US" sz="2400">
                <a:solidFill>
                  <a:srgbClr val="FFFAF4"/>
                </a:solidFill>
                <a:latin typeface="Open Sans"/>
                <a:ea typeface="Open Sans"/>
                <a:cs typeface="Open Sans"/>
                <a:sym typeface="Open Sans"/>
              </a:rPr>
              <a:t>If they use the services for</a:t>
            </a:r>
            <a:r>
              <a:rPr lang="en-US" b="true" sz="2400">
                <a:solidFill>
                  <a:srgbClr val="FFFAF4"/>
                </a:solidFill>
                <a:latin typeface="Open Sans Bold"/>
                <a:ea typeface="Open Sans Bold"/>
                <a:cs typeface="Open Sans Bold"/>
                <a:sym typeface="Open Sans Bold"/>
              </a:rPr>
              <a:t> streaming movies, </a:t>
            </a:r>
            <a:r>
              <a:rPr lang="en-US" sz="2400">
                <a:solidFill>
                  <a:srgbClr val="FFFAF4"/>
                </a:solidFill>
                <a:latin typeface="Open Sans"/>
                <a:ea typeface="Open Sans"/>
                <a:cs typeface="Open Sans"/>
                <a:sym typeface="Open Sans"/>
              </a:rPr>
              <a:t>then too their </a:t>
            </a:r>
            <a:r>
              <a:rPr lang="en-US" b="true" sz="2400">
                <a:solidFill>
                  <a:srgbClr val="FFFAF4"/>
                </a:solidFill>
                <a:latin typeface="Open Sans Bold"/>
                <a:ea typeface="Open Sans Bold"/>
                <a:cs typeface="Open Sans Bold"/>
                <a:sym typeface="Open Sans Bold"/>
              </a:rPr>
              <a:t>churn rate is very high (more than 40%)</a:t>
            </a:r>
          </a:p>
          <a:p>
            <a:pPr algn="l">
              <a:lnSpc>
                <a:spcPts val="3120"/>
              </a:lnSpc>
            </a:pPr>
          </a:p>
          <a:p>
            <a:pPr algn="l" marL="518160" indent="-259080" lvl="1">
              <a:lnSpc>
                <a:spcPts val="3120"/>
              </a:lnSpc>
              <a:buFont typeface="Arial"/>
              <a:buChar char="•"/>
            </a:pPr>
            <a:r>
              <a:rPr lang="en-US" sz="2400">
                <a:solidFill>
                  <a:srgbClr val="FFFAF4"/>
                </a:solidFill>
                <a:latin typeface="Open Sans"/>
                <a:ea typeface="Open Sans"/>
                <a:cs typeface="Open Sans"/>
                <a:sym typeface="Open Sans"/>
              </a:rPr>
              <a:t>Similar is true for streaming only </a:t>
            </a:r>
            <a:r>
              <a:rPr lang="en-US" b="true" sz="2400">
                <a:solidFill>
                  <a:srgbClr val="FFFAF4"/>
                </a:solidFill>
                <a:latin typeface="Open Sans Bold"/>
                <a:ea typeface="Open Sans Bold"/>
                <a:cs typeface="Open Sans Bold"/>
                <a:sym typeface="Open Sans Bold"/>
              </a:rPr>
              <a:t>Music customers (churn rate is above 60%)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Freeform 2" id="2"/>
          <p:cNvSpPr/>
          <p:nvPr/>
        </p:nvSpPr>
        <p:spPr>
          <a:xfrm flipH="false" flipV="false" rot="0">
            <a:off x="416163" y="1873642"/>
            <a:ext cx="11945536" cy="7271623"/>
          </a:xfrm>
          <a:custGeom>
            <a:avLst/>
            <a:gdLst/>
            <a:ahLst/>
            <a:cxnLst/>
            <a:rect r="r" b="b" t="t" l="l"/>
            <a:pathLst>
              <a:path h="7271623" w="11945536">
                <a:moveTo>
                  <a:pt x="0" y="0"/>
                </a:moveTo>
                <a:lnTo>
                  <a:pt x="11945536" y="0"/>
                </a:lnTo>
                <a:lnTo>
                  <a:pt x="11945536" y="7271624"/>
                </a:lnTo>
                <a:lnTo>
                  <a:pt x="0" y="7271624"/>
                </a:lnTo>
                <a:lnTo>
                  <a:pt x="0" y="0"/>
                </a:lnTo>
                <a:close/>
              </a:path>
            </a:pathLst>
          </a:custGeom>
          <a:blipFill>
            <a:blip r:embed="rId2"/>
            <a:stretch>
              <a:fillRect l="-256" t="0" r="-256" b="0"/>
            </a:stretch>
          </a:blipFill>
        </p:spPr>
      </p:sp>
      <p:sp>
        <p:nvSpPr>
          <p:cNvPr name="TextBox 3" id="3"/>
          <p:cNvSpPr txBox="true"/>
          <p:nvPr/>
        </p:nvSpPr>
        <p:spPr>
          <a:xfrm rot="0">
            <a:off x="416163" y="402800"/>
            <a:ext cx="15603074" cy="971550"/>
          </a:xfrm>
          <a:prstGeom prst="rect">
            <a:avLst/>
          </a:prstGeom>
        </p:spPr>
        <p:txBody>
          <a:bodyPr anchor="t" rtlCol="false" tIns="0" lIns="0" bIns="0" rIns="0">
            <a:spAutoFit/>
          </a:bodyPr>
          <a:lstStyle/>
          <a:p>
            <a:pPr algn="l">
              <a:lnSpc>
                <a:spcPts val="7680"/>
              </a:lnSpc>
            </a:pPr>
            <a:r>
              <a:rPr lang="en-US" sz="6400">
                <a:solidFill>
                  <a:srgbClr val="FFFAF4"/>
                </a:solidFill>
                <a:latin typeface="Montserrat"/>
                <a:ea typeface="Montserrat"/>
                <a:cs typeface="Montserrat"/>
                <a:sym typeface="Montserrat"/>
              </a:rPr>
              <a:t>Churn Reason vs Satisfaction Score</a:t>
            </a:r>
          </a:p>
        </p:txBody>
      </p:sp>
      <p:sp>
        <p:nvSpPr>
          <p:cNvPr name="TextBox 4" id="4"/>
          <p:cNvSpPr txBox="true"/>
          <p:nvPr/>
        </p:nvSpPr>
        <p:spPr>
          <a:xfrm rot="0">
            <a:off x="4819064" y="9469116"/>
            <a:ext cx="3967311" cy="297178"/>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FFFFFF"/>
                </a:solidFill>
                <a:latin typeface="Canva Sans Bold"/>
                <a:ea typeface="Canva Sans Bold"/>
                <a:cs typeface="Canva Sans Bold"/>
                <a:sym typeface="Canva Sans Bold"/>
              </a:rPr>
              <a:t>Churn Reason &amp; Satisfaction Scores</a:t>
            </a:r>
          </a:p>
        </p:txBody>
      </p:sp>
      <p:sp>
        <p:nvSpPr>
          <p:cNvPr name="TextBox 5" id="5"/>
          <p:cNvSpPr txBox="true"/>
          <p:nvPr/>
        </p:nvSpPr>
        <p:spPr>
          <a:xfrm rot="0">
            <a:off x="12851410" y="5196985"/>
            <a:ext cx="4822253" cy="596364"/>
          </a:xfrm>
          <a:prstGeom prst="rect">
            <a:avLst/>
          </a:prstGeom>
        </p:spPr>
        <p:txBody>
          <a:bodyPr anchor="t" rtlCol="false" tIns="0" lIns="0" bIns="0" rIns="0">
            <a:spAutoFit/>
          </a:bodyPr>
          <a:lstStyle/>
          <a:p>
            <a:pPr algn="ctr">
              <a:lnSpc>
                <a:spcPts val="2454"/>
              </a:lnSpc>
            </a:pPr>
            <a:r>
              <a:rPr lang="en-US" sz="1753" b="true">
                <a:solidFill>
                  <a:srgbClr val="FFFFFF"/>
                </a:solidFill>
                <a:latin typeface="Canva Sans Bold"/>
                <a:ea typeface="Canva Sans Bold"/>
                <a:cs typeface="Canva Sans Bold"/>
                <a:sym typeface="Canva Sans Bold"/>
              </a:rPr>
              <a:t>Customers have given very low satisfaction scores overall</a:t>
            </a:r>
          </a:p>
        </p:txBody>
      </p:sp>
    </p:spTree>
  </p:cSld>
  <p:clrMapOvr>
    <a:masterClrMapping/>
  </p:clrMapOvr>
  <p:transition spd="slow">
    <p:push dir="l"/>
  </p:transition>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Freeform 2" id="2"/>
          <p:cNvSpPr/>
          <p:nvPr/>
        </p:nvSpPr>
        <p:spPr>
          <a:xfrm flipH="false" flipV="false" rot="0">
            <a:off x="12775176" y="3657206"/>
            <a:ext cx="4484124" cy="4484124"/>
          </a:xfrm>
          <a:custGeom>
            <a:avLst/>
            <a:gdLst/>
            <a:ahLst/>
            <a:cxnLst/>
            <a:rect r="r" b="b" t="t" l="l"/>
            <a:pathLst>
              <a:path h="4484124" w="4484124">
                <a:moveTo>
                  <a:pt x="0" y="0"/>
                </a:moveTo>
                <a:lnTo>
                  <a:pt x="4484124" y="0"/>
                </a:lnTo>
                <a:lnTo>
                  <a:pt x="4484124" y="4484124"/>
                </a:lnTo>
                <a:lnTo>
                  <a:pt x="0" y="44841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71000" y="461962"/>
            <a:ext cx="6520088" cy="1133475"/>
          </a:xfrm>
          <a:prstGeom prst="rect">
            <a:avLst/>
          </a:prstGeom>
        </p:spPr>
        <p:txBody>
          <a:bodyPr anchor="t" rtlCol="false" tIns="0" lIns="0" bIns="0" rIns="0">
            <a:spAutoFit/>
          </a:bodyPr>
          <a:lstStyle/>
          <a:p>
            <a:pPr algn="l">
              <a:lnSpc>
                <a:spcPts val="8999"/>
              </a:lnSpc>
            </a:pPr>
            <a:r>
              <a:rPr lang="en-US" sz="7499">
                <a:solidFill>
                  <a:srgbClr val="FFFAF4"/>
                </a:solidFill>
                <a:latin typeface="Montserrat"/>
                <a:ea typeface="Montserrat"/>
                <a:cs typeface="Montserrat"/>
                <a:sym typeface="Montserrat"/>
              </a:rPr>
              <a:t>Insights?</a:t>
            </a:r>
          </a:p>
        </p:txBody>
      </p:sp>
      <p:sp>
        <p:nvSpPr>
          <p:cNvPr name="TextBox 4" id="4"/>
          <p:cNvSpPr txBox="true"/>
          <p:nvPr/>
        </p:nvSpPr>
        <p:spPr>
          <a:xfrm rot="0">
            <a:off x="1371000" y="2319334"/>
            <a:ext cx="14221380" cy="976507"/>
          </a:xfrm>
          <a:prstGeom prst="rect">
            <a:avLst/>
          </a:prstGeom>
        </p:spPr>
        <p:txBody>
          <a:bodyPr anchor="t" rtlCol="false" tIns="0" lIns="0" bIns="0" rIns="0">
            <a:spAutoFit/>
          </a:bodyPr>
          <a:lstStyle/>
          <a:p>
            <a:pPr algn="l" marL="0" indent="0" lvl="0">
              <a:lnSpc>
                <a:spcPts val="3926"/>
              </a:lnSpc>
              <a:spcBef>
                <a:spcPct val="0"/>
              </a:spcBef>
            </a:pPr>
            <a:r>
              <a:rPr lang="en-US" b="true" sz="2804">
                <a:solidFill>
                  <a:srgbClr val="FFFFFF"/>
                </a:solidFill>
                <a:latin typeface="Canva Sans Bold"/>
                <a:ea typeface="Canva Sans Bold"/>
                <a:cs typeface="Canva Sans Bold"/>
                <a:sym typeface="Canva Sans Bold"/>
              </a:rPr>
              <a:t>TeleWave’s devices (such as modems)  are problematic </a:t>
            </a:r>
            <a:r>
              <a:rPr lang="en-US" sz="2804">
                <a:solidFill>
                  <a:srgbClr val="FFFFFF"/>
                </a:solidFill>
                <a:latin typeface="Canva Sans"/>
                <a:ea typeface="Canva Sans"/>
                <a:cs typeface="Canva Sans"/>
                <a:sym typeface="Canva Sans"/>
              </a:rPr>
              <a:t>and have been giving</a:t>
            </a:r>
            <a:r>
              <a:rPr lang="en-US" b="true" sz="2804">
                <a:solidFill>
                  <a:srgbClr val="FFFFFF"/>
                </a:solidFill>
                <a:latin typeface="Canva Sans Bold"/>
                <a:ea typeface="Canva Sans Bold"/>
                <a:cs typeface="Canva Sans Bold"/>
                <a:sym typeface="Canva Sans Bold"/>
              </a:rPr>
              <a:t> poor experience</a:t>
            </a:r>
            <a:r>
              <a:rPr lang="en-US" sz="2804">
                <a:solidFill>
                  <a:srgbClr val="FFFFFF"/>
                </a:solidFill>
                <a:latin typeface="Canva Sans"/>
                <a:ea typeface="Canva Sans"/>
                <a:cs typeface="Canva Sans"/>
                <a:sym typeface="Canva Sans"/>
              </a:rPr>
              <a:t> to the customers</a:t>
            </a:r>
          </a:p>
        </p:txBody>
      </p:sp>
      <p:sp>
        <p:nvSpPr>
          <p:cNvPr name="TextBox 5" id="5"/>
          <p:cNvSpPr txBox="true"/>
          <p:nvPr/>
        </p:nvSpPr>
        <p:spPr>
          <a:xfrm rot="0">
            <a:off x="1371000" y="3793770"/>
            <a:ext cx="10225178" cy="1160145"/>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FFFAF4"/>
                </a:solidFill>
                <a:latin typeface="Open Sans"/>
                <a:ea typeface="Open Sans"/>
                <a:cs typeface="Open Sans"/>
                <a:sym typeface="Open Sans"/>
              </a:rPr>
              <a:t>Of the </a:t>
            </a:r>
            <a:r>
              <a:rPr lang="en-US" b="true" sz="2400">
                <a:solidFill>
                  <a:srgbClr val="FFFAF4"/>
                </a:solidFill>
                <a:latin typeface="Open Sans Bold"/>
                <a:ea typeface="Open Sans Bold"/>
                <a:cs typeface="Open Sans Bold"/>
                <a:sym typeface="Open Sans Bold"/>
              </a:rPr>
              <a:t>customers that left,</a:t>
            </a:r>
            <a:r>
              <a:rPr lang="en-US" sz="2400">
                <a:solidFill>
                  <a:srgbClr val="FFFAF4"/>
                </a:solidFill>
                <a:latin typeface="Open Sans"/>
                <a:ea typeface="Open Sans"/>
                <a:cs typeface="Open Sans"/>
                <a:sym typeface="Open Sans"/>
              </a:rPr>
              <a:t> their</a:t>
            </a:r>
            <a:r>
              <a:rPr lang="en-US" b="true" sz="2400">
                <a:solidFill>
                  <a:srgbClr val="FFFAF4"/>
                </a:solidFill>
                <a:latin typeface="Open Sans Bold"/>
                <a:ea typeface="Open Sans Bold"/>
                <a:cs typeface="Open Sans Bold"/>
                <a:sym typeface="Open Sans Bold"/>
              </a:rPr>
              <a:t> Satisfaction Scores </a:t>
            </a:r>
            <a:r>
              <a:rPr lang="en-US" sz="2400">
                <a:solidFill>
                  <a:srgbClr val="FFFAF4"/>
                </a:solidFill>
                <a:latin typeface="Open Sans"/>
                <a:ea typeface="Open Sans"/>
                <a:cs typeface="Open Sans"/>
                <a:sym typeface="Open Sans"/>
              </a:rPr>
              <a:t>are all</a:t>
            </a:r>
            <a:r>
              <a:rPr lang="en-US" b="true" sz="2400">
                <a:solidFill>
                  <a:srgbClr val="FFFAF4"/>
                </a:solidFill>
                <a:latin typeface="Open Sans Bold"/>
                <a:ea typeface="Open Sans Bold"/>
                <a:cs typeface="Open Sans Bold"/>
                <a:sym typeface="Open Sans Bold"/>
              </a:rPr>
              <a:t> 1 or 2 for Churn Reason = Competitor had better devices and Product dissatisfaction.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1028700" y="819150"/>
            <a:ext cx="10360479" cy="2743200"/>
          </a:xfrm>
          <a:prstGeom prst="rect">
            <a:avLst/>
          </a:prstGeom>
        </p:spPr>
        <p:txBody>
          <a:bodyPr anchor="t" rtlCol="false" tIns="0" lIns="0" bIns="0" rIns="0">
            <a:spAutoFit/>
          </a:bodyPr>
          <a:lstStyle/>
          <a:p>
            <a:pPr algn="l">
              <a:lnSpc>
                <a:spcPts val="10800"/>
              </a:lnSpc>
            </a:pPr>
            <a:r>
              <a:rPr lang="en-US" sz="9000">
                <a:solidFill>
                  <a:srgbClr val="FFFAF4"/>
                </a:solidFill>
                <a:latin typeface="Montserrat"/>
                <a:ea typeface="Montserrat"/>
                <a:cs typeface="Montserrat"/>
                <a:sym typeface="Montserrat"/>
              </a:rPr>
              <a:t>Online Security Services</a:t>
            </a:r>
          </a:p>
        </p:txBody>
      </p:sp>
      <p:sp>
        <p:nvSpPr>
          <p:cNvPr name="TextBox 3" id="3"/>
          <p:cNvSpPr txBox="true"/>
          <p:nvPr/>
        </p:nvSpPr>
        <p:spPr>
          <a:xfrm rot="0">
            <a:off x="1028700" y="6712328"/>
            <a:ext cx="7811062" cy="1550670"/>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FFFAF4"/>
                </a:solidFill>
                <a:latin typeface="Open Sans"/>
                <a:ea typeface="Open Sans"/>
                <a:cs typeface="Open Sans"/>
                <a:sym typeface="Open Sans"/>
              </a:rPr>
              <a:t>Customers </a:t>
            </a:r>
            <a:r>
              <a:rPr lang="en-US" b="true" sz="2400">
                <a:solidFill>
                  <a:srgbClr val="FFFAF4"/>
                </a:solidFill>
                <a:latin typeface="Open Sans Bold"/>
                <a:ea typeface="Open Sans Bold"/>
                <a:cs typeface="Open Sans Bold"/>
                <a:sym typeface="Open Sans Bold"/>
              </a:rPr>
              <a:t>with Online Security</a:t>
            </a:r>
            <a:r>
              <a:rPr lang="en-US" sz="2400">
                <a:solidFill>
                  <a:srgbClr val="FFFAF4"/>
                </a:solidFill>
                <a:latin typeface="Open Sans"/>
                <a:ea typeface="Open Sans"/>
                <a:cs typeface="Open Sans"/>
                <a:sym typeface="Open Sans"/>
              </a:rPr>
              <a:t> feature have given </a:t>
            </a:r>
            <a:r>
              <a:rPr lang="en-US" b="true" sz="2400">
                <a:solidFill>
                  <a:srgbClr val="FFFAF4"/>
                </a:solidFill>
                <a:latin typeface="Open Sans Bold"/>
                <a:ea typeface="Open Sans Bold"/>
                <a:cs typeface="Open Sans Bold"/>
                <a:sym typeface="Open Sans Bold"/>
              </a:rPr>
              <a:t>low satisfaction score</a:t>
            </a:r>
            <a:r>
              <a:rPr lang="en-US" sz="2400">
                <a:solidFill>
                  <a:srgbClr val="FFFAF4"/>
                </a:solidFill>
                <a:latin typeface="Open Sans"/>
                <a:ea typeface="Open Sans"/>
                <a:cs typeface="Open Sans"/>
                <a:sym typeface="Open Sans"/>
              </a:rPr>
              <a:t>, i.e., 1, clearly </a:t>
            </a:r>
            <a:r>
              <a:rPr lang="en-US" sz="2400">
                <a:solidFill>
                  <a:srgbClr val="FFFAF4"/>
                </a:solidFill>
                <a:latin typeface="Open Sans"/>
                <a:ea typeface="Open Sans"/>
                <a:cs typeface="Open Sans"/>
                <a:sym typeface="Open Sans"/>
              </a:rPr>
              <a:t>indicating that the company’s </a:t>
            </a:r>
            <a:r>
              <a:rPr lang="en-US" b="true" sz="2400">
                <a:solidFill>
                  <a:srgbClr val="FFFAF4"/>
                </a:solidFill>
                <a:latin typeface="Open Sans Bold"/>
                <a:ea typeface="Open Sans Bold"/>
                <a:cs typeface="Open Sans Bold"/>
                <a:sym typeface="Open Sans Bold"/>
              </a:rPr>
              <a:t>online security services is bad.</a:t>
            </a:r>
          </a:p>
        </p:txBody>
      </p:sp>
      <p:sp>
        <p:nvSpPr>
          <p:cNvPr name="TextBox 4" id="4"/>
          <p:cNvSpPr txBox="true"/>
          <p:nvPr/>
        </p:nvSpPr>
        <p:spPr>
          <a:xfrm rot="0">
            <a:off x="1028700" y="4647943"/>
            <a:ext cx="7811062" cy="1559560"/>
          </a:xfrm>
          <a:prstGeom prst="rect">
            <a:avLst/>
          </a:prstGeom>
        </p:spPr>
        <p:txBody>
          <a:bodyPr anchor="t" rtlCol="false" tIns="0" lIns="0" bIns="0" rIns="0">
            <a:spAutoFit/>
          </a:bodyPr>
          <a:lstStyle/>
          <a:p>
            <a:pPr algn="l">
              <a:lnSpc>
                <a:spcPts val="4160"/>
              </a:lnSpc>
            </a:pPr>
            <a:r>
              <a:rPr lang="en-US" sz="3200">
                <a:solidFill>
                  <a:srgbClr val="FFFAF4"/>
                </a:solidFill>
                <a:latin typeface="Open Sans"/>
                <a:ea typeface="Open Sans"/>
                <a:cs typeface="Open Sans"/>
                <a:sym typeface="Open Sans"/>
              </a:rPr>
              <a:t>Customers give very </a:t>
            </a:r>
            <a:r>
              <a:rPr lang="en-US" sz="3200" b="true">
                <a:solidFill>
                  <a:srgbClr val="FFFAF4"/>
                </a:solidFill>
                <a:latin typeface="Open Sans Bold"/>
                <a:ea typeface="Open Sans Bold"/>
                <a:cs typeface="Open Sans Bold"/>
                <a:sym typeface="Open Sans Bold"/>
              </a:rPr>
              <a:t>low satisfaction score</a:t>
            </a:r>
            <a:r>
              <a:rPr lang="en-US" sz="3200">
                <a:solidFill>
                  <a:srgbClr val="FFFAF4"/>
                </a:solidFill>
                <a:latin typeface="Open Sans"/>
                <a:ea typeface="Open Sans"/>
                <a:cs typeface="Open Sans"/>
                <a:sym typeface="Open Sans"/>
              </a:rPr>
              <a:t> to company’s </a:t>
            </a:r>
            <a:r>
              <a:rPr lang="en-US" sz="3200" b="true">
                <a:solidFill>
                  <a:srgbClr val="FFFAF4"/>
                </a:solidFill>
                <a:latin typeface="Open Sans Bold"/>
                <a:ea typeface="Open Sans Bold"/>
                <a:cs typeface="Open Sans Bold"/>
                <a:sym typeface="Open Sans Bold"/>
              </a:rPr>
              <a:t>online security services</a:t>
            </a:r>
          </a:p>
        </p:txBody>
      </p:sp>
      <p:sp>
        <p:nvSpPr>
          <p:cNvPr name="TextBox 5" id="5"/>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2" action="ppaction://hlinksldjump"/>
              </a:rPr>
              <a:t>Back to Agenda</a:t>
            </a:r>
          </a:p>
        </p:txBody>
      </p:sp>
      <p:grpSp>
        <p:nvGrpSpPr>
          <p:cNvPr name="Group 6" id="6"/>
          <p:cNvGrpSpPr/>
          <p:nvPr/>
        </p:nvGrpSpPr>
        <p:grpSpPr>
          <a:xfrm rot="0">
            <a:off x="10774455" y="1794403"/>
            <a:ext cx="6809129" cy="8038986"/>
            <a:chOff x="0" y="0"/>
            <a:chExt cx="9078839" cy="10718648"/>
          </a:xfrm>
        </p:grpSpPr>
        <p:sp>
          <p:nvSpPr>
            <p:cNvPr name="Freeform 7" id="7"/>
            <p:cNvSpPr/>
            <p:nvPr/>
          </p:nvSpPr>
          <p:spPr>
            <a:xfrm flipH="false" flipV="false" rot="0">
              <a:off x="0" y="0"/>
              <a:ext cx="9078839" cy="10190185"/>
            </a:xfrm>
            <a:custGeom>
              <a:avLst/>
              <a:gdLst/>
              <a:ahLst/>
              <a:cxnLst/>
              <a:rect r="r" b="b" t="t" l="l"/>
              <a:pathLst>
                <a:path h="10190185" w="9078839">
                  <a:moveTo>
                    <a:pt x="0" y="0"/>
                  </a:moveTo>
                  <a:lnTo>
                    <a:pt x="9078839" y="0"/>
                  </a:lnTo>
                  <a:lnTo>
                    <a:pt x="9078839" y="10190185"/>
                  </a:lnTo>
                  <a:lnTo>
                    <a:pt x="0" y="10190185"/>
                  </a:lnTo>
                  <a:lnTo>
                    <a:pt x="0" y="0"/>
                  </a:lnTo>
                  <a:close/>
                </a:path>
              </a:pathLst>
            </a:custGeom>
            <a:blipFill>
              <a:blip r:embed="rId3"/>
              <a:stretch>
                <a:fillRect l="0" t="0" r="0" b="0"/>
              </a:stretch>
            </a:blipFill>
          </p:spPr>
        </p:sp>
        <p:sp>
          <p:nvSpPr>
            <p:cNvPr name="TextBox 8" id="8"/>
            <p:cNvSpPr txBox="true"/>
            <p:nvPr/>
          </p:nvSpPr>
          <p:spPr>
            <a:xfrm rot="0">
              <a:off x="2742435" y="10331936"/>
              <a:ext cx="4647605" cy="386712"/>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FFFFFF"/>
                  </a:solidFill>
                  <a:latin typeface="Canva Sans Bold"/>
                  <a:ea typeface="Canva Sans Bold"/>
                  <a:cs typeface="Canva Sans Bold"/>
                  <a:sym typeface="Canva Sans Bold"/>
                </a:rPr>
                <a:t>Online Security vs Satisfactiion</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1028700" y="819150"/>
            <a:ext cx="10576668" cy="2743200"/>
          </a:xfrm>
          <a:prstGeom prst="rect">
            <a:avLst/>
          </a:prstGeom>
        </p:spPr>
        <p:txBody>
          <a:bodyPr anchor="t" rtlCol="false" tIns="0" lIns="0" bIns="0" rIns="0">
            <a:spAutoFit/>
          </a:bodyPr>
          <a:lstStyle/>
          <a:p>
            <a:pPr algn="l">
              <a:lnSpc>
                <a:spcPts val="10800"/>
              </a:lnSpc>
            </a:pPr>
            <a:r>
              <a:rPr lang="en-US" sz="9000">
                <a:solidFill>
                  <a:srgbClr val="FFFAF4"/>
                </a:solidFill>
                <a:latin typeface="Montserrat"/>
                <a:ea typeface="Montserrat"/>
                <a:cs typeface="Montserrat"/>
                <a:sym typeface="Montserrat"/>
              </a:rPr>
              <a:t>Offer vs Churn Rate</a:t>
            </a:r>
          </a:p>
        </p:txBody>
      </p:sp>
      <p:sp>
        <p:nvSpPr>
          <p:cNvPr name="TextBox 3" id="3"/>
          <p:cNvSpPr txBox="true"/>
          <p:nvPr/>
        </p:nvSpPr>
        <p:spPr>
          <a:xfrm rot="0">
            <a:off x="1028700" y="6027728"/>
            <a:ext cx="7811062" cy="2162810"/>
          </a:xfrm>
          <a:prstGeom prst="rect">
            <a:avLst/>
          </a:prstGeom>
        </p:spPr>
        <p:txBody>
          <a:bodyPr anchor="t" rtlCol="false" tIns="0" lIns="0" bIns="0" rIns="0">
            <a:spAutoFit/>
          </a:bodyPr>
          <a:lstStyle/>
          <a:p>
            <a:pPr algn="l" marL="474981" indent="-237491" lvl="1">
              <a:lnSpc>
                <a:spcPts val="2860"/>
              </a:lnSpc>
              <a:buFont typeface="Arial"/>
              <a:buChar char="•"/>
            </a:pPr>
            <a:r>
              <a:rPr lang="en-US" sz="2200">
                <a:solidFill>
                  <a:srgbClr val="FFFAF4"/>
                </a:solidFill>
                <a:latin typeface="Open Sans"/>
                <a:ea typeface="Open Sans"/>
                <a:cs typeface="Open Sans"/>
                <a:sym typeface="Open Sans"/>
              </a:rPr>
              <a:t>Size of the quadrant depicts total number of churned customers.</a:t>
            </a:r>
          </a:p>
          <a:p>
            <a:pPr algn="l">
              <a:lnSpc>
                <a:spcPts val="2860"/>
              </a:lnSpc>
            </a:pPr>
          </a:p>
          <a:p>
            <a:pPr algn="l" marL="474981" indent="-237491" lvl="1">
              <a:lnSpc>
                <a:spcPts val="2860"/>
              </a:lnSpc>
              <a:buFont typeface="Arial"/>
              <a:buChar char="•"/>
            </a:pPr>
            <a:r>
              <a:rPr lang="en-US" sz="2200">
                <a:solidFill>
                  <a:srgbClr val="FFFAF4"/>
                </a:solidFill>
                <a:latin typeface="Open Sans"/>
                <a:ea typeface="Open Sans"/>
                <a:cs typeface="Open Sans"/>
                <a:sym typeface="Open Sans"/>
              </a:rPr>
              <a:t>Customers with offer E have highest churn rate (~53%).</a:t>
            </a:r>
          </a:p>
          <a:p>
            <a:pPr algn="l">
              <a:lnSpc>
                <a:spcPts val="2860"/>
              </a:lnSpc>
            </a:pPr>
          </a:p>
          <a:p>
            <a:pPr algn="l" marL="474981" indent="-237491" lvl="1">
              <a:lnSpc>
                <a:spcPts val="2860"/>
              </a:lnSpc>
              <a:buFont typeface="Arial"/>
              <a:buChar char="•"/>
            </a:pPr>
            <a:r>
              <a:rPr lang="en-US" sz="2200">
                <a:solidFill>
                  <a:srgbClr val="FFFAF4"/>
                </a:solidFill>
                <a:latin typeface="Open Sans"/>
                <a:ea typeface="Open Sans"/>
                <a:cs typeface="Open Sans"/>
                <a:sym typeface="Open Sans"/>
              </a:rPr>
              <a:t>Customers with offer A have lowest churn rate (~7%)</a:t>
            </a:r>
          </a:p>
        </p:txBody>
      </p:sp>
      <p:sp>
        <p:nvSpPr>
          <p:cNvPr name="TextBox 4" id="4"/>
          <p:cNvSpPr txBox="true"/>
          <p:nvPr/>
        </p:nvSpPr>
        <p:spPr>
          <a:xfrm rot="0">
            <a:off x="1028700" y="4647943"/>
            <a:ext cx="7811062" cy="1035685"/>
          </a:xfrm>
          <a:prstGeom prst="rect">
            <a:avLst/>
          </a:prstGeom>
        </p:spPr>
        <p:txBody>
          <a:bodyPr anchor="t" rtlCol="false" tIns="0" lIns="0" bIns="0" rIns="0">
            <a:spAutoFit/>
          </a:bodyPr>
          <a:lstStyle/>
          <a:p>
            <a:pPr algn="l">
              <a:lnSpc>
                <a:spcPts val="4160"/>
              </a:lnSpc>
            </a:pPr>
            <a:r>
              <a:rPr lang="en-US" sz="3200">
                <a:solidFill>
                  <a:srgbClr val="FFFAF4"/>
                </a:solidFill>
                <a:latin typeface="Open Sans"/>
                <a:ea typeface="Open Sans"/>
                <a:cs typeface="Open Sans"/>
                <a:sym typeface="Open Sans"/>
              </a:rPr>
              <a:t>Customers with </a:t>
            </a:r>
            <a:r>
              <a:rPr lang="en-US" sz="3200" b="true">
                <a:solidFill>
                  <a:srgbClr val="FFFAF4"/>
                </a:solidFill>
                <a:latin typeface="Open Sans Bold"/>
                <a:ea typeface="Open Sans Bold"/>
                <a:cs typeface="Open Sans Bold"/>
                <a:sym typeface="Open Sans Bold"/>
              </a:rPr>
              <a:t>offer A </a:t>
            </a:r>
            <a:r>
              <a:rPr lang="en-US" sz="3200">
                <a:solidFill>
                  <a:srgbClr val="FFFAF4"/>
                </a:solidFill>
                <a:latin typeface="Open Sans"/>
                <a:ea typeface="Open Sans"/>
                <a:cs typeface="Open Sans"/>
                <a:sym typeface="Open Sans"/>
              </a:rPr>
              <a:t>have </a:t>
            </a:r>
            <a:r>
              <a:rPr lang="en-US" sz="3200" b="true">
                <a:solidFill>
                  <a:srgbClr val="FFFAF4"/>
                </a:solidFill>
                <a:latin typeface="Open Sans Bold"/>
                <a:ea typeface="Open Sans Bold"/>
                <a:cs typeface="Open Sans Bold"/>
                <a:sym typeface="Open Sans Bold"/>
              </a:rPr>
              <a:t>lowest churn rate</a:t>
            </a:r>
          </a:p>
        </p:txBody>
      </p:sp>
      <p:sp>
        <p:nvSpPr>
          <p:cNvPr name="TextBox 5" id="5"/>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2" action="ppaction://hlinksldjump"/>
              </a:rPr>
              <a:t>Back to Agenda</a:t>
            </a:r>
          </a:p>
        </p:txBody>
      </p:sp>
      <p:grpSp>
        <p:nvGrpSpPr>
          <p:cNvPr name="Group 6" id="6"/>
          <p:cNvGrpSpPr/>
          <p:nvPr/>
        </p:nvGrpSpPr>
        <p:grpSpPr>
          <a:xfrm rot="0">
            <a:off x="8796803" y="3259300"/>
            <a:ext cx="9491197" cy="6574088"/>
            <a:chOff x="0" y="0"/>
            <a:chExt cx="12654930" cy="8765451"/>
          </a:xfrm>
        </p:grpSpPr>
        <p:sp>
          <p:nvSpPr>
            <p:cNvPr name="Freeform 7" id="7"/>
            <p:cNvSpPr/>
            <p:nvPr/>
          </p:nvSpPr>
          <p:spPr>
            <a:xfrm flipH="false" flipV="false" rot="0">
              <a:off x="0" y="0"/>
              <a:ext cx="12654930" cy="7861875"/>
            </a:xfrm>
            <a:custGeom>
              <a:avLst/>
              <a:gdLst/>
              <a:ahLst/>
              <a:cxnLst/>
              <a:rect r="r" b="b" t="t" l="l"/>
              <a:pathLst>
                <a:path h="7861875" w="12654930">
                  <a:moveTo>
                    <a:pt x="0" y="0"/>
                  </a:moveTo>
                  <a:lnTo>
                    <a:pt x="12654930" y="0"/>
                  </a:lnTo>
                  <a:lnTo>
                    <a:pt x="12654930" y="7861875"/>
                  </a:lnTo>
                  <a:lnTo>
                    <a:pt x="0" y="7861875"/>
                  </a:lnTo>
                  <a:lnTo>
                    <a:pt x="0" y="0"/>
                  </a:lnTo>
                  <a:close/>
                </a:path>
              </a:pathLst>
            </a:custGeom>
            <a:blipFill>
              <a:blip r:embed="rId3"/>
              <a:stretch>
                <a:fillRect l="0" t="0" r="0" b="0"/>
              </a:stretch>
            </a:blipFill>
          </p:spPr>
        </p:sp>
        <p:sp>
          <p:nvSpPr>
            <p:cNvPr name="TextBox 8" id="8"/>
            <p:cNvSpPr txBox="true"/>
            <p:nvPr/>
          </p:nvSpPr>
          <p:spPr>
            <a:xfrm rot="0">
              <a:off x="6165415" y="8378739"/>
              <a:ext cx="3075384" cy="386712"/>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FFFFFF"/>
                  </a:solidFill>
                  <a:latin typeface="Canva Sans Bold"/>
                  <a:ea typeface="Canva Sans Bold"/>
                  <a:cs typeface="Canva Sans Bold"/>
                  <a:sym typeface="Canva Sans Bold"/>
                </a:rPr>
                <a:t>Offers vs Churn Rate</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542274" y="819150"/>
            <a:ext cx="10576668" cy="2743200"/>
          </a:xfrm>
          <a:prstGeom prst="rect">
            <a:avLst/>
          </a:prstGeom>
        </p:spPr>
        <p:txBody>
          <a:bodyPr anchor="t" rtlCol="false" tIns="0" lIns="0" bIns="0" rIns="0">
            <a:spAutoFit/>
          </a:bodyPr>
          <a:lstStyle/>
          <a:p>
            <a:pPr algn="l">
              <a:lnSpc>
                <a:spcPts val="10800"/>
              </a:lnSpc>
            </a:pPr>
            <a:r>
              <a:rPr lang="en-US" sz="9000">
                <a:solidFill>
                  <a:srgbClr val="FFFAF4"/>
                </a:solidFill>
                <a:latin typeface="Montserrat"/>
                <a:ea typeface="Montserrat"/>
                <a:cs typeface="Montserrat"/>
                <a:sym typeface="Montserrat"/>
              </a:rPr>
              <a:t>Internet Type vs Churn</a:t>
            </a:r>
          </a:p>
        </p:txBody>
      </p:sp>
      <p:sp>
        <p:nvSpPr>
          <p:cNvPr name="TextBox 3" id="3"/>
          <p:cNvSpPr txBox="true"/>
          <p:nvPr/>
        </p:nvSpPr>
        <p:spPr>
          <a:xfrm rot="0">
            <a:off x="542274" y="6279949"/>
            <a:ext cx="7811062" cy="1160145"/>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FFFAF4"/>
                </a:solidFill>
                <a:latin typeface="Open Sans"/>
                <a:ea typeface="Open Sans"/>
                <a:cs typeface="Open Sans"/>
                <a:sym typeface="Open Sans"/>
              </a:rPr>
              <a:t>Majority of </a:t>
            </a:r>
            <a:r>
              <a:rPr lang="en-US" b="true" sz="2400">
                <a:solidFill>
                  <a:srgbClr val="FFFAF4"/>
                </a:solidFill>
                <a:latin typeface="Open Sans Bold"/>
                <a:ea typeface="Open Sans Bold"/>
                <a:cs typeface="Open Sans Bold"/>
                <a:sym typeface="Open Sans Bold"/>
              </a:rPr>
              <a:t>churned customers (nearly 40%)</a:t>
            </a:r>
            <a:r>
              <a:rPr lang="en-US" sz="2400">
                <a:solidFill>
                  <a:srgbClr val="FFFAF4"/>
                </a:solidFill>
                <a:latin typeface="Open Sans"/>
                <a:ea typeface="Open Sans"/>
                <a:cs typeface="Open Sans"/>
                <a:sym typeface="Open Sans"/>
              </a:rPr>
              <a:t> had fiber optic as their internet type followed by </a:t>
            </a:r>
            <a:r>
              <a:rPr lang="en-US" b="true" sz="2400">
                <a:solidFill>
                  <a:srgbClr val="FFFAF4"/>
                </a:solidFill>
                <a:latin typeface="Open Sans Bold"/>
                <a:ea typeface="Open Sans Bold"/>
                <a:cs typeface="Open Sans Bold"/>
                <a:sym typeface="Open Sans Bold"/>
              </a:rPr>
              <a:t>Cable (26%) </a:t>
            </a:r>
            <a:r>
              <a:rPr lang="en-US" sz="2400">
                <a:solidFill>
                  <a:srgbClr val="FFFAF4"/>
                </a:solidFill>
                <a:latin typeface="Open Sans"/>
                <a:ea typeface="Open Sans"/>
                <a:cs typeface="Open Sans"/>
                <a:sym typeface="Open Sans"/>
              </a:rPr>
              <a:t>and </a:t>
            </a:r>
            <a:r>
              <a:rPr lang="en-US" b="true" sz="2400">
                <a:solidFill>
                  <a:srgbClr val="FFFAF4"/>
                </a:solidFill>
                <a:latin typeface="Open Sans Bold"/>
                <a:ea typeface="Open Sans Bold"/>
                <a:cs typeface="Open Sans Bold"/>
                <a:sym typeface="Open Sans Bold"/>
              </a:rPr>
              <a:t>DSL (19%)</a:t>
            </a:r>
            <a:r>
              <a:rPr lang="en-US" sz="2400">
                <a:solidFill>
                  <a:srgbClr val="FFFAF4"/>
                </a:solidFill>
                <a:latin typeface="Open Sans"/>
                <a:ea typeface="Open Sans"/>
                <a:cs typeface="Open Sans"/>
                <a:sym typeface="Open Sans"/>
              </a:rPr>
              <a:t>.</a:t>
            </a:r>
          </a:p>
        </p:txBody>
      </p:sp>
      <p:sp>
        <p:nvSpPr>
          <p:cNvPr name="TextBox 4" id="4"/>
          <p:cNvSpPr txBox="true"/>
          <p:nvPr/>
        </p:nvSpPr>
        <p:spPr>
          <a:xfrm rot="0">
            <a:off x="542274" y="5388353"/>
            <a:ext cx="7811062" cy="511810"/>
          </a:xfrm>
          <a:prstGeom prst="rect">
            <a:avLst/>
          </a:prstGeom>
        </p:spPr>
        <p:txBody>
          <a:bodyPr anchor="t" rtlCol="false" tIns="0" lIns="0" bIns="0" rIns="0">
            <a:spAutoFit/>
          </a:bodyPr>
          <a:lstStyle/>
          <a:p>
            <a:pPr algn="l">
              <a:lnSpc>
                <a:spcPts val="4160"/>
              </a:lnSpc>
            </a:pPr>
            <a:r>
              <a:rPr lang="en-US" sz="3200" b="true">
                <a:solidFill>
                  <a:srgbClr val="FFFAF4"/>
                </a:solidFill>
                <a:latin typeface="Open Sans Bold"/>
                <a:ea typeface="Open Sans Bold"/>
                <a:cs typeface="Open Sans Bold"/>
                <a:sym typeface="Open Sans Bold"/>
              </a:rPr>
              <a:t>Fiber Optic </a:t>
            </a:r>
            <a:r>
              <a:rPr lang="en-US" sz="3200">
                <a:solidFill>
                  <a:srgbClr val="FFFAF4"/>
                </a:solidFill>
                <a:latin typeface="Open Sans"/>
                <a:ea typeface="Open Sans"/>
                <a:cs typeface="Open Sans"/>
                <a:sym typeface="Open Sans"/>
              </a:rPr>
              <a:t>has highest churn rate</a:t>
            </a:r>
          </a:p>
        </p:txBody>
      </p:sp>
      <p:sp>
        <p:nvSpPr>
          <p:cNvPr name="TextBox 5" id="5"/>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2" action="ppaction://hlinksldjump"/>
              </a:rPr>
              <a:t>Back to Agenda</a:t>
            </a:r>
          </a:p>
        </p:txBody>
      </p:sp>
      <p:grpSp>
        <p:nvGrpSpPr>
          <p:cNvPr name="Group 6" id="6"/>
          <p:cNvGrpSpPr/>
          <p:nvPr/>
        </p:nvGrpSpPr>
        <p:grpSpPr>
          <a:xfrm rot="0">
            <a:off x="8432352" y="2722559"/>
            <a:ext cx="9855648" cy="7152881"/>
            <a:chOff x="0" y="0"/>
            <a:chExt cx="13140863" cy="9537174"/>
          </a:xfrm>
        </p:grpSpPr>
        <p:sp>
          <p:nvSpPr>
            <p:cNvPr name="Freeform 7" id="7"/>
            <p:cNvSpPr/>
            <p:nvPr/>
          </p:nvSpPr>
          <p:spPr>
            <a:xfrm flipH="false" flipV="false" rot="0">
              <a:off x="0" y="0"/>
              <a:ext cx="13140863" cy="8637534"/>
            </a:xfrm>
            <a:custGeom>
              <a:avLst/>
              <a:gdLst/>
              <a:ahLst/>
              <a:cxnLst/>
              <a:rect r="r" b="b" t="t" l="l"/>
              <a:pathLst>
                <a:path h="8637534" w="13140863">
                  <a:moveTo>
                    <a:pt x="0" y="0"/>
                  </a:moveTo>
                  <a:lnTo>
                    <a:pt x="13140863" y="0"/>
                  </a:lnTo>
                  <a:lnTo>
                    <a:pt x="13140863" y="8637534"/>
                  </a:lnTo>
                  <a:lnTo>
                    <a:pt x="0" y="8637534"/>
                  </a:lnTo>
                  <a:lnTo>
                    <a:pt x="0" y="0"/>
                  </a:lnTo>
                  <a:close/>
                </a:path>
              </a:pathLst>
            </a:custGeom>
            <a:blipFill>
              <a:blip r:embed="rId3"/>
              <a:stretch>
                <a:fillRect l="0" t="0" r="0" b="0"/>
              </a:stretch>
            </a:blipFill>
          </p:spPr>
        </p:sp>
        <p:sp>
          <p:nvSpPr>
            <p:cNvPr name="TextBox 8" id="8"/>
            <p:cNvSpPr txBox="true"/>
            <p:nvPr/>
          </p:nvSpPr>
          <p:spPr>
            <a:xfrm rot="0">
              <a:off x="4765372" y="9150462"/>
              <a:ext cx="4171553" cy="386712"/>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FFFFFF"/>
                  </a:solidFill>
                  <a:latin typeface="Canva Sans Bold"/>
                  <a:ea typeface="Canva Sans Bold"/>
                  <a:cs typeface="Canva Sans Bold"/>
                  <a:sym typeface="Canva Sans Bold"/>
                </a:rPr>
                <a:t>Internet Type vs Churn Rate</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TextBox 2" id="2"/>
          <p:cNvSpPr txBox="true"/>
          <p:nvPr/>
        </p:nvSpPr>
        <p:spPr>
          <a:xfrm rot="0">
            <a:off x="542274" y="819150"/>
            <a:ext cx="10576668" cy="1371600"/>
          </a:xfrm>
          <a:prstGeom prst="rect">
            <a:avLst/>
          </a:prstGeom>
        </p:spPr>
        <p:txBody>
          <a:bodyPr anchor="t" rtlCol="false" tIns="0" lIns="0" bIns="0" rIns="0">
            <a:spAutoFit/>
          </a:bodyPr>
          <a:lstStyle/>
          <a:p>
            <a:pPr algn="l">
              <a:lnSpc>
                <a:spcPts val="10800"/>
              </a:lnSpc>
            </a:pPr>
            <a:r>
              <a:rPr lang="en-US" sz="9000">
                <a:solidFill>
                  <a:srgbClr val="FFFAF4"/>
                </a:solidFill>
                <a:latin typeface="Montserrat"/>
                <a:ea typeface="Montserrat"/>
                <a:cs typeface="Montserrat"/>
                <a:sym typeface="Montserrat"/>
              </a:rPr>
              <a:t>CLTV vs Churn</a:t>
            </a:r>
          </a:p>
        </p:txBody>
      </p:sp>
      <p:sp>
        <p:nvSpPr>
          <p:cNvPr name="TextBox 3" id="3"/>
          <p:cNvSpPr txBox="true"/>
          <p:nvPr/>
        </p:nvSpPr>
        <p:spPr>
          <a:xfrm rot="0">
            <a:off x="542274" y="6279949"/>
            <a:ext cx="7811062" cy="1160145"/>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FFFAF4"/>
                </a:solidFill>
                <a:latin typeface="Open Sans"/>
                <a:ea typeface="Open Sans"/>
                <a:cs typeface="Open Sans"/>
                <a:sym typeface="Open Sans"/>
              </a:rPr>
              <a:t>Customers with </a:t>
            </a:r>
            <a:r>
              <a:rPr lang="en-US" b="true" sz="2400">
                <a:solidFill>
                  <a:srgbClr val="FFFAF4"/>
                </a:solidFill>
                <a:latin typeface="Open Sans Bold"/>
                <a:ea typeface="Open Sans Bold"/>
                <a:cs typeface="Open Sans Bold"/>
                <a:sym typeface="Open Sans Bold"/>
              </a:rPr>
              <a:t>lower lifetime value are more likely to churn</a:t>
            </a:r>
            <a:r>
              <a:rPr lang="en-US" sz="2400">
                <a:solidFill>
                  <a:srgbClr val="FFFAF4"/>
                </a:solidFill>
                <a:latin typeface="Open Sans"/>
                <a:ea typeface="Open Sans"/>
                <a:cs typeface="Open Sans"/>
                <a:sym typeface="Open Sans"/>
              </a:rPr>
              <a:t> when compared to high value customers (&gt; 3500)</a:t>
            </a:r>
          </a:p>
        </p:txBody>
      </p:sp>
      <p:sp>
        <p:nvSpPr>
          <p:cNvPr name="TextBox 4" id="4"/>
          <p:cNvSpPr txBox="true"/>
          <p:nvPr/>
        </p:nvSpPr>
        <p:spPr>
          <a:xfrm rot="0">
            <a:off x="542274" y="4901927"/>
            <a:ext cx="7811062" cy="907415"/>
          </a:xfrm>
          <a:prstGeom prst="rect">
            <a:avLst/>
          </a:prstGeom>
        </p:spPr>
        <p:txBody>
          <a:bodyPr anchor="t" rtlCol="false" tIns="0" lIns="0" bIns="0" rIns="0">
            <a:spAutoFit/>
          </a:bodyPr>
          <a:lstStyle/>
          <a:p>
            <a:pPr algn="l">
              <a:lnSpc>
                <a:spcPts val="3640"/>
              </a:lnSpc>
            </a:pPr>
            <a:r>
              <a:rPr lang="en-US" sz="2800">
                <a:solidFill>
                  <a:srgbClr val="FFFAF4"/>
                </a:solidFill>
                <a:latin typeface="Open Sans"/>
                <a:ea typeface="Open Sans"/>
                <a:cs typeface="Open Sans"/>
                <a:sym typeface="Open Sans"/>
              </a:rPr>
              <a:t>Customers with</a:t>
            </a:r>
            <a:r>
              <a:rPr lang="en-US" sz="2800" b="true">
                <a:solidFill>
                  <a:srgbClr val="FFFAF4"/>
                </a:solidFill>
                <a:latin typeface="Open Sans Bold"/>
                <a:ea typeface="Open Sans Bold"/>
                <a:cs typeface="Open Sans Bold"/>
                <a:sym typeface="Open Sans Bold"/>
              </a:rPr>
              <a:t> lower CLTV (≤ 3500) </a:t>
            </a:r>
            <a:r>
              <a:rPr lang="en-US" sz="2800">
                <a:solidFill>
                  <a:srgbClr val="FFFAF4"/>
                </a:solidFill>
                <a:latin typeface="Open Sans"/>
                <a:ea typeface="Open Sans"/>
                <a:cs typeface="Open Sans"/>
                <a:sym typeface="Open Sans"/>
              </a:rPr>
              <a:t>have</a:t>
            </a:r>
            <a:r>
              <a:rPr lang="en-US" sz="2800" b="true">
                <a:solidFill>
                  <a:srgbClr val="FFFAF4"/>
                </a:solidFill>
                <a:latin typeface="Open Sans Bold"/>
                <a:ea typeface="Open Sans Bold"/>
                <a:cs typeface="Open Sans Bold"/>
                <a:sym typeface="Open Sans Bold"/>
              </a:rPr>
              <a:t> higher churn rate than </a:t>
            </a:r>
            <a:r>
              <a:rPr lang="en-US" sz="2800">
                <a:solidFill>
                  <a:srgbClr val="FFFAF4"/>
                </a:solidFill>
                <a:latin typeface="Open Sans"/>
                <a:ea typeface="Open Sans"/>
                <a:cs typeface="Open Sans"/>
                <a:sym typeface="Open Sans"/>
              </a:rPr>
              <a:t>the </a:t>
            </a:r>
            <a:r>
              <a:rPr lang="en-US" sz="2800" b="true">
                <a:solidFill>
                  <a:srgbClr val="FFFAF4"/>
                </a:solidFill>
                <a:latin typeface="Open Sans Bold"/>
                <a:ea typeface="Open Sans Bold"/>
                <a:cs typeface="Open Sans Bold"/>
                <a:sym typeface="Open Sans Bold"/>
              </a:rPr>
              <a:t>above 3500</a:t>
            </a:r>
            <a:r>
              <a:rPr lang="en-US" sz="2800">
                <a:solidFill>
                  <a:srgbClr val="FFFAF4"/>
                </a:solidFill>
                <a:latin typeface="Open Sans"/>
                <a:ea typeface="Open Sans"/>
                <a:cs typeface="Open Sans"/>
                <a:sym typeface="Open Sans"/>
              </a:rPr>
              <a:t> CLTV</a:t>
            </a:r>
          </a:p>
        </p:txBody>
      </p:sp>
      <p:sp>
        <p:nvSpPr>
          <p:cNvPr name="TextBox 5" id="5"/>
          <p:cNvSpPr txBox="true"/>
          <p:nvPr/>
        </p:nvSpPr>
        <p:spPr>
          <a:xfrm rot="0">
            <a:off x="13010793" y="962025"/>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2" action="ppaction://hlinksldjump"/>
              </a:rPr>
              <a:t>Back to Agenda</a:t>
            </a:r>
          </a:p>
        </p:txBody>
      </p:sp>
      <p:grpSp>
        <p:nvGrpSpPr>
          <p:cNvPr name="Group 6" id="6"/>
          <p:cNvGrpSpPr/>
          <p:nvPr/>
        </p:nvGrpSpPr>
        <p:grpSpPr>
          <a:xfrm rot="0">
            <a:off x="9144000" y="2217654"/>
            <a:ext cx="9120748" cy="7855960"/>
            <a:chOff x="0" y="0"/>
            <a:chExt cx="12160997" cy="10474613"/>
          </a:xfrm>
        </p:grpSpPr>
        <p:sp>
          <p:nvSpPr>
            <p:cNvPr name="Freeform 7" id="7"/>
            <p:cNvSpPr/>
            <p:nvPr/>
          </p:nvSpPr>
          <p:spPr>
            <a:xfrm flipH="false" flipV="false" rot="0">
              <a:off x="0" y="0"/>
              <a:ext cx="12160997" cy="10080604"/>
            </a:xfrm>
            <a:custGeom>
              <a:avLst/>
              <a:gdLst/>
              <a:ahLst/>
              <a:cxnLst/>
              <a:rect r="r" b="b" t="t" l="l"/>
              <a:pathLst>
                <a:path h="10080604" w="12160997">
                  <a:moveTo>
                    <a:pt x="0" y="0"/>
                  </a:moveTo>
                  <a:lnTo>
                    <a:pt x="12160997" y="0"/>
                  </a:lnTo>
                  <a:lnTo>
                    <a:pt x="12160997" y="10080604"/>
                  </a:lnTo>
                  <a:lnTo>
                    <a:pt x="0" y="10080604"/>
                  </a:lnTo>
                  <a:lnTo>
                    <a:pt x="0" y="0"/>
                  </a:lnTo>
                  <a:close/>
                </a:path>
              </a:pathLst>
            </a:custGeom>
            <a:blipFill>
              <a:blip r:embed="rId3"/>
              <a:stretch>
                <a:fillRect l="0" t="0" r="0" b="0"/>
              </a:stretch>
            </a:blipFill>
          </p:spPr>
        </p:sp>
        <p:sp>
          <p:nvSpPr>
            <p:cNvPr name="TextBox 8" id="8"/>
            <p:cNvSpPr txBox="true"/>
            <p:nvPr/>
          </p:nvSpPr>
          <p:spPr>
            <a:xfrm rot="0">
              <a:off x="4898979" y="10087901"/>
              <a:ext cx="2919412" cy="386712"/>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FFFFFF"/>
                  </a:solidFill>
                  <a:latin typeface="Canva Sans Bold"/>
                  <a:ea typeface="Canva Sans Bold"/>
                  <a:cs typeface="Canva Sans Bold"/>
                  <a:sym typeface="Canva Sans Bold"/>
                </a:rPr>
                <a:t>CLTV vs Churn Rate</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grpSp>
        <p:nvGrpSpPr>
          <p:cNvPr name="Group 2" id="2"/>
          <p:cNvGrpSpPr/>
          <p:nvPr/>
        </p:nvGrpSpPr>
        <p:grpSpPr>
          <a:xfrm rot="0">
            <a:off x="500627" y="8109374"/>
            <a:ext cx="17432174" cy="2007922"/>
            <a:chOff x="0" y="0"/>
            <a:chExt cx="13151083" cy="1514805"/>
          </a:xfrm>
        </p:grpSpPr>
        <p:sp>
          <p:nvSpPr>
            <p:cNvPr name="Freeform 3" id="3"/>
            <p:cNvSpPr/>
            <p:nvPr/>
          </p:nvSpPr>
          <p:spPr>
            <a:xfrm flipH="false" flipV="false" rot="0">
              <a:off x="0" y="0"/>
              <a:ext cx="13151083" cy="1514805"/>
            </a:xfrm>
            <a:custGeom>
              <a:avLst/>
              <a:gdLst/>
              <a:ahLst/>
              <a:cxnLst/>
              <a:rect r="r" b="b" t="t" l="l"/>
              <a:pathLst>
                <a:path h="1514805" w="13151083">
                  <a:moveTo>
                    <a:pt x="13324" y="0"/>
                  </a:moveTo>
                  <a:lnTo>
                    <a:pt x="13137759" y="0"/>
                  </a:lnTo>
                  <a:cubicBezTo>
                    <a:pt x="13141292" y="0"/>
                    <a:pt x="13144681" y="1404"/>
                    <a:pt x="13147180" y="3902"/>
                  </a:cubicBezTo>
                  <a:cubicBezTo>
                    <a:pt x="13149680" y="6401"/>
                    <a:pt x="13151083" y="9790"/>
                    <a:pt x="13151083" y="13324"/>
                  </a:cubicBezTo>
                  <a:lnTo>
                    <a:pt x="13151083" y="1501482"/>
                  </a:lnTo>
                  <a:cubicBezTo>
                    <a:pt x="13151083" y="1505015"/>
                    <a:pt x="13149680" y="1508404"/>
                    <a:pt x="13147180" y="1510903"/>
                  </a:cubicBezTo>
                  <a:cubicBezTo>
                    <a:pt x="13144681" y="1513402"/>
                    <a:pt x="13141292" y="1514805"/>
                    <a:pt x="13137759" y="1514805"/>
                  </a:cubicBezTo>
                  <a:lnTo>
                    <a:pt x="13324" y="1514805"/>
                  </a:lnTo>
                  <a:cubicBezTo>
                    <a:pt x="9790" y="1514805"/>
                    <a:pt x="6401" y="1513402"/>
                    <a:pt x="3902" y="1510903"/>
                  </a:cubicBezTo>
                  <a:cubicBezTo>
                    <a:pt x="1404" y="1508404"/>
                    <a:pt x="0" y="1505015"/>
                    <a:pt x="0" y="1501482"/>
                  </a:cubicBezTo>
                  <a:lnTo>
                    <a:pt x="0" y="13324"/>
                  </a:lnTo>
                  <a:cubicBezTo>
                    <a:pt x="0" y="9790"/>
                    <a:pt x="1404" y="6401"/>
                    <a:pt x="3902" y="3902"/>
                  </a:cubicBezTo>
                  <a:cubicBezTo>
                    <a:pt x="6401" y="1404"/>
                    <a:pt x="9790" y="0"/>
                    <a:pt x="13324" y="0"/>
                  </a:cubicBezTo>
                  <a:close/>
                </a:path>
              </a:pathLst>
            </a:custGeom>
            <a:solidFill>
              <a:srgbClr val="3F6450"/>
            </a:solidFill>
            <a:ln cap="rnd">
              <a:noFill/>
              <a:prstDash val="sysDot"/>
              <a:round/>
            </a:ln>
          </p:spPr>
        </p:sp>
        <p:sp>
          <p:nvSpPr>
            <p:cNvPr name="TextBox 4" id="4"/>
            <p:cNvSpPr txBox="true"/>
            <p:nvPr/>
          </p:nvSpPr>
          <p:spPr>
            <a:xfrm>
              <a:off x="0" y="-28575"/>
              <a:ext cx="13151083" cy="1543380"/>
            </a:xfrm>
            <a:prstGeom prst="rect">
              <a:avLst/>
            </a:prstGeom>
          </p:spPr>
          <p:txBody>
            <a:bodyPr anchor="ctr" rtlCol="false" tIns="254000" lIns="254000" bIns="254000" rIns="254000"/>
            <a:lstStyle/>
            <a:p>
              <a:pPr algn="l" marL="388620" indent="-194310" lvl="1">
                <a:lnSpc>
                  <a:spcPts val="2520"/>
                </a:lnSpc>
                <a:buFont typeface="Arial"/>
                <a:buChar char="•"/>
              </a:pPr>
              <a:r>
                <a:rPr lang="en-US" b="true" sz="1800">
                  <a:solidFill>
                    <a:srgbClr val="FFFAF4"/>
                  </a:solidFill>
                  <a:latin typeface="Open Sans Bold"/>
                  <a:ea typeface="Open Sans Bold"/>
                  <a:cs typeface="Open Sans Bold"/>
                  <a:sym typeface="Open Sans Bold"/>
                </a:rPr>
                <a:t>San Diego </a:t>
              </a:r>
              <a:r>
                <a:rPr lang="en-US" sz="1800">
                  <a:solidFill>
                    <a:srgbClr val="FFFAF4"/>
                  </a:solidFill>
                  <a:latin typeface="Open Sans"/>
                  <a:ea typeface="Open Sans"/>
                  <a:cs typeface="Open Sans"/>
                  <a:sym typeface="Open Sans"/>
                </a:rPr>
                <a:t>has the</a:t>
              </a:r>
              <a:r>
                <a:rPr lang="en-US" b="true" sz="1800">
                  <a:solidFill>
                    <a:srgbClr val="FFFAF4"/>
                  </a:solidFill>
                  <a:latin typeface="Open Sans Bold"/>
                  <a:ea typeface="Open Sans Bold"/>
                  <a:cs typeface="Open Sans Bold"/>
                  <a:sym typeface="Open Sans Bold"/>
                </a:rPr>
                <a:t> highest churn rate (65%)</a:t>
              </a:r>
            </a:p>
            <a:p>
              <a:pPr algn="l" marL="388620" indent="-194310" lvl="1">
                <a:lnSpc>
                  <a:spcPts val="2520"/>
                </a:lnSpc>
                <a:buFont typeface="Arial"/>
                <a:buChar char="•"/>
              </a:pPr>
              <a:r>
                <a:rPr lang="en-US" b="true" sz="1800">
                  <a:solidFill>
                    <a:srgbClr val="FFFAF4"/>
                  </a:solidFill>
                  <a:latin typeface="Open Sans Bold"/>
                  <a:ea typeface="Open Sans Bold"/>
                  <a:cs typeface="Open Sans Bold"/>
                  <a:sym typeface="Open Sans Bold"/>
                </a:rPr>
                <a:t>Los Angeles </a:t>
              </a:r>
              <a:r>
                <a:rPr lang="en-US" sz="1800">
                  <a:solidFill>
                    <a:srgbClr val="FFFAF4"/>
                  </a:solidFill>
                  <a:latin typeface="Open Sans"/>
                  <a:ea typeface="Open Sans"/>
                  <a:cs typeface="Open Sans"/>
                  <a:sym typeface="Open Sans"/>
                </a:rPr>
                <a:t>has the</a:t>
              </a:r>
              <a:r>
                <a:rPr lang="en-US" b="true" sz="1800">
                  <a:solidFill>
                    <a:srgbClr val="FFFAF4"/>
                  </a:solidFill>
                  <a:latin typeface="Open Sans Bold"/>
                  <a:ea typeface="Open Sans Bold"/>
                  <a:cs typeface="Open Sans Bold"/>
                  <a:sym typeface="Open Sans Bold"/>
                </a:rPr>
                <a:t> highest number of customers, followed by San Diego.</a:t>
              </a:r>
            </a:p>
            <a:p>
              <a:pPr algn="l" marL="388620" indent="-194310" lvl="1">
                <a:lnSpc>
                  <a:spcPts val="2520"/>
                </a:lnSpc>
                <a:buFont typeface="Arial"/>
                <a:buChar char="•"/>
              </a:pPr>
              <a:r>
                <a:rPr lang="en-US" sz="1800">
                  <a:solidFill>
                    <a:srgbClr val="FFFAF4"/>
                  </a:solidFill>
                  <a:latin typeface="Open Sans"/>
                  <a:ea typeface="Open Sans"/>
                  <a:cs typeface="Open Sans"/>
                  <a:sym typeface="Open Sans"/>
                </a:rPr>
                <a:t>All the other cities have a churn rate nearly around the overall churn rate.</a:t>
              </a:r>
            </a:p>
            <a:p>
              <a:pPr algn="l" marL="388620" indent="-194310" lvl="1">
                <a:lnSpc>
                  <a:spcPts val="2520"/>
                </a:lnSpc>
                <a:buFont typeface="Arial"/>
                <a:buChar char="•"/>
              </a:pPr>
              <a:r>
                <a:rPr lang="en-US" sz="1800">
                  <a:solidFill>
                    <a:srgbClr val="FFFAF4"/>
                  </a:solidFill>
                  <a:latin typeface="Open Sans"/>
                  <a:ea typeface="Open Sans"/>
                  <a:cs typeface="Open Sans"/>
                  <a:sym typeface="Open Sans"/>
                </a:rPr>
                <a:t>A competitor has entered these cities where the company has many customers, and already started to offer better devices and offers, which are a major reason for customers to churn in these cities.</a:t>
              </a:r>
            </a:p>
          </p:txBody>
        </p:sp>
      </p:grpSp>
      <p:sp>
        <p:nvSpPr>
          <p:cNvPr name="TextBox 5" id="5"/>
          <p:cNvSpPr txBox="true"/>
          <p:nvPr/>
        </p:nvSpPr>
        <p:spPr>
          <a:xfrm rot="0">
            <a:off x="500627" y="152400"/>
            <a:ext cx="13536271" cy="1219200"/>
          </a:xfrm>
          <a:prstGeom prst="rect">
            <a:avLst/>
          </a:prstGeom>
        </p:spPr>
        <p:txBody>
          <a:bodyPr anchor="t" rtlCol="false" tIns="0" lIns="0" bIns="0" rIns="0">
            <a:spAutoFit/>
          </a:bodyPr>
          <a:lstStyle/>
          <a:p>
            <a:pPr algn="l">
              <a:lnSpc>
                <a:spcPts val="9600"/>
              </a:lnSpc>
            </a:pPr>
            <a:r>
              <a:rPr lang="en-US" sz="8000">
                <a:solidFill>
                  <a:srgbClr val="1C402E"/>
                </a:solidFill>
                <a:latin typeface="Montserrat"/>
                <a:ea typeface="Montserrat"/>
                <a:cs typeface="Montserrat"/>
                <a:sym typeface="Montserrat"/>
              </a:rPr>
              <a:t>Cities vs Customer Churn</a:t>
            </a:r>
          </a:p>
        </p:txBody>
      </p:sp>
      <p:sp>
        <p:nvSpPr>
          <p:cNvPr name="TextBox 6" id="6"/>
          <p:cNvSpPr txBox="true"/>
          <p:nvPr/>
        </p:nvSpPr>
        <p:spPr>
          <a:xfrm rot="0">
            <a:off x="13010793" y="50482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2" action="ppaction://hlinksldjump"/>
              </a:rPr>
              <a:t>Back to Agenda</a:t>
            </a:r>
          </a:p>
        </p:txBody>
      </p:sp>
      <p:grpSp>
        <p:nvGrpSpPr>
          <p:cNvPr name="Group 7" id="7"/>
          <p:cNvGrpSpPr/>
          <p:nvPr/>
        </p:nvGrpSpPr>
        <p:grpSpPr>
          <a:xfrm rot="0">
            <a:off x="0" y="1638300"/>
            <a:ext cx="18288000" cy="6204374"/>
            <a:chOff x="0" y="0"/>
            <a:chExt cx="24384000" cy="8272499"/>
          </a:xfrm>
        </p:grpSpPr>
        <p:sp>
          <p:nvSpPr>
            <p:cNvPr name="AutoShape 8" id="8"/>
            <p:cNvSpPr/>
            <p:nvPr/>
          </p:nvSpPr>
          <p:spPr>
            <a:xfrm rot="0">
              <a:off x="0" y="0"/>
              <a:ext cx="24384000" cy="8272499"/>
            </a:xfrm>
            <a:prstGeom prst="rect">
              <a:avLst/>
            </a:prstGeom>
            <a:solidFill>
              <a:srgbClr val="042A19"/>
            </a:solidFill>
          </p:spPr>
        </p:sp>
        <p:sp>
          <p:nvSpPr>
            <p:cNvPr name="Freeform 9" id="9"/>
            <p:cNvSpPr/>
            <p:nvPr/>
          </p:nvSpPr>
          <p:spPr>
            <a:xfrm flipH="false" flipV="false" rot="0">
              <a:off x="565996" y="422296"/>
              <a:ext cx="11090792" cy="6842485"/>
            </a:xfrm>
            <a:custGeom>
              <a:avLst/>
              <a:gdLst/>
              <a:ahLst/>
              <a:cxnLst/>
              <a:rect r="r" b="b" t="t" l="l"/>
              <a:pathLst>
                <a:path h="6842485" w="11090792">
                  <a:moveTo>
                    <a:pt x="0" y="0"/>
                  </a:moveTo>
                  <a:lnTo>
                    <a:pt x="11090792" y="0"/>
                  </a:lnTo>
                  <a:lnTo>
                    <a:pt x="11090792" y="6842486"/>
                  </a:lnTo>
                  <a:lnTo>
                    <a:pt x="0" y="6842486"/>
                  </a:lnTo>
                  <a:lnTo>
                    <a:pt x="0" y="0"/>
                  </a:lnTo>
                  <a:close/>
                </a:path>
              </a:pathLst>
            </a:custGeom>
            <a:blipFill>
              <a:blip r:embed="rId3"/>
              <a:stretch>
                <a:fillRect l="0" t="0" r="0" b="0"/>
              </a:stretch>
            </a:blipFill>
          </p:spPr>
        </p:sp>
        <p:sp>
          <p:nvSpPr>
            <p:cNvPr name="Freeform 10" id="10"/>
            <p:cNvSpPr/>
            <p:nvPr/>
          </p:nvSpPr>
          <p:spPr>
            <a:xfrm flipH="false" flipV="false" rot="0">
              <a:off x="12511207" y="422296"/>
              <a:ext cx="11399195" cy="6842485"/>
            </a:xfrm>
            <a:custGeom>
              <a:avLst/>
              <a:gdLst/>
              <a:ahLst/>
              <a:cxnLst/>
              <a:rect r="r" b="b" t="t" l="l"/>
              <a:pathLst>
                <a:path h="6842485" w="11399195">
                  <a:moveTo>
                    <a:pt x="0" y="0"/>
                  </a:moveTo>
                  <a:lnTo>
                    <a:pt x="11399195" y="0"/>
                  </a:lnTo>
                  <a:lnTo>
                    <a:pt x="11399195" y="6842486"/>
                  </a:lnTo>
                  <a:lnTo>
                    <a:pt x="0" y="6842486"/>
                  </a:lnTo>
                  <a:lnTo>
                    <a:pt x="0" y="0"/>
                  </a:lnTo>
                  <a:close/>
                </a:path>
              </a:pathLst>
            </a:custGeom>
            <a:blipFill>
              <a:blip r:embed="rId4"/>
              <a:stretch>
                <a:fillRect l="0" t="-11871" r="0" b="-9805"/>
              </a:stretch>
            </a:blipFill>
          </p:spPr>
        </p:sp>
        <p:sp>
          <p:nvSpPr>
            <p:cNvPr name="TextBox 11" id="11"/>
            <p:cNvSpPr txBox="true"/>
            <p:nvPr/>
          </p:nvSpPr>
          <p:spPr>
            <a:xfrm rot="0">
              <a:off x="4951128" y="7580906"/>
              <a:ext cx="2320528" cy="515619"/>
            </a:xfrm>
            <a:prstGeom prst="rect">
              <a:avLst/>
            </a:prstGeom>
          </p:spPr>
          <p:txBody>
            <a:bodyPr anchor="t" rtlCol="false" tIns="0" lIns="0" bIns="0" rIns="0">
              <a:spAutoFit/>
            </a:bodyPr>
            <a:lstStyle/>
            <a:p>
              <a:pPr algn="ctr" marL="0" indent="0" lvl="0">
                <a:lnSpc>
                  <a:spcPts val="3360"/>
                </a:lnSpc>
                <a:spcBef>
                  <a:spcPct val="0"/>
                </a:spcBef>
              </a:pPr>
              <a:r>
                <a:rPr lang="en-US" sz="2400">
                  <a:solidFill>
                    <a:srgbClr val="FFFFFF"/>
                  </a:solidFill>
                  <a:latin typeface="Canva Sans"/>
                  <a:ea typeface="Canva Sans"/>
                  <a:cs typeface="Canva Sans"/>
                  <a:sym typeface="Canva Sans"/>
                </a:rPr>
                <a:t>Los Angeles</a:t>
              </a:r>
            </a:p>
          </p:txBody>
        </p:sp>
        <p:sp>
          <p:nvSpPr>
            <p:cNvPr name="TextBox 12" id="12"/>
            <p:cNvSpPr txBox="true"/>
            <p:nvPr/>
          </p:nvSpPr>
          <p:spPr>
            <a:xfrm rot="0">
              <a:off x="18043485" y="7580906"/>
              <a:ext cx="1952625" cy="515619"/>
            </a:xfrm>
            <a:prstGeom prst="rect">
              <a:avLst/>
            </a:prstGeom>
          </p:spPr>
          <p:txBody>
            <a:bodyPr anchor="t" rtlCol="false" tIns="0" lIns="0" bIns="0" rIns="0">
              <a:spAutoFit/>
            </a:bodyPr>
            <a:lstStyle/>
            <a:p>
              <a:pPr algn="ctr" marL="0" indent="0" lvl="0">
                <a:lnSpc>
                  <a:spcPts val="3360"/>
                </a:lnSpc>
                <a:spcBef>
                  <a:spcPct val="0"/>
                </a:spcBef>
              </a:pPr>
              <a:r>
                <a:rPr lang="en-US" sz="2400">
                  <a:solidFill>
                    <a:srgbClr val="FFFFFF"/>
                  </a:solidFill>
                  <a:latin typeface="Canva Sans"/>
                  <a:ea typeface="Canva Sans"/>
                  <a:cs typeface="Canva Sans"/>
                  <a:sym typeface="Canva Sans"/>
                </a:rPr>
                <a:t>San Diego</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Freeform 2" id="2"/>
          <p:cNvSpPr/>
          <p:nvPr/>
        </p:nvSpPr>
        <p:spPr>
          <a:xfrm flipH="false" flipV="false" rot="0">
            <a:off x="2522314" y="183769"/>
            <a:ext cx="13243371" cy="9481242"/>
          </a:xfrm>
          <a:custGeom>
            <a:avLst/>
            <a:gdLst/>
            <a:ahLst/>
            <a:cxnLst/>
            <a:rect r="r" b="b" t="t" l="l"/>
            <a:pathLst>
              <a:path h="9481242" w="13243371">
                <a:moveTo>
                  <a:pt x="0" y="0"/>
                </a:moveTo>
                <a:lnTo>
                  <a:pt x="13243372" y="0"/>
                </a:lnTo>
                <a:lnTo>
                  <a:pt x="13243372" y="9481241"/>
                </a:lnTo>
                <a:lnTo>
                  <a:pt x="0" y="9481241"/>
                </a:lnTo>
                <a:lnTo>
                  <a:pt x="0" y="0"/>
                </a:lnTo>
                <a:close/>
              </a:path>
            </a:pathLst>
          </a:custGeom>
          <a:blipFill>
            <a:blip r:embed="rId2"/>
            <a:stretch>
              <a:fillRect l="0" t="0" r="0" b="0"/>
            </a:stretch>
          </a:blipFill>
        </p:spPr>
      </p:sp>
      <p:sp>
        <p:nvSpPr>
          <p:cNvPr name="TextBox 3" id="3"/>
          <p:cNvSpPr txBox="true"/>
          <p:nvPr/>
        </p:nvSpPr>
        <p:spPr>
          <a:xfrm rot="0">
            <a:off x="4965151" y="9809137"/>
            <a:ext cx="8357699" cy="304800"/>
          </a:xfrm>
          <a:prstGeom prst="rect">
            <a:avLst/>
          </a:prstGeom>
        </p:spPr>
        <p:txBody>
          <a:bodyPr anchor="t" rtlCol="false" tIns="0" lIns="0" bIns="0" rIns="0">
            <a:spAutoFit/>
          </a:bodyPr>
          <a:lstStyle/>
          <a:p>
            <a:pPr algn="ctr">
              <a:lnSpc>
                <a:spcPts val="2400"/>
              </a:lnSpc>
            </a:pPr>
            <a:r>
              <a:rPr lang="en-US" b="true" sz="2000">
                <a:solidFill>
                  <a:srgbClr val="FFFAF4"/>
                </a:solidFill>
                <a:latin typeface="Montserrat Bold"/>
                <a:ea typeface="Montserrat Bold"/>
                <a:cs typeface="Montserrat Bold"/>
                <a:sym typeface="Montserrat Bold"/>
              </a:rPr>
              <a:t>CLTV </a:t>
            </a:r>
            <a:r>
              <a:rPr lang="en-US" sz="2000">
                <a:solidFill>
                  <a:srgbClr val="FFFAF4"/>
                </a:solidFill>
                <a:latin typeface="Montserrat"/>
                <a:ea typeface="Montserrat"/>
                <a:cs typeface="Montserrat"/>
                <a:sym typeface="Montserrat"/>
              </a:rPr>
              <a:t>vs </a:t>
            </a:r>
            <a:r>
              <a:rPr lang="en-US" b="true" sz="2000">
                <a:solidFill>
                  <a:srgbClr val="FFFAF4"/>
                </a:solidFill>
                <a:latin typeface="Montserrat Bold"/>
                <a:ea typeface="Montserrat Bold"/>
                <a:cs typeface="Montserrat Bold"/>
                <a:sym typeface="Montserrat Bold"/>
              </a:rPr>
              <a:t>City</a:t>
            </a:r>
          </a:p>
        </p:txBody>
      </p:sp>
    </p:spTree>
  </p:cSld>
  <p:clrMapOvr>
    <a:masterClrMapping/>
  </p:clrMapOvr>
  <p:transition spd="slow">
    <p:push dir="l"/>
  </p:transition>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Freeform 2" id="2"/>
          <p:cNvSpPr/>
          <p:nvPr/>
        </p:nvSpPr>
        <p:spPr>
          <a:xfrm flipH="false" flipV="false" rot="0">
            <a:off x="12775176" y="3657206"/>
            <a:ext cx="4484124" cy="4484124"/>
          </a:xfrm>
          <a:custGeom>
            <a:avLst/>
            <a:gdLst/>
            <a:ahLst/>
            <a:cxnLst/>
            <a:rect r="r" b="b" t="t" l="l"/>
            <a:pathLst>
              <a:path h="4484124" w="4484124">
                <a:moveTo>
                  <a:pt x="0" y="0"/>
                </a:moveTo>
                <a:lnTo>
                  <a:pt x="4484124" y="0"/>
                </a:lnTo>
                <a:lnTo>
                  <a:pt x="4484124" y="4484124"/>
                </a:lnTo>
                <a:lnTo>
                  <a:pt x="0" y="44841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71000" y="461962"/>
            <a:ext cx="6520088" cy="1133475"/>
          </a:xfrm>
          <a:prstGeom prst="rect">
            <a:avLst/>
          </a:prstGeom>
        </p:spPr>
        <p:txBody>
          <a:bodyPr anchor="t" rtlCol="false" tIns="0" lIns="0" bIns="0" rIns="0">
            <a:spAutoFit/>
          </a:bodyPr>
          <a:lstStyle/>
          <a:p>
            <a:pPr algn="l">
              <a:lnSpc>
                <a:spcPts val="8999"/>
              </a:lnSpc>
            </a:pPr>
            <a:r>
              <a:rPr lang="en-US" sz="7499">
                <a:solidFill>
                  <a:srgbClr val="FFFAF4"/>
                </a:solidFill>
                <a:latin typeface="Montserrat"/>
                <a:ea typeface="Montserrat"/>
                <a:cs typeface="Montserrat"/>
                <a:sym typeface="Montserrat"/>
              </a:rPr>
              <a:t>Insights?</a:t>
            </a:r>
          </a:p>
        </p:txBody>
      </p:sp>
      <p:sp>
        <p:nvSpPr>
          <p:cNvPr name="TextBox 4" id="4"/>
          <p:cNvSpPr txBox="true"/>
          <p:nvPr/>
        </p:nvSpPr>
        <p:spPr>
          <a:xfrm rot="0">
            <a:off x="1371000" y="3419029"/>
            <a:ext cx="14221380" cy="481207"/>
          </a:xfrm>
          <a:prstGeom prst="rect">
            <a:avLst/>
          </a:prstGeom>
        </p:spPr>
        <p:txBody>
          <a:bodyPr anchor="t" rtlCol="false" tIns="0" lIns="0" bIns="0" rIns="0">
            <a:spAutoFit/>
          </a:bodyPr>
          <a:lstStyle/>
          <a:p>
            <a:pPr algn="l" marL="0" indent="0" lvl="0">
              <a:lnSpc>
                <a:spcPts val="3926"/>
              </a:lnSpc>
              <a:spcBef>
                <a:spcPct val="0"/>
              </a:spcBef>
            </a:pPr>
            <a:r>
              <a:rPr lang="en-US" b="true" sz="2804">
                <a:solidFill>
                  <a:srgbClr val="FFFFFF"/>
                </a:solidFill>
                <a:latin typeface="Canva Sans Bold"/>
                <a:ea typeface="Canva Sans Bold"/>
                <a:cs typeface="Canva Sans Bold"/>
                <a:sym typeface="Canva Sans Bold"/>
              </a:rPr>
              <a:t>Los Angeles </a:t>
            </a:r>
            <a:r>
              <a:rPr lang="en-US" sz="2804">
                <a:solidFill>
                  <a:srgbClr val="FFFFFF"/>
                </a:solidFill>
                <a:latin typeface="Canva Sans"/>
                <a:ea typeface="Canva Sans"/>
                <a:cs typeface="Canva Sans"/>
                <a:sym typeface="Canva Sans"/>
              </a:rPr>
              <a:t>and </a:t>
            </a:r>
            <a:r>
              <a:rPr lang="en-US" b="true" sz="2804">
                <a:solidFill>
                  <a:srgbClr val="FFFFFF"/>
                </a:solidFill>
                <a:latin typeface="Canva Sans Bold"/>
                <a:ea typeface="Canva Sans Bold"/>
                <a:cs typeface="Canva Sans Bold"/>
                <a:sym typeface="Canva Sans Bold"/>
              </a:rPr>
              <a:t>San Diego </a:t>
            </a:r>
            <a:r>
              <a:rPr lang="en-US" sz="2804">
                <a:solidFill>
                  <a:srgbClr val="FFFFFF"/>
                </a:solidFill>
                <a:latin typeface="Canva Sans"/>
                <a:ea typeface="Canva Sans"/>
                <a:cs typeface="Canva Sans"/>
                <a:sym typeface="Canva Sans"/>
              </a:rPr>
              <a:t>has highest overall CLTV (sum) in all cities</a:t>
            </a:r>
          </a:p>
        </p:txBody>
      </p:sp>
      <p:sp>
        <p:nvSpPr>
          <p:cNvPr name="TextBox 5" id="5"/>
          <p:cNvSpPr txBox="true"/>
          <p:nvPr/>
        </p:nvSpPr>
        <p:spPr>
          <a:xfrm rot="0">
            <a:off x="1371000" y="4479101"/>
            <a:ext cx="10225178" cy="2331720"/>
          </a:xfrm>
          <a:prstGeom prst="rect">
            <a:avLst/>
          </a:prstGeom>
        </p:spPr>
        <p:txBody>
          <a:bodyPr anchor="t" rtlCol="false" tIns="0" lIns="0" bIns="0" rIns="0">
            <a:spAutoFit/>
          </a:bodyPr>
          <a:lstStyle/>
          <a:p>
            <a:pPr algn="l" marL="518160" indent="-259080" lvl="1">
              <a:lnSpc>
                <a:spcPts val="3120"/>
              </a:lnSpc>
              <a:buFont typeface="Arial"/>
              <a:buChar char="•"/>
            </a:pPr>
            <a:r>
              <a:rPr lang="en-US" b="true" sz="2400">
                <a:solidFill>
                  <a:srgbClr val="FFFAF4"/>
                </a:solidFill>
                <a:latin typeface="Open Sans Bold"/>
                <a:ea typeface="Open Sans Bold"/>
                <a:cs typeface="Open Sans Bold"/>
                <a:sym typeface="Open Sans Bold"/>
              </a:rPr>
              <a:t>Los Angeles </a:t>
            </a:r>
            <a:r>
              <a:rPr lang="en-US" sz="2400">
                <a:solidFill>
                  <a:srgbClr val="FFFAF4"/>
                </a:solidFill>
                <a:latin typeface="Open Sans"/>
                <a:ea typeface="Open Sans"/>
                <a:cs typeface="Open Sans"/>
                <a:sym typeface="Open Sans"/>
              </a:rPr>
              <a:t>followed</a:t>
            </a:r>
            <a:r>
              <a:rPr lang="en-US" b="true" sz="2400">
                <a:solidFill>
                  <a:srgbClr val="FFFAF4"/>
                </a:solidFill>
                <a:latin typeface="Open Sans Bold"/>
                <a:ea typeface="Open Sans Bold"/>
                <a:cs typeface="Open Sans Bold"/>
                <a:sym typeface="Open Sans Bold"/>
              </a:rPr>
              <a:t> by San Diego, Sacramento, San Jose </a:t>
            </a:r>
            <a:r>
              <a:rPr lang="en-US" sz="2400">
                <a:solidFill>
                  <a:srgbClr val="FFFAF4"/>
                </a:solidFill>
                <a:latin typeface="Open Sans"/>
                <a:ea typeface="Open Sans"/>
                <a:cs typeface="Open Sans"/>
                <a:sym typeface="Open Sans"/>
              </a:rPr>
              <a:t>and </a:t>
            </a:r>
            <a:r>
              <a:rPr lang="en-US" b="true" sz="2400">
                <a:solidFill>
                  <a:srgbClr val="FFFAF4"/>
                </a:solidFill>
                <a:latin typeface="Open Sans Bold"/>
                <a:ea typeface="Open Sans Bold"/>
                <a:cs typeface="Open Sans Bold"/>
                <a:sym typeface="Open Sans Bold"/>
              </a:rPr>
              <a:t>San Francisco, </a:t>
            </a:r>
            <a:r>
              <a:rPr lang="en-US" sz="2400">
                <a:solidFill>
                  <a:srgbClr val="FFFAF4"/>
                </a:solidFill>
                <a:latin typeface="Open Sans"/>
                <a:ea typeface="Open Sans"/>
                <a:cs typeface="Open Sans"/>
                <a:sym typeface="Open Sans"/>
              </a:rPr>
              <a:t>are the</a:t>
            </a:r>
            <a:r>
              <a:rPr lang="en-US" b="true" sz="2400">
                <a:solidFill>
                  <a:srgbClr val="FFFAF4"/>
                </a:solidFill>
                <a:latin typeface="Open Sans Bold"/>
                <a:ea typeface="Open Sans Bold"/>
                <a:cs typeface="Open Sans Bold"/>
                <a:sym typeface="Open Sans Bold"/>
              </a:rPr>
              <a:t> cities </a:t>
            </a:r>
            <a:r>
              <a:rPr lang="en-US" sz="2400">
                <a:solidFill>
                  <a:srgbClr val="FFFAF4"/>
                </a:solidFill>
                <a:latin typeface="Open Sans"/>
                <a:ea typeface="Open Sans"/>
                <a:cs typeface="Open Sans"/>
                <a:sym typeface="Open Sans"/>
              </a:rPr>
              <a:t>where the</a:t>
            </a:r>
            <a:r>
              <a:rPr lang="en-US" b="true" sz="2400">
                <a:solidFill>
                  <a:srgbClr val="FFFAF4"/>
                </a:solidFill>
                <a:latin typeface="Open Sans Bold"/>
                <a:ea typeface="Open Sans Bold"/>
                <a:cs typeface="Open Sans Bold"/>
                <a:sym typeface="Open Sans Bold"/>
              </a:rPr>
              <a:t> highest overall customer value comes from.</a:t>
            </a:r>
          </a:p>
          <a:p>
            <a:pPr algn="l">
              <a:lnSpc>
                <a:spcPts val="3120"/>
              </a:lnSpc>
            </a:pPr>
          </a:p>
          <a:p>
            <a:pPr algn="l" marL="518160" indent="-259080" lvl="1">
              <a:lnSpc>
                <a:spcPts val="3120"/>
              </a:lnSpc>
              <a:buFont typeface="Arial"/>
              <a:buChar char="•"/>
            </a:pPr>
            <a:r>
              <a:rPr lang="en-US" sz="2400">
                <a:solidFill>
                  <a:srgbClr val="FFFAF4"/>
                </a:solidFill>
                <a:latin typeface="Open Sans"/>
                <a:ea typeface="Open Sans"/>
                <a:cs typeface="Open Sans"/>
                <a:sym typeface="Open Sans"/>
              </a:rPr>
              <a:t>Thus, if company decides to make changes and launch their retention campaign, these places would be ideal.</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Freeform 2" id="2"/>
          <p:cNvSpPr/>
          <p:nvPr/>
        </p:nvSpPr>
        <p:spPr>
          <a:xfrm flipH="false" flipV="false" rot="0">
            <a:off x="1472554" y="233693"/>
            <a:ext cx="15342892" cy="9575443"/>
          </a:xfrm>
          <a:custGeom>
            <a:avLst/>
            <a:gdLst/>
            <a:ahLst/>
            <a:cxnLst/>
            <a:rect r="r" b="b" t="t" l="l"/>
            <a:pathLst>
              <a:path h="9575443" w="15342892">
                <a:moveTo>
                  <a:pt x="0" y="0"/>
                </a:moveTo>
                <a:lnTo>
                  <a:pt x="15342892" y="0"/>
                </a:lnTo>
                <a:lnTo>
                  <a:pt x="15342892" y="9575444"/>
                </a:lnTo>
                <a:lnTo>
                  <a:pt x="0" y="9575444"/>
                </a:lnTo>
                <a:lnTo>
                  <a:pt x="0" y="0"/>
                </a:lnTo>
                <a:close/>
              </a:path>
            </a:pathLst>
          </a:custGeom>
          <a:blipFill>
            <a:blip r:embed="rId2"/>
            <a:stretch>
              <a:fillRect l="0" t="0" r="0" b="0"/>
            </a:stretch>
          </a:blipFill>
        </p:spPr>
      </p:sp>
      <p:sp>
        <p:nvSpPr>
          <p:cNvPr name="TextBox 3" id="3"/>
          <p:cNvSpPr txBox="true"/>
          <p:nvPr/>
        </p:nvSpPr>
        <p:spPr>
          <a:xfrm rot="0">
            <a:off x="4965151" y="9809137"/>
            <a:ext cx="8357699" cy="304800"/>
          </a:xfrm>
          <a:prstGeom prst="rect">
            <a:avLst/>
          </a:prstGeom>
        </p:spPr>
        <p:txBody>
          <a:bodyPr anchor="t" rtlCol="false" tIns="0" lIns="0" bIns="0" rIns="0">
            <a:spAutoFit/>
          </a:bodyPr>
          <a:lstStyle/>
          <a:p>
            <a:pPr algn="ctr">
              <a:lnSpc>
                <a:spcPts val="2400"/>
              </a:lnSpc>
            </a:pPr>
            <a:r>
              <a:rPr lang="en-US" b="true" sz="2000">
                <a:solidFill>
                  <a:srgbClr val="FFFAF4"/>
                </a:solidFill>
                <a:latin typeface="Montserrat Bold"/>
                <a:ea typeface="Montserrat Bold"/>
                <a:cs typeface="Montserrat Bold"/>
                <a:sym typeface="Montserrat Bold"/>
              </a:rPr>
              <a:t>Revenue </a:t>
            </a:r>
            <a:r>
              <a:rPr lang="en-US" sz="2000">
                <a:solidFill>
                  <a:srgbClr val="FFFAF4"/>
                </a:solidFill>
                <a:latin typeface="Montserrat"/>
                <a:ea typeface="Montserrat"/>
                <a:cs typeface="Montserrat"/>
                <a:sym typeface="Montserrat"/>
              </a:rPr>
              <a:t>vs </a:t>
            </a:r>
            <a:r>
              <a:rPr lang="en-US" b="true" sz="2000">
                <a:solidFill>
                  <a:srgbClr val="FFFAF4"/>
                </a:solidFill>
                <a:latin typeface="Montserrat Bold"/>
                <a:ea typeface="Montserrat Bold"/>
                <a:cs typeface="Montserrat Bold"/>
                <a:sym typeface="Montserrat Bold"/>
              </a:rPr>
              <a:t>City</a:t>
            </a:r>
          </a:p>
        </p:txBody>
      </p:sp>
    </p:spTree>
  </p:cSld>
  <p:clrMapOvr>
    <a:masterClrMapping/>
  </p:clrMapOvr>
  <p:transition spd="slow">
    <p:push dir="l"/>
  </p:transition>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1C402E"/>
        </a:solidFill>
      </p:bgPr>
    </p:bg>
    <p:spTree>
      <p:nvGrpSpPr>
        <p:cNvPr id="1" name=""/>
        <p:cNvGrpSpPr/>
        <p:nvPr/>
      </p:nvGrpSpPr>
      <p:grpSpPr>
        <a:xfrm>
          <a:off x="0" y="0"/>
          <a:ext cx="0" cy="0"/>
          <a:chOff x="0" y="0"/>
          <a:chExt cx="0" cy="0"/>
        </a:xfrm>
      </p:grpSpPr>
      <p:sp>
        <p:nvSpPr>
          <p:cNvPr name="Freeform 2" id="2"/>
          <p:cNvSpPr/>
          <p:nvPr/>
        </p:nvSpPr>
        <p:spPr>
          <a:xfrm flipH="false" flipV="false" rot="0">
            <a:off x="12775176" y="3657206"/>
            <a:ext cx="4484124" cy="4484124"/>
          </a:xfrm>
          <a:custGeom>
            <a:avLst/>
            <a:gdLst/>
            <a:ahLst/>
            <a:cxnLst/>
            <a:rect r="r" b="b" t="t" l="l"/>
            <a:pathLst>
              <a:path h="4484124" w="4484124">
                <a:moveTo>
                  <a:pt x="0" y="0"/>
                </a:moveTo>
                <a:lnTo>
                  <a:pt x="4484124" y="0"/>
                </a:lnTo>
                <a:lnTo>
                  <a:pt x="4484124" y="4484124"/>
                </a:lnTo>
                <a:lnTo>
                  <a:pt x="0" y="44841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71000" y="461962"/>
            <a:ext cx="6520088" cy="1133475"/>
          </a:xfrm>
          <a:prstGeom prst="rect">
            <a:avLst/>
          </a:prstGeom>
        </p:spPr>
        <p:txBody>
          <a:bodyPr anchor="t" rtlCol="false" tIns="0" lIns="0" bIns="0" rIns="0">
            <a:spAutoFit/>
          </a:bodyPr>
          <a:lstStyle/>
          <a:p>
            <a:pPr algn="l">
              <a:lnSpc>
                <a:spcPts val="8999"/>
              </a:lnSpc>
            </a:pPr>
            <a:r>
              <a:rPr lang="en-US" sz="7499">
                <a:solidFill>
                  <a:srgbClr val="FFFAF4"/>
                </a:solidFill>
                <a:latin typeface="Montserrat"/>
                <a:ea typeface="Montserrat"/>
                <a:cs typeface="Montserrat"/>
                <a:sym typeface="Montserrat"/>
              </a:rPr>
              <a:t>Insights?</a:t>
            </a:r>
          </a:p>
        </p:txBody>
      </p:sp>
      <p:sp>
        <p:nvSpPr>
          <p:cNvPr name="TextBox 4" id="4"/>
          <p:cNvSpPr txBox="true"/>
          <p:nvPr/>
        </p:nvSpPr>
        <p:spPr>
          <a:xfrm rot="0">
            <a:off x="1371000" y="3419029"/>
            <a:ext cx="14221380" cy="481207"/>
          </a:xfrm>
          <a:prstGeom prst="rect">
            <a:avLst/>
          </a:prstGeom>
        </p:spPr>
        <p:txBody>
          <a:bodyPr anchor="t" rtlCol="false" tIns="0" lIns="0" bIns="0" rIns="0">
            <a:spAutoFit/>
          </a:bodyPr>
          <a:lstStyle/>
          <a:p>
            <a:pPr algn="l" marL="0" indent="0" lvl="0">
              <a:lnSpc>
                <a:spcPts val="3926"/>
              </a:lnSpc>
              <a:spcBef>
                <a:spcPct val="0"/>
              </a:spcBef>
            </a:pPr>
            <a:r>
              <a:rPr lang="en-US" b="true" sz="2804">
                <a:solidFill>
                  <a:srgbClr val="FFFFFF"/>
                </a:solidFill>
                <a:latin typeface="Canva Sans Bold"/>
                <a:ea typeface="Canva Sans Bold"/>
                <a:cs typeface="Canva Sans Bold"/>
                <a:sym typeface="Canva Sans Bold"/>
              </a:rPr>
              <a:t>Los Angeles </a:t>
            </a:r>
            <a:r>
              <a:rPr lang="en-US" sz="2804">
                <a:solidFill>
                  <a:srgbClr val="FFFFFF"/>
                </a:solidFill>
                <a:latin typeface="Canva Sans"/>
                <a:ea typeface="Canva Sans"/>
                <a:cs typeface="Canva Sans"/>
                <a:sym typeface="Canva Sans"/>
              </a:rPr>
              <a:t>and</a:t>
            </a:r>
            <a:r>
              <a:rPr lang="en-US" b="true" sz="2804">
                <a:solidFill>
                  <a:srgbClr val="FFFFFF"/>
                </a:solidFill>
                <a:latin typeface="Canva Sans Bold"/>
                <a:ea typeface="Canva Sans Bold"/>
                <a:cs typeface="Canva Sans Bold"/>
                <a:sym typeface="Canva Sans Bold"/>
              </a:rPr>
              <a:t> San Diego </a:t>
            </a:r>
            <a:r>
              <a:rPr lang="en-US" sz="2804">
                <a:solidFill>
                  <a:srgbClr val="FFFFFF"/>
                </a:solidFill>
                <a:latin typeface="Canva Sans"/>
                <a:ea typeface="Canva Sans"/>
                <a:cs typeface="Canva Sans"/>
                <a:sym typeface="Canva Sans"/>
              </a:rPr>
              <a:t>has </a:t>
            </a:r>
            <a:r>
              <a:rPr lang="en-US" b="true" sz="2804">
                <a:solidFill>
                  <a:srgbClr val="FFFFFF"/>
                </a:solidFill>
                <a:latin typeface="Canva Sans Bold"/>
                <a:ea typeface="Canva Sans Bold"/>
                <a:cs typeface="Canva Sans Bold"/>
                <a:sym typeface="Canva Sans Bold"/>
              </a:rPr>
              <a:t>highest overall revenue </a:t>
            </a:r>
            <a:r>
              <a:rPr lang="en-US" sz="2804">
                <a:solidFill>
                  <a:srgbClr val="FFFFFF"/>
                </a:solidFill>
                <a:latin typeface="Canva Sans"/>
                <a:ea typeface="Canva Sans"/>
                <a:cs typeface="Canva Sans"/>
                <a:sym typeface="Canva Sans"/>
              </a:rPr>
              <a:t>in all cities</a:t>
            </a:r>
          </a:p>
        </p:txBody>
      </p:sp>
      <p:sp>
        <p:nvSpPr>
          <p:cNvPr name="TextBox 5" id="5"/>
          <p:cNvSpPr txBox="true"/>
          <p:nvPr/>
        </p:nvSpPr>
        <p:spPr>
          <a:xfrm rot="0">
            <a:off x="1371000" y="4479101"/>
            <a:ext cx="10225178" cy="2331720"/>
          </a:xfrm>
          <a:prstGeom prst="rect">
            <a:avLst/>
          </a:prstGeom>
        </p:spPr>
        <p:txBody>
          <a:bodyPr anchor="t" rtlCol="false" tIns="0" lIns="0" bIns="0" rIns="0">
            <a:spAutoFit/>
          </a:bodyPr>
          <a:lstStyle/>
          <a:p>
            <a:pPr algn="l" marL="518160" indent="-259080" lvl="1">
              <a:lnSpc>
                <a:spcPts val="3120"/>
              </a:lnSpc>
              <a:buFont typeface="Arial"/>
              <a:buChar char="•"/>
            </a:pPr>
            <a:r>
              <a:rPr lang="en-US" b="true" sz="2400">
                <a:solidFill>
                  <a:srgbClr val="FFFAF4"/>
                </a:solidFill>
                <a:latin typeface="Open Sans Bold"/>
                <a:ea typeface="Open Sans Bold"/>
                <a:cs typeface="Open Sans Bold"/>
                <a:sym typeface="Open Sans Bold"/>
              </a:rPr>
              <a:t>Los Angeles </a:t>
            </a:r>
            <a:r>
              <a:rPr lang="en-US" sz="2400">
                <a:solidFill>
                  <a:srgbClr val="FFFAF4"/>
                </a:solidFill>
                <a:latin typeface="Open Sans"/>
                <a:ea typeface="Open Sans"/>
                <a:cs typeface="Open Sans"/>
                <a:sym typeface="Open Sans"/>
              </a:rPr>
              <a:t>followed by</a:t>
            </a:r>
            <a:r>
              <a:rPr lang="en-US" b="true" sz="2400">
                <a:solidFill>
                  <a:srgbClr val="FFFAF4"/>
                </a:solidFill>
                <a:latin typeface="Open Sans Bold"/>
                <a:ea typeface="Open Sans Bold"/>
                <a:cs typeface="Open Sans Bold"/>
                <a:sym typeface="Open Sans Bold"/>
              </a:rPr>
              <a:t> San Diego, Sacramento, San Jose </a:t>
            </a:r>
            <a:r>
              <a:rPr lang="en-US" sz="2400">
                <a:solidFill>
                  <a:srgbClr val="FFFAF4"/>
                </a:solidFill>
                <a:latin typeface="Open Sans"/>
                <a:ea typeface="Open Sans"/>
                <a:cs typeface="Open Sans"/>
                <a:sym typeface="Open Sans"/>
              </a:rPr>
              <a:t>and </a:t>
            </a:r>
            <a:r>
              <a:rPr lang="en-US" b="true" sz="2400">
                <a:solidFill>
                  <a:srgbClr val="FFFAF4"/>
                </a:solidFill>
                <a:latin typeface="Open Sans Bold"/>
                <a:ea typeface="Open Sans Bold"/>
                <a:cs typeface="Open Sans Bold"/>
                <a:sym typeface="Open Sans Bold"/>
              </a:rPr>
              <a:t>San Francisco, </a:t>
            </a:r>
            <a:r>
              <a:rPr lang="en-US" sz="2400">
                <a:solidFill>
                  <a:srgbClr val="FFFAF4"/>
                </a:solidFill>
                <a:latin typeface="Open Sans"/>
                <a:ea typeface="Open Sans"/>
                <a:cs typeface="Open Sans"/>
                <a:sym typeface="Open Sans"/>
              </a:rPr>
              <a:t>are the cities where</a:t>
            </a:r>
            <a:r>
              <a:rPr lang="en-US" b="true" sz="2400">
                <a:solidFill>
                  <a:srgbClr val="FFFAF4"/>
                </a:solidFill>
                <a:latin typeface="Open Sans Bold"/>
                <a:ea typeface="Open Sans Bold"/>
                <a:cs typeface="Open Sans Bold"/>
                <a:sym typeface="Open Sans Bold"/>
              </a:rPr>
              <a:t> the highest overall revenue </a:t>
            </a:r>
            <a:r>
              <a:rPr lang="en-US" sz="2400">
                <a:solidFill>
                  <a:srgbClr val="FFFAF4"/>
                </a:solidFill>
                <a:latin typeface="Open Sans"/>
                <a:ea typeface="Open Sans"/>
                <a:cs typeface="Open Sans"/>
                <a:sym typeface="Open Sans"/>
              </a:rPr>
              <a:t>comes</a:t>
            </a:r>
            <a:r>
              <a:rPr lang="en-US" b="true" sz="2400">
                <a:solidFill>
                  <a:srgbClr val="FFFAF4"/>
                </a:solidFill>
                <a:latin typeface="Open Sans Bold"/>
                <a:ea typeface="Open Sans Bold"/>
                <a:cs typeface="Open Sans Bold"/>
                <a:sym typeface="Open Sans Bold"/>
              </a:rPr>
              <a:t> from.</a:t>
            </a:r>
          </a:p>
          <a:p>
            <a:pPr algn="l">
              <a:lnSpc>
                <a:spcPts val="3120"/>
              </a:lnSpc>
            </a:pPr>
          </a:p>
          <a:p>
            <a:pPr algn="l" marL="518160" indent="-259080" lvl="1">
              <a:lnSpc>
                <a:spcPts val="3120"/>
              </a:lnSpc>
              <a:buFont typeface="Arial"/>
              <a:buChar char="•"/>
            </a:pPr>
            <a:r>
              <a:rPr lang="en-US" sz="2400">
                <a:solidFill>
                  <a:srgbClr val="FFFAF4"/>
                </a:solidFill>
                <a:latin typeface="Open Sans"/>
                <a:ea typeface="Open Sans"/>
                <a:cs typeface="Open Sans"/>
                <a:sym typeface="Open Sans"/>
              </a:rPr>
              <a:t>Also, </a:t>
            </a:r>
            <a:r>
              <a:rPr lang="en-US" b="true" sz="2400">
                <a:solidFill>
                  <a:srgbClr val="FFFAF4"/>
                </a:solidFill>
                <a:latin typeface="Open Sans Bold"/>
                <a:ea typeface="Open Sans Bold"/>
                <a:cs typeface="Open Sans Bold"/>
                <a:sym typeface="Open Sans Bold"/>
              </a:rPr>
              <a:t>areas around LA and San Diego</a:t>
            </a:r>
            <a:r>
              <a:rPr lang="en-US" sz="2400">
                <a:solidFill>
                  <a:srgbClr val="FFFAF4"/>
                </a:solidFill>
                <a:latin typeface="Open Sans"/>
                <a:ea typeface="Open Sans"/>
                <a:cs typeface="Open Sans"/>
                <a:sym typeface="Open Sans"/>
              </a:rPr>
              <a:t> are </a:t>
            </a:r>
            <a:r>
              <a:rPr lang="en-US" b="true" sz="2400">
                <a:solidFill>
                  <a:srgbClr val="FFFAF4"/>
                </a:solidFill>
                <a:latin typeface="Open Sans Bold"/>
                <a:ea typeface="Open Sans Bold"/>
                <a:cs typeface="Open Sans Bold"/>
                <a:sym typeface="Open Sans Bold"/>
              </a:rPr>
              <a:t>high revenue areas</a:t>
            </a:r>
            <a:r>
              <a:rPr lang="en-US" sz="2400">
                <a:solidFill>
                  <a:srgbClr val="FFFAF4"/>
                </a:solidFill>
                <a:latin typeface="Open Sans"/>
                <a:ea typeface="Open Sans"/>
                <a:cs typeface="Open Sans"/>
                <a:sym typeface="Open Sans"/>
              </a:rPr>
              <a:t>, so campaigning must be done in these areas first.</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TextBox 2" id="2"/>
          <p:cNvSpPr txBox="true"/>
          <p:nvPr/>
        </p:nvSpPr>
        <p:spPr>
          <a:xfrm rot="0">
            <a:off x="3042431" y="687705"/>
            <a:ext cx="11203370" cy="1371600"/>
          </a:xfrm>
          <a:prstGeom prst="rect">
            <a:avLst/>
          </a:prstGeom>
        </p:spPr>
        <p:txBody>
          <a:bodyPr anchor="t" rtlCol="false" tIns="0" lIns="0" bIns="0" rIns="0">
            <a:spAutoFit/>
          </a:bodyPr>
          <a:lstStyle/>
          <a:p>
            <a:pPr algn="l">
              <a:lnSpc>
                <a:spcPts val="10800"/>
              </a:lnSpc>
            </a:pPr>
            <a:r>
              <a:rPr lang="en-US" sz="9000">
                <a:solidFill>
                  <a:srgbClr val="1C402E"/>
                </a:solidFill>
                <a:latin typeface="Montserrat"/>
                <a:ea typeface="Montserrat"/>
                <a:cs typeface="Montserrat"/>
                <a:sym typeface="Montserrat"/>
              </a:rPr>
              <a:t>Recommendations</a:t>
            </a:r>
          </a:p>
        </p:txBody>
      </p:sp>
      <p:sp>
        <p:nvSpPr>
          <p:cNvPr name="TextBox 3" id="3"/>
          <p:cNvSpPr txBox="true"/>
          <p:nvPr/>
        </p:nvSpPr>
        <p:spPr>
          <a:xfrm rot="0">
            <a:off x="13010793" y="93154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2" action="ppaction://hlinksldjump"/>
              </a:rPr>
              <a:t>Back to Agenda</a:t>
            </a:r>
          </a:p>
        </p:txBody>
      </p:sp>
      <p:grpSp>
        <p:nvGrpSpPr>
          <p:cNvPr name="Group 4" id="4"/>
          <p:cNvGrpSpPr/>
          <p:nvPr/>
        </p:nvGrpSpPr>
        <p:grpSpPr>
          <a:xfrm rot="0">
            <a:off x="1476207" y="2809587"/>
            <a:ext cx="7083048" cy="1776095"/>
            <a:chOff x="0" y="0"/>
            <a:chExt cx="9444065" cy="2368126"/>
          </a:xfrm>
        </p:grpSpPr>
        <p:sp>
          <p:nvSpPr>
            <p:cNvPr name="Freeform 5" id="5"/>
            <p:cNvSpPr/>
            <p:nvPr/>
          </p:nvSpPr>
          <p:spPr>
            <a:xfrm flipH="false" flipV="false" rot="0">
              <a:off x="0" y="219710"/>
              <a:ext cx="1012897" cy="876617"/>
            </a:xfrm>
            <a:custGeom>
              <a:avLst/>
              <a:gdLst/>
              <a:ahLst/>
              <a:cxnLst/>
              <a:rect r="r" b="b" t="t" l="l"/>
              <a:pathLst>
                <a:path h="876617" w="1012897">
                  <a:moveTo>
                    <a:pt x="0" y="0"/>
                  </a:moveTo>
                  <a:lnTo>
                    <a:pt x="1012897" y="0"/>
                  </a:lnTo>
                  <a:lnTo>
                    <a:pt x="1012897" y="876617"/>
                  </a:lnTo>
                  <a:lnTo>
                    <a:pt x="0" y="876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401402" y="-19050"/>
              <a:ext cx="8042662" cy="2387176"/>
            </a:xfrm>
            <a:prstGeom prst="rect">
              <a:avLst/>
            </a:prstGeom>
          </p:spPr>
          <p:txBody>
            <a:bodyPr anchor="t" rtlCol="false" tIns="0" lIns="0" bIns="0" rIns="0">
              <a:spAutoFit/>
            </a:bodyPr>
            <a:lstStyle/>
            <a:p>
              <a:pPr algn="l">
                <a:lnSpc>
                  <a:spcPts val="3120"/>
                </a:lnSpc>
              </a:pPr>
              <a:r>
                <a:rPr lang="en-US" sz="2400" b="true">
                  <a:solidFill>
                    <a:srgbClr val="1C402E"/>
                  </a:solidFill>
                  <a:latin typeface="Open Sans Bold"/>
                  <a:ea typeface="Open Sans Bold"/>
                  <a:cs typeface="Open Sans Bold"/>
                  <a:sym typeface="Open Sans Bold"/>
                </a:rPr>
                <a:t>Better Offers and Devices</a:t>
              </a:r>
            </a:p>
            <a:p>
              <a:pPr algn="l">
                <a:lnSpc>
                  <a:spcPts val="2340"/>
                </a:lnSpc>
              </a:pPr>
              <a:r>
                <a:rPr lang="en-US" sz="1800">
                  <a:solidFill>
                    <a:srgbClr val="1C402E"/>
                  </a:solidFill>
                  <a:latin typeface="Open Sans"/>
                  <a:ea typeface="Open Sans"/>
                  <a:cs typeface="Open Sans"/>
                  <a:sym typeface="Open Sans"/>
                </a:rPr>
                <a:t>Co</a:t>
              </a:r>
              <a:r>
                <a:rPr lang="en-US" sz="1800">
                  <a:solidFill>
                    <a:srgbClr val="1C402E"/>
                  </a:solidFill>
                  <a:latin typeface="Open Sans"/>
                  <a:ea typeface="Open Sans"/>
                  <a:cs typeface="Open Sans"/>
                  <a:sym typeface="Open Sans"/>
                </a:rPr>
                <a:t>nduct market research to understand competitors’ offerings and devices. Introduce competitive pricing, better data plans, and technologically advanced devices to match or surpass competitors’ offerings.</a:t>
              </a:r>
            </a:p>
            <a:p>
              <a:pPr algn="l">
                <a:lnSpc>
                  <a:spcPts val="1820"/>
                </a:lnSpc>
              </a:pPr>
            </a:p>
          </p:txBody>
        </p:sp>
      </p:grpSp>
      <p:grpSp>
        <p:nvGrpSpPr>
          <p:cNvPr name="Group 7" id="7"/>
          <p:cNvGrpSpPr/>
          <p:nvPr/>
        </p:nvGrpSpPr>
        <p:grpSpPr>
          <a:xfrm rot="0">
            <a:off x="239178" y="812854"/>
            <a:ext cx="2803253" cy="1121301"/>
            <a:chOff x="0" y="0"/>
            <a:chExt cx="3737670" cy="1495068"/>
          </a:xfrm>
        </p:grpSpPr>
        <p:sp>
          <p:nvSpPr>
            <p:cNvPr name="Freeform 8" id="8"/>
            <p:cNvSpPr/>
            <p:nvPr/>
          </p:nvSpPr>
          <p:spPr>
            <a:xfrm flipH="false" flipV="false" rot="0">
              <a:off x="0" y="0"/>
              <a:ext cx="3737670" cy="1495068"/>
            </a:xfrm>
            <a:custGeom>
              <a:avLst/>
              <a:gdLst/>
              <a:ahLst/>
              <a:cxnLst/>
              <a:rect r="r" b="b" t="t" l="l"/>
              <a:pathLst>
                <a:path h="1495068" w="3737670">
                  <a:moveTo>
                    <a:pt x="0" y="0"/>
                  </a:moveTo>
                  <a:lnTo>
                    <a:pt x="3737670" y="0"/>
                  </a:lnTo>
                  <a:lnTo>
                    <a:pt x="3737670" y="1495068"/>
                  </a:lnTo>
                  <a:lnTo>
                    <a:pt x="0" y="14950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03200" y="141208"/>
              <a:ext cx="1726962" cy="1330325"/>
            </a:xfrm>
            <a:prstGeom prst="rect">
              <a:avLst/>
            </a:prstGeom>
          </p:spPr>
          <p:txBody>
            <a:bodyPr anchor="t" rtlCol="false" tIns="0" lIns="0" bIns="0" rIns="0">
              <a:spAutoFit/>
            </a:bodyPr>
            <a:lstStyle/>
            <a:p>
              <a:pPr algn="l" marL="0" indent="0" lvl="0">
                <a:lnSpc>
                  <a:spcPts val="7800"/>
                </a:lnSpc>
                <a:spcBef>
                  <a:spcPct val="0"/>
                </a:spcBef>
              </a:pPr>
              <a:r>
                <a:rPr lang="en-US" sz="6500">
                  <a:solidFill>
                    <a:srgbClr val="FFFAF4"/>
                  </a:solidFill>
                  <a:latin typeface="Montserrat"/>
                  <a:ea typeface="Montserrat"/>
                  <a:cs typeface="Montserrat"/>
                  <a:sym typeface="Montserrat"/>
                </a:rPr>
                <a:t>03</a:t>
              </a:r>
            </a:p>
          </p:txBody>
        </p:sp>
      </p:grpSp>
      <p:grpSp>
        <p:nvGrpSpPr>
          <p:cNvPr name="Group 10" id="10"/>
          <p:cNvGrpSpPr/>
          <p:nvPr/>
        </p:nvGrpSpPr>
        <p:grpSpPr>
          <a:xfrm rot="0">
            <a:off x="1476207" y="4847686"/>
            <a:ext cx="7083048" cy="1544955"/>
            <a:chOff x="0" y="0"/>
            <a:chExt cx="9444065" cy="2059940"/>
          </a:xfrm>
        </p:grpSpPr>
        <p:sp>
          <p:nvSpPr>
            <p:cNvPr name="Freeform 11" id="11"/>
            <p:cNvSpPr/>
            <p:nvPr/>
          </p:nvSpPr>
          <p:spPr>
            <a:xfrm flipH="false" flipV="false" rot="0">
              <a:off x="0" y="219710"/>
              <a:ext cx="1012897" cy="876617"/>
            </a:xfrm>
            <a:custGeom>
              <a:avLst/>
              <a:gdLst/>
              <a:ahLst/>
              <a:cxnLst/>
              <a:rect r="r" b="b" t="t" l="l"/>
              <a:pathLst>
                <a:path h="876617" w="1012897">
                  <a:moveTo>
                    <a:pt x="0" y="0"/>
                  </a:moveTo>
                  <a:lnTo>
                    <a:pt x="1012897" y="0"/>
                  </a:lnTo>
                  <a:lnTo>
                    <a:pt x="1012897" y="876617"/>
                  </a:lnTo>
                  <a:lnTo>
                    <a:pt x="0" y="876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401402" y="-19050"/>
              <a:ext cx="8042662" cy="2078990"/>
            </a:xfrm>
            <a:prstGeom prst="rect">
              <a:avLst/>
            </a:prstGeom>
          </p:spPr>
          <p:txBody>
            <a:bodyPr anchor="t" rtlCol="false" tIns="0" lIns="0" bIns="0" rIns="0">
              <a:spAutoFit/>
            </a:bodyPr>
            <a:lstStyle/>
            <a:p>
              <a:pPr algn="l">
                <a:lnSpc>
                  <a:spcPts val="3120"/>
                </a:lnSpc>
              </a:pPr>
              <a:r>
                <a:rPr lang="en-US" sz="2400" b="true">
                  <a:solidFill>
                    <a:srgbClr val="1C402E"/>
                  </a:solidFill>
                  <a:latin typeface="Open Sans Bold"/>
                  <a:ea typeface="Open Sans Bold"/>
                  <a:cs typeface="Open Sans Bold"/>
                  <a:sym typeface="Open Sans Bold"/>
                </a:rPr>
                <a:t>Attitude Issues</a:t>
              </a:r>
            </a:p>
            <a:p>
              <a:pPr algn="l">
                <a:lnSpc>
                  <a:spcPts val="2340"/>
                </a:lnSpc>
              </a:pPr>
              <a:r>
                <a:rPr lang="en-US" sz="1800">
                  <a:solidFill>
                    <a:srgbClr val="1C402E"/>
                  </a:solidFill>
                  <a:latin typeface="Open Sans"/>
                  <a:ea typeface="Open Sans"/>
                  <a:cs typeface="Open Sans"/>
                  <a:sym typeface="Open Sans"/>
                </a:rPr>
                <a:t>Invest in training programs for customer support representatives to improve their attitude and interaction quality with customers. Implement regular feedback mechanisms to monitor and enhance service quality.</a:t>
              </a:r>
            </a:p>
          </p:txBody>
        </p:sp>
      </p:grpSp>
      <p:grpSp>
        <p:nvGrpSpPr>
          <p:cNvPr name="Group 13" id="13"/>
          <p:cNvGrpSpPr/>
          <p:nvPr/>
        </p:nvGrpSpPr>
        <p:grpSpPr>
          <a:xfrm rot="0">
            <a:off x="1476207" y="6887941"/>
            <a:ext cx="7083048" cy="1544955"/>
            <a:chOff x="0" y="0"/>
            <a:chExt cx="9444065" cy="2059940"/>
          </a:xfrm>
        </p:grpSpPr>
        <p:sp>
          <p:nvSpPr>
            <p:cNvPr name="Freeform 14" id="14"/>
            <p:cNvSpPr/>
            <p:nvPr/>
          </p:nvSpPr>
          <p:spPr>
            <a:xfrm flipH="false" flipV="false" rot="0">
              <a:off x="0" y="219710"/>
              <a:ext cx="1012897" cy="876617"/>
            </a:xfrm>
            <a:custGeom>
              <a:avLst/>
              <a:gdLst/>
              <a:ahLst/>
              <a:cxnLst/>
              <a:rect r="r" b="b" t="t" l="l"/>
              <a:pathLst>
                <a:path h="876617" w="1012897">
                  <a:moveTo>
                    <a:pt x="0" y="0"/>
                  </a:moveTo>
                  <a:lnTo>
                    <a:pt x="1012897" y="0"/>
                  </a:lnTo>
                  <a:lnTo>
                    <a:pt x="1012897" y="876617"/>
                  </a:lnTo>
                  <a:lnTo>
                    <a:pt x="0" y="876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401402" y="-19050"/>
              <a:ext cx="8042662" cy="2078990"/>
            </a:xfrm>
            <a:prstGeom prst="rect">
              <a:avLst/>
            </a:prstGeom>
          </p:spPr>
          <p:txBody>
            <a:bodyPr anchor="t" rtlCol="false" tIns="0" lIns="0" bIns="0" rIns="0">
              <a:spAutoFit/>
            </a:bodyPr>
            <a:lstStyle/>
            <a:p>
              <a:pPr algn="l">
                <a:lnSpc>
                  <a:spcPts val="3120"/>
                </a:lnSpc>
              </a:pPr>
              <a:r>
                <a:rPr lang="en-US" sz="2400" b="true">
                  <a:solidFill>
                    <a:srgbClr val="1C402E"/>
                  </a:solidFill>
                  <a:latin typeface="Open Sans Bold"/>
                  <a:ea typeface="Open Sans Bold"/>
                  <a:cs typeface="Open Sans Bold"/>
                  <a:sym typeface="Open Sans Bold"/>
                </a:rPr>
                <a:t>Senior-Friendly Services</a:t>
              </a:r>
            </a:p>
            <a:p>
              <a:pPr algn="l">
                <a:lnSpc>
                  <a:spcPts val="2340"/>
                </a:lnSpc>
              </a:pPr>
              <a:r>
                <a:rPr lang="en-US" sz="1800">
                  <a:solidFill>
                    <a:srgbClr val="1C402E"/>
                  </a:solidFill>
                  <a:latin typeface="Open Sans"/>
                  <a:ea typeface="Open Sans"/>
                  <a:cs typeface="Open Sans"/>
                  <a:sym typeface="Open Sans"/>
                </a:rPr>
                <a:t>Design and promote services that cater specifically to the needs of senior customers, such as simplified plans, senior discounts, and dedicated customer support for seniors.</a:t>
              </a:r>
            </a:p>
          </p:txBody>
        </p:sp>
      </p:grpSp>
      <p:grpSp>
        <p:nvGrpSpPr>
          <p:cNvPr name="Group 16" id="16"/>
          <p:cNvGrpSpPr/>
          <p:nvPr/>
        </p:nvGrpSpPr>
        <p:grpSpPr>
          <a:xfrm rot="0">
            <a:off x="9728745" y="2809587"/>
            <a:ext cx="7083048" cy="1544955"/>
            <a:chOff x="0" y="0"/>
            <a:chExt cx="9444065" cy="2059940"/>
          </a:xfrm>
        </p:grpSpPr>
        <p:sp>
          <p:nvSpPr>
            <p:cNvPr name="Freeform 17" id="17"/>
            <p:cNvSpPr/>
            <p:nvPr/>
          </p:nvSpPr>
          <p:spPr>
            <a:xfrm flipH="false" flipV="false" rot="0">
              <a:off x="0" y="219710"/>
              <a:ext cx="1012897" cy="876617"/>
            </a:xfrm>
            <a:custGeom>
              <a:avLst/>
              <a:gdLst/>
              <a:ahLst/>
              <a:cxnLst/>
              <a:rect r="r" b="b" t="t" l="l"/>
              <a:pathLst>
                <a:path h="876617" w="1012897">
                  <a:moveTo>
                    <a:pt x="0" y="0"/>
                  </a:moveTo>
                  <a:lnTo>
                    <a:pt x="1012897" y="0"/>
                  </a:lnTo>
                  <a:lnTo>
                    <a:pt x="1012897" y="876617"/>
                  </a:lnTo>
                  <a:lnTo>
                    <a:pt x="0" y="876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8" id="18"/>
            <p:cNvSpPr txBox="true"/>
            <p:nvPr/>
          </p:nvSpPr>
          <p:spPr>
            <a:xfrm rot="0">
              <a:off x="1401402" y="-19050"/>
              <a:ext cx="8042662" cy="2078990"/>
            </a:xfrm>
            <a:prstGeom prst="rect">
              <a:avLst/>
            </a:prstGeom>
          </p:spPr>
          <p:txBody>
            <a:bodyPr anchor="t" rtlCol="false" tIns="0" lIns="0" bIns="0" rIns="0">
              <a:spAutoFit/>
            </a:bodyPr>
            <a:lstStyle/>
            <a:p>
              <a:pPr algn="l">
                <a:lnSpc>
                  <a:spcPts val="3120"/>
                </a:lnSpc>
              </a:pPr>
              <a:r>
                <a:rPr lang="en-US" sz="2400" b="true">
                  <a:solidFill>
                    <a:srgbClr val="1C402E"/>
                  </a:solidFill>
                  <a:latin typeface="Open Sans Bold"/>
                  <a:ea typeface="Open Sans Bold"/>
                  <a:cs typeface="Open Sans Bold"/>
                  <a:sym typeface="Open Sans Bold"/>
                </a:rPr>
                <a:t>Enhance Streaming Quality</a:t>
              </a:r>
            </a:p>
            <a:p>
              <a:pPr algn="l">
                <a:lnSpc>
                  <a:spcPts val="2340"/>
                </a:lnSpc>
              </a:pPr>
              <a:r>
                <a:rPr lang="en-US" sz="1800">
                  <a:solidFill>
                    <a:srgbClr val="1C402E"/>
                  </a:solidFill>
                  <a:latin typeface="Open Sans"/>
                  <a:ea typeface="Open Sans"/>
                  <a:cs typeface="Open Sans"/>
                  <a:sym typeface="Open Sans"/>
                </a:rPr>
                <a:t>Invest in improving the quality and reliability of streaming services for music and movies. Ensure high bandwidth and minimal buffering for a better customer experience.</a:t>
              </a:r>
            </a:p>
          </p:txBody>
        </p:sp>
      </p:grpSp>
      <p:grpSp>
        <p:nvGrpSpPr>
          <p:cNvPr name="Group 19" id="19"/>
          <p:cNvGrpSpPr/>
          <p:nvPr/>
        </p:nvGrpSpPr>
        <p:grpSpPr>
          <a:xfrm rot="0">
            <a:off x="9728745" y="4847686"/>
            <a:ext cx="7083048" cy="1249680"/>
            <a:chOff x="0" y="0"/>
            <a:chExt cx="9444065" cy="1666240"/>
          </a:xfrm>
        </p:grpSpPr>
        <p:sp>
          <p:nvSpPr>
            <p:cNvPr name="Freeform 20" id="20"/>
            <p:cNvSpPr/>
            <p:nvPr/>
          </p:nvSpPr>
          <p:spPr>
            <a:xfrm flipH="false" flipV="false" rot="0">
              <a:off x="0" y="219710"/>
              <a:ext cx="1012897" cy="876617"/>
            </a:xfrm>
            <a:custGeom>
              <a:avLst/>
              <a:gdLst/>
              <a:ahLst/>
              <a:cxnLst/>
              <a:rect r="r" b="b" t="t" l="l"/>
              <a:pathLst>
                <a:path h="876617" w="1012897">
                  <a:moveTo>
                    <a:pt x="0" y="0"/>
                  </a:moveTo>
                  <a:lnTo>
                    <a:pt x="1012897" y="0"/>
                  </a:lnTo>
                  <a:lnTo>
                    <a:pt x="1012897" y="876617"/>
                  </a:lnTo>
                  <a:lnTo>
                    <a:pt x="0" y="876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401402" y="-19050"/>
              <a:ext cx="8042662" cy="1685290"/>
            </a:xfrm>
            <a:prstGeom prst="rect">
              <a:avLst/>
            </a:prstGeom>
          </p:spPr>
          <p:txBody>
            <a:bodyPr anchor="t" rtlCol="false" tIns="0" lIns="0" bIns="0" rIns="0">
              <a:spAutoFit/>
            </a:bodyPr>
            <a:lstStyle/>
            <a:p>
              <a:pPr algn="l">
                <a:lnSpc>
                  <a:spcPts val="3120"/>
                </a:lnSpc>
              </a:pPr>
              <a:r>
                <a:rPr lang="en-US" sz="2400" b="true">
                  <a:solidFill>
                    <a:srgbClr val="1C402E"/>
                  </a:solidFill>
                  <a:latin typeface="Open Sans Bold"/>
                  <a:ea typeface="Open Sans Bold"/>
                  <a:cs typeface="Open Sans Bold"/>
                  <a:sym typeface="Open Sans Bold"/>
                </a:rPr>
                <a:t>Promotional Campaigns</a:t>
              </a:r>
            </a:p>
            <a:p>
              <a:pPr algn="l">
                <a:lnSpc>
                  <a:spcPts val="2340"/>
                </a:lnSpc>
              </a:pPr>
              <a:r>
                <a:rPr lang="en-US" sz="1800">
                  <a:solidFill>
                    <a:srgbClr val="1C402E"/>
                  </a:solidFill>
                  <a:latin typeface="Open Sans"/>
                  <a:ea typeface="Open Sans"/>
                  <a:cs typeface="Open Sans"/>
                  <a:sym typeface="Open Sans"/>
                </a:rPr>
                <a:t>Launch targeted promotional campaigns in high churn areas (e.g., San Diego) emphasizing the improved value and benefits of your services compared to competitors.</a:t>
              </a:r>
            </a:p>
          </p:txBody>
        </p:sp>
      </p:grpSp>
      <p:grpSp>
        <p:nvGrpSpPr>
          <p:cNvPr name="Group 22" id="22"/>
          <p:cNvGrpSpPr/>
          <p:nvPr/>
        </p:nvGrpSpPr>
        <p:grpSpPr>
          <a:xfrm rot="0">
            <a:off x="9728745" y="6887941"/>
            <a:ext cx="7083048" cy="1544955"/>
            <a:chOff x="0" y="0"/>
            <a:chExt cx="9444065" cy="2059940"/>
          </a:xfrm>
        </p:grpSpPr>
        <p:sp>
          <p:nvSpPr>
            <p:cNvPr name="Freeform 23" id="23"/>
            <p:cNvSpPr/>
            <p:nvPr/>
          </p:nvSpPr>
          <p:spPr>
            <a:xfrm flipH="false" flipV="false" rot="0">
              <a:off x="0" y="219710"/>
              <a:ext cx="1012897" cy="876617"/>
            </a:xfrm>
            <a:custGeom>
              <a:avLst/>
              <a:gdLst/>
              <a:ahLst/>
              <a:cxnLst/>
              <a:rect r="r" b="b" t="t" l="l"/>
              <a:pathLst>
                <a:path h="876617" w="1012897">
                  <a:moveTo>
                    <a:pt x="0" y="0"/>
                  </a:moveTo>
                  <a:lnTo>
                    <a:pt x="1012897" y="0"/>
                  </a:lnTo>
                  <a:lnTo>
                    <a:pt x="1012897" y="876617"/>
                  </a:lnTo>
                  <a:lnTo>
                    <a:pt x="0" y="876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4" id="24"/>
            <p:cNvSpPr txBox="true"/>
            <p:nvPr/>
          </p:nvSpPr>
          <p:spPr>
            <a:xfrm rot="0">
              <a:off x="1401402" y="-19050"/>
              <a:ext cx="8042662" cy="2078990"/>
            </a:xfrm>
            <a:prstGeom prst="rect">
              <a:avLst/>
            </a:prstGeom>
          </p:spPr>
          <p:txBody>
            <a:bodyPr anchor="t" rtlCol="false" tIns="0" lIns="0" bIns="0" rIns="0">
              <a:spAutoFit/>
            </a:bodyPr>
            <a:lstStyle/>
            <a:p>
              <a:pPr algn="l">
                <a:lnSpc>
                  <a:spcPts val="3120"/>
                </a:lnSpc>
              </a:pPr>
              <a:r>
                <a:rPr lang="en-US" sz="2400" b="true">
                  <a:solidFill>
                    <a:srgbClr val="1C402E"/>
                  </a:solidFill>
                  <a:latin typeface="Open Sans Bold"/>
                  <a:ea typeface="Open Sans Bold"/>
                  <a:cs typeface="Open Sans Bold"/>
                  <a:sym typeface="Open Sans Bold"/>
                </a:rPr>
                <a:t>Encourage Longer Contracts</a:t>
              </a:r>
            </a:p>
            <a:p>
              <a:pPr algn="l">
                <a:lnSpc>
                  <a:spcPts val="2340"/>
                </a:lnSpc>
              </a:pPr>
              <a:r>
                <a:rPr lang="en-US" sz="1800">
                  <a:solidFill>
                    <a:srgbClr val="1C402E"/>
                  </a:solidFill>
                  <a:latin typeface="Open Sans"/>
                  <a:ea typeface="Open Sans"/>
                  <a:cs typeface="Open Sans"/>
                  <a:sym typeface="Open Sans"/>
                </a:rPr>
                <a:t>Provide incentives for customers to switch from month-to- month contracts to one-year or two-year contracts. Offer discounts, additional services, or exclusive deals to long-term contract customers.</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TextBox 2" id="2"/>
          <p:cNvSpPr txBox="true"/>
          <p:nvPr/>
        </p:nvSpPr>
        <p:spPr>
          <a:xfrm rot="0">
            <a:off x="1039189" y="544904"/>
            <a:ext cx="11203370" cy="1371600"/>
          </a:xfrm>
          <a:prstGeom prst="rect">
            <a:avLst/>
          </a:prstGeom>
        </p:spPr>
        <p:txBody>
          <a:bodyPr anchor="t" rtlCol="false" tIns="0" lIns="0" bIns="0" rIns="0">
            <a:spAutoFit/>
          </a:bodyPr>
          <a:lstStyle/>
          <a:p>
            <a:pPr algn="l">
              <a:lnSpc>
                <a:spcPts val="10800"/>
              </a:lnSpc>
            </a:pPr>
            <a:r>
              <a:rPr lang="en-US" sz="9000">
                <a:solidFill>
                  <a:srgbClr val="1C402E"/>
                </a:solidFill>
                <a:latin typeface="Montserrat"/>
                <a:ea typeface="Montserrat"/>
                <a:cs typeface="Montserrat"/>
                <a:sym typeface="Montserrat"/>
              </a:rPr>
              <a:t>Continued...</a:t>
            </a:r>
          </a:p>
        </p:txBody>
      </p:sp>
      <p:sp>
        <p:nvSpPr>
          <p:cNvPr name="TextBox 3" id="3"/>
          <p:cNvSpPr txBox="true"/>
          <p:nvPr/>
        </p:nvSpPr>
        <p:spPr>
          <a:xfrm rot="0">
            <a:off x="13010793" y="93154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2" action="ppaction://hlinksldjump"/>
              </a:rPr>
              <a:t>Back to Agenda</a:t>
            </a:r>
          </a:p>
        </p:txBody>
      </p:sp>
      <p:grpSp>
        <p:nvGrpSpPr>
          <p:cNvPr name="Group 4" id="4"/>
          <p:cNvGrpSpPr/>
          <p:nvPr/>
        </p:nvGrpSpPr>
        <p:grpSpPr>
          <a:xfrm rot="0">
            <a:off x="1476207" y="2312490"/>
            <a:ext cx="6629671" cy="1517356"/>
            <a:chOff x="0" y="0"/>
            <a:chExt cx="8839561" cy="2023141"/>
          </a:xfrm>
        </p:grpSpPr>
        <p:sp>
          <p:nvSpPr>
            <p:cNvPr name="Freeform 5" id="5"/>
            <p:cNvSpPr/>
            <p:nvPr/>
          </p:nvSpPr>
          <p:spPr>
            <a:xfrm flipH="false" flipV="false" rot="0">
              <a:off x="0" y="205647"/>
              <a:ext cx="948063" cy="820505"/>
            </a:xfrm>
            <a:custGeom>
              <a:avLst/>
              <a:gdLst/>
              <a:ahLst/>
              <a:cxnLst/>
              <a:rect r="r" b="b" t="t" l="l"/>
              <a:pathLst>
                <a:path h="820505" w="948063">
                  <a:moveTo>
                    <a:pt x="0" y="0"/>
                  </a:moveTo>
                  <a:lnTo>
                    <a:pt x="948063" y="0"/>
                  </a:lnTo>
                  <a:lnTo>
                    <a:pt x="948063" y="820505"/>
                  </a:lnTo>
                  <a:lnTo>
                    <a:pt x="0" y="8205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311700" y="-28575"/>
              <a:ext cx="7527861" cy="2051716"/>
            </a:xfrm>
            <a:prstGeom prst="rect">
              <a:avLst/>
            </a:prstGeom>
          </p:spPr>
          <p:txBody>
            <a:bodyPr anchor="t" rtlCol="false" tIns="0" lIns="0" bIns="0" rIns="0">
              <a:spAutoFit/>
            </a:bodyPr>
            <a:lstStyle/>
            <a:p>
              <a:pPr algn="l">
                <a:lnSpc>
                  <a:spcPts val="2920"/>
                </a:lnSpc>
              </a:pPr>
              <a:r>
                <a:rPr lang="en-US" sz="2246" b="true">
                  <a:solidFill>
                    <a:srgbClr val="1C402E"/>
                  </a:solidFill>
                  <a:latin typeface="Open Sans Bold"/>
                  <a:ea typeface="Open Sans Bold"/>
                  <a:cs typeface="Open Sans Bold"/>
                  <a:sym typeface="Open Sans Bold"/>
                </a:rPr>
                <a:t>Device Upgrades</a:t>
              </a:r>
            </a:p>
            <a:p>
              <a:pPr algn="l">
                <a:lnSpc>
                  <a:spcPts val="2339"/>
                </a:lnSpc>
              </a:pPr>
              <a:r>
                <a:rPr lang="en-US" sz="1799">
                  <a:solidFill>
                    <a:srgbClr val="1C402E"/>
                  </a:solidFill>
                  <a:latin typeface="Open Sans"/>
                  <a:ea typeface="Open Sans"/>
                  <a:cs typeface="Open Sans"/>
                  <a:sym typeface="Open Sans"/>
                </a:rPr>
                <a:t>Address the issues with current devices by investing in better quality modems and other hardware. Ensure that new devices meet high performance and reliability standards.</a:t>
              </a:r>
            </a:p>
          </p:txBody>
        </p:sp>
      </p:grpSp>
      <p:grpSp>
        <p:nvGrpSpPr>
          <p:cNvPr name="Group 7" id="7"/>
          <p:cNvGrpSpPr/>
          <p:nvPr/>
        </p:nvGrpSpPr>
        <p:grpSpPr>
          <a:xfrm rot="0">
            <a:off x="1476207" y="4350589"/>
            <a:ext cx="7083048" cy="1840230"/>
            <a:chOff x="0" y="0"/>
            <a:chExt cx="9444065" cy="2453640"/>
          </a:xfrm>
        </p:grpSpPr>
        <p:sp>
          <p:nvSpPr>
            <p:cNvPr name="Freeform 8" id="8"/>
            <p:cNvSpPr/>
            <p:nvPr/>
          </p:nvSpPr>
          <p:spPr>
            <a:xfrm flipH="false" flipV="false" rot="0">
              <a:off x="0" y="219710"/>
              <a:ext cx="1012897" cy="876617"/>
            </a:xfrm>
            <a:custGeom>
              <a:avLst/>
              <a:gdLst/>
              <a:ahLst/>
              <a:cxnLst/>
              <a:rect r="r" b="b" t="t" l="l"/>
              <a:pathLst>
                <a:path h="876617" w="1012897">
                  <a:moveTo>
                    <a:pt x="0" y="0"/>
                  </a:moveTo>
                  <a:lnTo>
                    <a:pt x="1012897" y="0"/>
                  </a:lnTo>
                  <a:lnTo>
                    <a:pt x="1012897" y="876617"/>
                  </a:lnTo>
                  <a:lnTo>
                    <a:pt x="0" y="876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401402" y="-19050"/>
              <a:ext cx="8042662" cy="2472690"/>
            </a:xfrm>
            <a:prstGeom prst="rect">
              <a:avLst/>
            </a:prstGeom>
          </p:spPr>
          <p:txBody>
            <a:bodyPr anchor="t" rtlCol="false" tIns="0" lIns="0" bIns="0" rIns="0">
              <a:spAutoFit/>
            </a:bodyPr>
            <a:lstStyle/>
            <a:p>
              <a:pPr algn="l">
                <a:lnSpc>
                  <a:spcPts val="3120"/>
                </a:lnSpc>
              </a:pPr>
              <a:r>
                <a:rPr lang="en-US" sz="2400" b="true">
                  <a:solidFill>
                    <a:srgbClr val="1C402E"/>
                  </a:solidFill>
                  <a:latin typeface="Open Sans Bold"/>
                  <a:ea typeface="Open Sans Bold"/>
                  <a:cs typeface="Open Sans Bold"/>
                  <a:sym typeface="Open Sans Bold"/>
                </a:rPr>
                <a:t>Expand Offer A</a:t>
              </a:r>
            </a:p>
            <a:p>
              <a:pPr algn="l">
                <a:lnSpc>
                  <a:spcPts val="2340"/>
                </a:lnSpc>
              </a:pPr>
              <a:r>
                <a:rPr lang="en-US" sz="1800">
                  <a:solidFill>
                    <a:srgbClr val="1C402E"/>
                  </a:solidFill>
                  <a:latin typeface="Open Sans"/>
                  <a:ea typeface="Open Sans"/>
                  <a:cs typeface="Open Sans"/>
                  <a:sym typeface="Open Sans"/>
                </a:rPr>
                <a:t>Given that customers with Offer A have the lowest churn rate, expand this offer to a broader customer base. Tailor similar attractive offers to different customer segments based on their usage patterns and preferences.</a:t>
              </a:r>
            </a:p>
          </p:txBody>
        </p:sp>
      </p:grpSp>
      <p:grpSp>
        <p:nvGrpSpPr>
          <p:cNvPr name="Group 10" id="10"/>
          <p:cNvGrpSpPr/>
          <p:nvPr/>
        </p:nvGrpSpPr>
        <p:grpSpPr>
          <a:xfrm rot="0">
            <a:off x="1476207" y="7020500"/>
            <a:ext cx="7083048" cy="1840230"/>
            <a:chOff x="0" y="0"/>
            <a:chExt cx="9444065" cy="2453640"/>
          </a:xfrm>
        </p:grpSpPr>
        <p:sp>
          <p:nvSpPr>
            <p:cNvPr name="Freeform 11" id="11"/>
            <p:cNvSpPr/>
            <p:nvPr/>
          </p:nvSpPr>
          <p:spPr>
            <a:xfrm flipH="false" flipV="false" rot="0">
              <a:off x="0" y="219710"/>
              <a:ext cx="1012897" cy="876617"/>
            </a:xfrm>
            <a:custGeom>
              <a:avLst/>
              <a:gdLst/>
              <a:ahLst/>
              <a:cxnLst/>
              <a:rect r="r" b="b" t="t" l="l"/>
              <a:pathLst>
                <a:path h="876617" w="1012897">
                  <a:moveTo>
                    <a:pt x="0" y="0"/>
                  </a:moveTo>
                  <a:lnTo>
                    <a:pt x="1012897" y="0"/>
                  </a:lnTo>
                  <a:lnTo>
                    <a:pt x="1012897" y="876617"/>
                  </a:lnTo>
                  <a:lnTo>
                    <a:pt x="0" y="876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401402" y="-19050"/>
              <a:ext cx="8042662" cy="2472690"/>
            </a:xfrm>
            <a:prstGeom prst="rect">
              <a:avLst/>
            </a:prstGeom>
          </p:spPr>
          <p:txBody>
            <a:bodyPr anchor="t" rtlCol="false" tIns="0" lIns="0" bIns="0" rIns="0">
              <a:spAutoFit/>
            </a:bodyPr>
            <a:lstStyle/>
            <a:p>
              <a:pPr algn="l">
                <a:lnSpc>
                  <a:spcPts val="3120"/>
                </a:lnSpc>
              </a:pPr>
              <a:r>
                <a:rPr lang="en-US" sz="2400" b="true">
                  <a:solidFill>
                    <a:srgbClr val="1C402E"/>
                  </a:solidFill>
                  <a:latin typeface="Open Sans Bold"/>
                  <a:ea typeface="Open Sans Bold"/>
                  <a:cs typeface="Open Sans Bold"/>
                  <a:sym typeface="Open Sans Bold"/>
                </a:rPr>
                <a:t>Address Fiber Optic Issues</a:t>
              </a:r>
            </a:p>
            <a:p>
              <a:pPr algn="l">
                <a:lnSpc>
                  <a:spcPts val="2340"/>
                </a:lnSpc>
              </a:pPr>
              <a:r>
                <a:rPr lang="en-US" sz="1800">
                  <a:solidFill>
                    <a:srgbClr val="1C402E"/>
                  </a:solidFill>
                  <a:latin typeface="Open Sans"/>
                  <a:ea typeface="Open Sans"/>
                  <a:cs typeface="Open Sans"/>
                  <a:sym typeface="Open Sans"/>
                </a:rPr>
                <a:t>Since a significant portion of churned customers used fiber optic internet, investigate and resolve any underlying issues with fiber optic services. Ensure consistent high-speed internet and minimal service interruptions.</a:t>
              </a:r>
            </a:p>
          </p:txBody>
        </p:sp>
      </p:grpSp>
      <p:grpSp>
        <p:nvGrpSpPr>
          <p:cNvPr name="Group 13" id="13"/>
          <p:cNvGrpSpPr/>
          <p:nvPr/>
        </p:nvGrpSpPr>
        <p:grpSpPr>
          <a:xfrm rot="0">
            <a:off x="9728745" y="4350589"/>
            <a:ext cx="7083048" cy="1544955"/>
            <a:chOff x="0" y="0"/>
            <a:chExt cx="9444065" cy="2059940"/>
          </a:xfrm>
        </p:grpSpPr>
        <p:sp>
          <p:nvSpPr>
            <p:cNvPr name="Freeform 14" id="14"/>
            <p:cNvSpPr/>
            <p:nvPr/>
          </p:nvSpPr>
          <p:spPr>
            <a:xfrm flipH="false" flipV="false" rot="0">
              <a:off x="0" y="219710"/>
              <a:ext cx="1012897" cy="876617"/>
            </a:xfrm>
            <a:custGeom>
              <a:avLst/>
              <a:gdLst/>
              <a:ahLst/>
              <a:cxnLst/>
              <a:rect r="r" b="b" t="t" l="l"/>
              <a:pathLst>
                <a:path h="876617" w="1012897">
                  <a:moveTo>
                    <a:pt x="0" y="0"/>
                  </a:moveTo>
                  <a:lnTo>
                    <a:pt x="1012897" y="0"/>
                  </a:lnTo>
                  <a:lnTo>
                    <a:pt x="1012897" y="876617"/>
                  </a:lnTo>
                  <a:lnTo>
                    <a:pt x="0" y="876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401402" y="-19050"/>
              <a:ext cx="8042662" cy="2078990"/>
            </a:xfrm>
            <a:prstGeom prst="rect">
              <a:avLst/>
            </a:prstGeom>
          </p:spPr>
          <p:txBody>
            <a:bodyPr anchor="t" rtlCol="false" tIns="0" lIns="0" bIns="0" rIns="0">
              <a:spAutoFit/>
            </a:bodyPr>
            <a:lstStyle/>
            <a:p>
              <a:pPr algn="l">
                <a:lnSpc>
                  <a:spcPts val="3120"/>
                </a:lnSpc>
              </a:pPr>
              <a:r>
                <a:rPr lang="en-US" sz="2400" b="true">
                  <a:solidFill>
                    <a:srgbClr val="1C402E"/>
                  </a:solidFill>
                  <a:latin typeface="Open Sans Bold"/>
                  <a:ea typeface="Open Sans Bold"/>
                  <a:cs typeface="Open Sans Bold"/>
                  <a:sym typeface="Open Sans Bold"/>
                </a:rPr>
                <a:t>Local Marketing Efforts</a:t>
              </a:r>
            </a:p>
            <a:p>
              <a:pPr algn="l">
                <a:lnSpc>
                  <a:spcPts val="2340"/>
                </a:lnSpc>
              </a:pPr>
              <a:r>
                <a:rPr lang="en-US" sz="1800">
                  <a:solidFill>
                    <a:srgbClr val="1C402E"/>
                  </a:solidFill>
                  <a:latin typeface="Open Sans"/>
                  <a:ea typeface="Open Sans"/>
                  <a:cs typeface="Open Sans"/>
                  <a:sym typeface="Open Sans"/>
                </a:rPr>
                <a:t>Concentrate marketing efforts and resources on high-value cities like Los Angeles, San Diego, Sacramento, San Jose, and San Francisco. This can include localized advertising, sponsorships, and community events.</a:t>
              </a:r>
            </a:p>
          </p:txBody>
        </p:sp>
      </p:grpSp>
      <p:grpSp>
        <p:nvGrpSpPr>
          <p:cNvPr name="Group 16" id="16"/>
          <p:cNvGrpSpPr/>
          <p:nvPr/>
        </p:nvGrpSpPr>
        <p:grpSpPr>
          <a:xfrm rot="0">
            <a:off x="9728745" y="2312490"/>
            <a:ext cx="7083048" cy="1249680"/>
            <a:chOff x="0" y="0"/>
            <a:chExt cx="9444065" cy="1666240"/>
          </a:xfrm>
        </p:grpSpPr>
        <p:sp>
          <p:nvSpPr>
            <p:cNvPr name="Freeform 17" id="17"/>
            <p:cNvSpPr/>
            <p:nvPr/>
          </p:nvSpPr>
          <p:spPr>
            <a:xfrm flipH="false" flipV="false" rot="0">
              <a:off x="0" y="219710"/>
              <a:ext cx="1012897" cy="876617"/>
            </a:xfrm>
            <a:custGeom>
              <a:avLst/>
              <a:gdLst/>
              <a:ahLst/>
              <a:cxnLst/>
              <a:rect r="r" b="b" t="t" l="l"/>
              <a:pathLst>
                <a:path h="876617" w="1012897">
                  <a:moveTo>
                    <a:pt x="0" y="0"/>
                  </a:moveTo>
                  <a:lnTo>
                    <a:pt x="1012897" y="0"/>
                  </a:lnTo>
                  <a:lnTo>
                    <a:pt x="1012897" y="876617"/>
                  </a:lnTo>
                  <a:lnTo>
                    <a:pt x="0" y="876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8" id="18"/>
            <p:cNvSpPr txBox="true"/>
            <p:nvPr/>
          </p:nvSpPr>
          <p:spPr>
            <a:xfrm rot="0">
              <a:off x="1401402" y="-19050"/>
              <a:ext cx="8042662" cy="1685290"/>
            </a:xfrm>
            <a:prstGeom prst="rect">
              <a:avLst/>
            </a:prstGeom>
          </p:spPr>
          <p:txBody>
            <a:bodyPr anchor="t" rtlCol="false" tIns="0" lIns="0" bIns="0" rIns="0">
              <a:spAutoFit/>
            </a:bodyPr>
            <a:lstStyle/>
            <a:p>
              <a:pPr algn="l">
                <a:lnSpc>
                  <a:spcPts val="3120"/>
                </a:lnSpc>
              </a:pPr>
              <a:r>
                <a:rPr lang="en-US" sz="2400" b="true">
                  <a:solidFill>
                    <a:srgbClr val="1C402E"/>
                  </a:solidFill>
                  <a:latin typeface="Open Sans Bold"/>
                  <a:ea typeface="Open Sans Bold"/>
                  <a:cs typeface="Open Sans Bold"/>
                  <a:sym typeface="Open Sans Bold"/>
                </a:rPr>
                <a:t>Tailored Marketing</a:t>
              </a:r>
            </a:p>
            <a:p>
              <a:pPr algn="l">
                <a:lnSpc>
                  <a:spcPts val="2340"/>
                </a:lnSpc>
              </a:pPr>
              <a:r>
                <a:rPr lang="en-US" sz="1800">
                  <a:solidFill>
                    <a:srgbClr val="1C402E"/>
                  </a:solidFill>
                  <a:latin typeface="Open Sans"/>
                  <a:ea typeface="Open Sans"/>
                  <a:cs typeface="Open Sans"/>
                  <a:sym typeface="Open Sans"/>
                </a:rPr>
                <a:t>Create marketing campaigns that appeal specifically to customers without dependents, highlighting features and benefits that resonate with their lifestyle and needs.</a:t>
              </a:r>
            </a:p>
          </p:txBody>
        </p:sp>
      </p:grpSp>
      <p:grpSp>
        <p:nvGrpSpPr>
          <p:cNvPr name="Group 19" id="19"/>
          <p:cNvGrpSpPr/>
          <p:nvPr/>
        </p:nvGrpSpPr>
        <p:grpSpPr>
          <a:xfrm rot="0">
            <a:off x="9728745" y="7020500"/>
            <a:ext cx="7083048" cy="1840230"/>
            <a:chOff x="0" y="0"/>
            <a:chExt cx="9444065" cy="2453640"/>
          </a:xfrm>
        </p:grpSpPr>
        <p:sp>
          <p:nvSpPr>
            <p:cNvPr name="Freeform 20" id="20"/>
            <p:cNvSpPr/>
            <p:nvPr/>
          </p:nvSpPr>
          <p:spPr>
            <a:xfrm flipH="false" flipV="false" rot="0">
              <a:off x="0" y="219710"/>
              <a:ext cx="1012897" cy="876617"/>
            </a:xfrm>
            <a:custGeom>
              <a:avLst/>
              <a:gdLst/>
              <a:ahLst/>
              <a:cxnLst/>
              <a:rect r="r" b="b" t="t" l="l"/>
              <a:pathLst>
                <a:path h="876617" w="1012897">
                  <a:moveTo>
                    <a:pt x="0" y="0"/>
                  </a:moveTo>
                  <a:lnTo>
                    <a:pt x="1012897" y="0"/>
                  </a:lnTo>
                  <a:lnTo>
                    <a:pt x="1012897" y="876617"/>
                  </a:lnTo>
                  <a:lnTo>
                    <a:pt x="0" y="876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401402" y="-19050"/>
              <a:ext cx="8042662" cy="2472690"/>
            </a:xfrm>
            <a:prstGeom prst="rect">
              <a:avLst/>
            </a:prstGeom>
          </p:spPr>
          <p:txBody>
            <a:bodyPr anchor="t" rtlCol="false" tIns="0" lIns="0" bIns="0" rIns="0">
              <a:spAutoFit/>
            </a:bodyPr>
            <a:lstStyle/>
            <a:p>
              <a:pPr algn="l">
                <a:lnSpc>
                  <a:spcPts val="3120"/>
                </a:lnSpc>
              </a:pPr>
              <a:r>
                <a:rPr lang="en-US" sz="2400" b="true">
                  <a:solidFill>
                    <a:srgbClr val="1C402E"/>
                  </a:solidFill>
                  <a:latin typeface="Open Sans Bold"/>
                  <a:ea typeface="Open Sans Bold"/>
                  <a:cs typeface="Open Sans Bold"/>
                  <a:sym typeface="Open Sans Bold"/>
                </a:rPr>
                <a:t>Contract Offers</a:t>
              </a:r>
            </a:p>
            <a:p>
              <a:pPr algn="l">
                <a:lnSpc>
                  <a:spcPts val="2340"/>
                </a:lnSpc>
              </a:pPr>
              <a:r>
                <a:rPr lang="en-US" sz="1800">
                  <a:solidFill>
                    <a:srgbClr val="1C402E"/>
                  </a:solidFill>
                  <a:latin typeface="Open Sans"/>
                  <a:ea typeface="Open Sans"/>
                  <a:cs typeface="Open Sans"/>
                  <a:sym typeface="Open Sans"/>
                </a:rPr>
                <a:t>Given the lower churn rate among one-year and two-year contract customers, create attractive offers for month-to-month customers to switch to longer-term con- tracts. This can include discounted rates, additional features, and loyalty rewards.</a:t>
              </a: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174438" y="2578103"/>
            <a:ext cx="8918917" cy="6680197"/>
          </a:xfrm>
          <a:custGeom>
            <a:avLst/>
            <a:gdLst/>
            <a:ahLst/>
            <a:cxnLst/>
            <a:rect r="r" b="b" t="t" l="l"/>
            <a:pathLst>
              <a:path h="6680197" w="8918917">
                <a:moveTo>
                  <a:pt x="0" y="0"/>
                </a:moveTo>
                <a:lnTo>
                  <a:pt x="8918917" y="0"/>
                </a:lnTo>
                <a:lnTo>
                  <a:pt x="8918917" y="6680197"/>
                </a:lnTo>
                <a:lnTo>
                  <a:pt x="0" y="6680197"/>
                </a:lnTo>
                <a:lnTo>
                  <a:pt x="0" y="0"/>
                </a:lnTo>
                <a:close/>
              </a:path>
            </a:pathLst>
          </a:custGeom>
          <a:blipFill>
            <a:blip r:embed="rId2"/>
            <a:stretch>
              <a:fillRect l="0" t="0" r="0" b="0"/>
            </a:stretch>
          </a:blipFill>
        </p:spPr>
      </p:sp>
      <p:sp>
        <p:nvSpPr>
          <p:cNvPr name="Freeform 3" id="3"/>
          <p:cNvSpPr/>
          <p:nvPr/>
        </p:nvSpPr>
        <p:spPr>
          <a:xfrm flipH="false" flipV="false" rot="0">
            <a:off x="9266304" y="2614814"/>
            <a:ext cx="8847257" cy="6606775"/>
          </a:xfrm>
          <a:custGeom>
            <a:avLst/>
            <a:gdLst/>
            <a:ahLst/>
            <a:cxnLst/>
            <a:rect r="r" b="b" t="t" l="l"/>
            <a:pathLst>
              <a:path h="6606775" w="8847257">
                <a:moveTo>
                  <a:pt x="0" y="0"/>
                </a:moveTo>
                <a:lnTo>
                  <a:pt x="8847258" y="0"/>
                </a:lnTo>
                <a:lnTo>
                  <a:pt x="8847258" y="6606775"/>
                </a:lnTo>
                <a:lnTo>
                  <a:pt x="0" y="6606775"/>
                </a:lnTo>
                <a:lnTo>
                  <a:pt x="0" y="0"/>
                </a:lnTo>
                <a:close/>
              </a:path>
            </a:pathLst>
          </a:custGeom>
          <a:blipFill>
            <a:blip r:embed="rId3"/>
            <a:stretch>
              <a:fillRect l="0" t="0" r="0" b="0"/>
            </a:stretch>
          </a:blipFill>
        </p:spPr>
      </p:sp>
      <p:sp>
        <p:nvSpPr>
          <p:cNvPr name="TextBox 4" id="4"/>
          <p:cNvSpPr txBox="true"/>
          <p:nvPr/>
        </p:nvSpPr>
        <p:spPr>
          <a:xfrm rot="0">
            <a:off x="174438" y="687705"/>
            <a:ext cx="11203370" cy="1371600"/>
          </a:xfrm>
          <a:prstGeom prst="rect">
            <a:avLst/>
          </a:prstGeom>
        </p:spPr>
        <p:txBody>
          <a:bodyPr anchor="t" rtlCol="false" tIns="0" lIns="0" bIns="0" rIns="0">
            <a:spAutoFit/>
          </a:bodyPr>
          <a:lstStyle/>
          <a:p>
            <a:pPr algn="l">
              <a:lnSpc>
                <a:spcPts val="10800"/>
              </a:lnSpc>
            </a:pPr>
            <a:r>
              <a:rPr lang="en-US" sz="9000">
                <a:solidFill>
                  <a:srgbClr val="1C402E"/>
                </a:solidFill>
                <a:latin typeface="Montserrat"/>
                <a:ea typeface="Montserrat"/>
                <a:cs typeface="Montserrat"/>
                <a:sym typeface="Montserrat"/>
              </a:rPr>
              <a:t>Dashboard Snaps</a:t>
            </a:r>
          </a:p>
        </p:txBody>
      </p:sp>
      <p:sp>
        <p:nvSpPr>
          <p:cNvPr name="TextBox 5" id="5"/>
          <p:cNvSpPr txBox="true"/>
          <p:nvPr/>
        </p:nvSpPr>
        <p:spPr>
          <a:xfrm rot="0">
            <a:off x="13010793" y="93154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4" action="ppaction://hlinksldjump"/>
              </a:rPr>
              <a:t>Back to Agenda</a:t>
            </a:r>
          </a:p>
        </p:txBody>
      </p:sp>
      <p:sp>
        <p:nvSpPr>
          <p:cNvPr name="TextBox 6" id="6"/>
          <p:cNvSpPr txBox="true"/>
          <p:nvPr/>
        </p:nvSpPr>
        <p:spPr>
          <a:xfrm rot="0">
            <a:off x="4358422" y="9601477"/>
            <a:ext cx="1053257" cy="297179"/>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000000"/>
                </a:solidFill>
                <a:latin typeface="Canva Sans Bold"/>
                <a:ea typeface="Canva Sans Bold"/>
                <a:cs typeface="Canva Sans Bold"/>
                <a:sym typeface="Canva Sans Bold"/>
              </a:rPr>
              <a:t>Overview</a:t>
            </a:r>
          </a:p>
        </p:txBody>
      </p:sp>
      <p:sp>
        <p:nvSpPr>
          <p:cNvPr name="TextBox 7" id="7"/>
          <p:cNvSpPr txBox="true"/>
          <p:nvPr/>
        </p:nvSpPr>
        <p:spPr>
          <a:xfrm rot="0">
            <a:off x="12962759" y="9601477"/>
            <a:ext cx="1454348" cy="297179"/>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000000"/>
                </a:solidFill>
                <a:latin typeface="Canva Sans Bold"/>
                <a:ea typeface="Canva Sans Bold"/>
                <a:cs typeface="Canva Sans Bold"/>
                <a:sym typeface="Canva Sans Bold"/>
              </a:rPr>
              <a:t>Age Brackets</a:t>
            </a:r>
          </a:p>
        </p:txBody>
      </p:sp>
    </p:spTree>
  </p:cSld>
  <p:clrMapOvr>
    <a:masterClrMapping/>
  </p:clrMapOvr>
  <p:transition spd="slow">
    <p:push dir="l"/>
  </p:transition>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Freeform 2" id="2"/>
          <p:cNvSpPr/>
          <p:nvPr/>
        </p:nvSpPr>
        <p:spPr>
          <a:xfrm flipH="false" flipV="false" rot="0">
            <a:off x="174438" y="2578103"/>
            <a:ext cx="8918917" cy="6680197"/>
          </a:xfrm>
          <a:custGeom>
            <a:avLst/>
            <a:gdLst/>
            <a:ahLst/>
            <a:cxnLst/>
            <a:rect r="r" b="b" t="t" l="l"/>
            <a:pathLst>
              <a:path h="6680197" w="8918917">
                <a:moveTo>
                  <a:pt x="0" y="0"/>
                </a:moveTo>
                <a:lnTo>
                  <a:pt x="8918917" y="0"/>
                </a:lnTo>
                <a:lnTo>
                  <a:pt x="8918917" y="6680197"/>
                </a:lnTo>
                <a:lnTo>
                  <a:pt x="0" y="6680197"/>
                </a:lnTo>
                <a:lnTo>
                  <a:pt x="0" y="0"/>
                </a:lnTo>
                <a:close/>
              </a:path>
            </a:pathLst>
          </a:custGeom>
          <a:blipFill>
            <a:blip r:embed="rId2"/>
            <a:stretch>
              <a:fillRect l="0" t="-3162" r="0" b="-3162"/>
            </a:stretch>
          </a:blipFill>
        </p:spPr>
      </p:sp>
      <p:sp>
        <p:nvSpPr>
          <p:cNvPr name="Freeform 3" id="3"/>
          <p:cNvSpPr/>
          <p:nvPr/>
        </p:nvSpPr>
        <p:spPr>
          <a:xfrm flipH="false" flipV="false" rot="0">
            <a:off x="9266304" y="2614814"/>
            <a:ext cx="8847257" cy="6606775"/>
          </a:xfrm>
          <a:custGeom>
            <a:avLst/>
            <a:gdLst/>
            <a:ahLst/>
            <a:cxnLst/>
            <a:rect r="r" b="b" t="t" l="l"/>
            <a:pathLst>
              <a:path h="6606775" w="8847257">
                <a:moveTo>
                  <a:pt x="0" y="0"/>
                </a:moveTo>
                <a:lnTo>
                  <a:pt x="8847258" y="0"/>
                </a:lnTo>
                <a:lnTo>
                  <a:pt x="8847258" y="6606775"/>
                </a:lnTo>
                <a:lnTo>
                  <a:pt x="0" y="6606775"/>
                </a:lnTo>
                <a:lnTo>
                  <a:pt x="0" y="0"/>
                </a:lnTo>
                <a:close/>
              </a:path>
            </a:pathLst>
          </a:custGeom>
          <a:blipFill>
            <a:blip r:embed="rId3"/>
            <a:stretch>
              <a:fillRect l="-2791" t="0" r="-2791" b="0"/>
            </a:stretch>
          </a:blipFill>
        </p:spPr>
      </p:sp>
      <p:sp>
        <p:nvSpPr>
          <p:cNvPr name="TextBox 4" id="4"/>
          <p:cNvSpPr txBox="true"/>
          <p:nvPr/>
        </p:nvSpPr>
        <p:spPr>
          <a:xfrm rot="0">
            <a:off x="174438" y="687705"/>
            <a:ext cx="11203370" cy="1371600"/>
          </a:xfrm>
          <a:prstGeom prst="rect">
            <a:avLst/>
          </a:prstGeom>
        </p:spPr>
        <p:txBody>
          <a:bodyPr anchor="t" rtlCol="false" tIns="0" lIns="0" bIns="0" rIns="0">
            <a:spAutoFit/>
          </a:bodyPr>
          <a:lstStyle/>
          <a:p>
            <a:pPr algn="l">
              <a:lnSpc>
                <a:spcPts val="10800"/>
              </a:lnSpc>
            </a:pPr>
            <a:r>
              <a:rPr lang="en-US" sz="9000">
                <a:solidFill>
                  <a:srgbClr val="1C402E"/>
                </a:solidFill>
                <a:latin typeface="Montserrat"/>
                <a:ea typeface="Montserrat"/>
                <a:cs typeface="Montserrat"/>
                <a:sym typeface="Montserrat"/>
              </a:rPr>
              <a:t>Continued...</a:t>
            </a:r>
          </a:p>
        </p:txBody>
      </p:sp>
      <p:sp>
        <p:nvSpPr>
          <p:cNvPr name="TextBox 5" id="5"/>
          <p:cNvSpPr txBox="true"/>
          <p:nvPr/>
        </p:nvSpPr>
        <p:spPr>
          <a:xfrm rot="0">
            <a:off x="13010793" y="931545"/>
            <a:ext cx="4248507" cy="441960"/>
          </a:xfrm>
          <a:prstGeom prst="rect">
            <a:avLst/>
          </a:prstGeom>
        </p:spPr>
        <p:txBody>
          <a:bodyPr anchor="t" rtlCol="false" tIns="0" lIns="0" bIns="0" rIns="0">
            <a:spAutoFit/>
          </a:bodyPr>
          <a:lstStyle/>
          <a:p>
            <a:pPr algn="r">
              <a:lnSpc>
                <a:spcPts val="3510"/>
              </a:lnSpc>
            </a:pPr>
            <a:r>
              <a:rPr lang="en-US" sz="2700" u="sng">
                <a:solidFill>
                  <a:srgbClr val="1C402E"/>
                </a:solidFill>
                <a:latin typeface="Open Sans"/>
                <a:ea typeface="Open Sans"/>
                <a:cs typeface="Open Sans"/>
                <a:sym typeface="Open Sans"/>
                <a:hlinkClick r:id="rId4" action="ppaction://hlinksldjump"/>
              </a:rPr>
              <a:t>Back to Agenda</a:t>
            </a:r>
          </a:p>
        </p:txBody>
      </p:sp>
      <p:sp>
        <p:nvSpPr>
          <p:cNvPr name="TextBox 6" id="6"/>
          <p:cNvSpPr txBox="true"/>
          <p:nvPr/>
        </p:nvSpPr>
        <p:spPr>
          <a:xfrm rot="0">
            <a:off x="3892590" y="9601477"/>
            <a:ext cx="1984921" cy="297179"/>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000000"/>
                </a:solidFill>
                <a:latin typeface="Canva Sans Bold"/>
                <a:ea typeface="Canva Sans Bold"/>
                <a:cs typeface="Canva Sans Bold"/>
                <a:sym typeface="Canva Sans Bold"/>
              </a:rPr>
              <a:t>Services vs Churn</a:t>
            </a:r>
          </a:p>
        </p:txBody>
      </p:sp>
      <p:sp>
        <p:nvSpPr>
          <p:cNvPr name="TextBox 7" id="7"/>
          <p:cNvSpPr txBox="true"/>
          <p:nvPr/>
        </p:nvSpPr>
        <p:spPr>
          <a:xfrm rot="0">
            <a:off x="11799072" y="9467175"/>
            <a:ext cx="3781723" cy="297179"/>
          </a:xfrm>
          <a:prstGeom prst="rect">
            <a:avLst/>
          </a:prstGeom>
        </p:spPr>
        <p:txBody>
          <a:bodyPr anchor="t" rtlCol="false" tIns="0" lIns="0" bIns="0" rIns="0">
            <a:spAutoFit/>
          </a:bodyPr>
          <a:lstStyle/>
          <a:p>
            <a:pPr algn="ctr" marL="0" indent="0" lvl="0">
              <a:lnSpc>
                <a:spcPts val="2520"/>
              </a:lnSpc>
              <a:spcBef>
                <a:spcPct val="0"/>
              </a:spcBef>
            </a:pPr>
            <a:r>
              <a:rPr lang="en-US" b="true" sz="1800">
                <a:solidFill>
                  <a:srgbClr val="000000"/>
                </a:solidFill>
                <a:latin typeface="Canva Sans Bold"/>
                <a:ea typeface="Canva Sans Bold"/>
                <a:cs typeface="Canva Sans Bold"/>
                <a:sym typeface="Canva Sans Bold"/>
              </a:rPr>
              <a:t>Payment Method &amp; Contract Type</a:t>
            </a:r>
          </a:p>
        </p:txBody>
      </p:sp>
    </p:spTree>
  </p:cSld>
  <p:clrMapOvr>
    <a:masterClrMapping/>
  </p:clrMapOvr>
  <p:transition spd="slow">
    <p:push dir="l"/>
  </p:transition>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Tree>
  </p:cSld>
  <p:clrMapOvr>
    <a:masterClrMapping/>
  </p:clrMapOvr>
  <p:transition spd="slow">
    <p:push dir="l"/>
  </p:transition>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FFAF4"/>
        </a:solidFill>
      </p:bgPr>
    </p:bg>
    <p:spTree>
      <p:nvGrpSpPr>
        <p:cNvPr id="1" name=""/>
        <p:cNvGrpSpPr/>
        <p:nvPr/>
      </p:nvGrpSpPr>
      <p:grpSpPr>
        <a:xfrm>
          <a:off x="0" y="0"/>
          <a:ext cx="0" cy="0"/>
          <a:chOff x="0" y="0"/>
          <a:chExt cx="0" cy="0"/>
        </a:xfrm>
      </p:grpSpPr>
      <p:sp>
        <p:nvSpPr>
          <p:cNvPr name="TextBox 2" id="2"/>
          <p:cNvSpPr txBox="true"/>
          <p:nvPr/>
        </p:nvSpPr>
        <p:spPr>
          <a:xfrm rot="0">
            <a:off x="899187" y="1602785"/>
            <a:ext cx="7426254" cy="1368424"/>
          </a:xfrm>
          <a:prstGeom prst="rect">
            <a:avLst/>
          </a:prstGeom>
        </p:spPr>
        <p:txBody>
          <a:bodyPr anchor="t" rtlCol="false" tIns="0" lIns="0" bIns="0" rIns="0">
            <a:spAutoFit/>
          </a:bodyPr>
          <a:lstStyle/>
          <a:p>
            <a:pPr algn="l">
              <a:lnSpc>
                <a:spcPts val="11200"/>
              </a:lnSpc>
            </a:pPr>
            <a:r>
              <a:rPr lang="en-US" sz="8000">
                <a:solidFill>
                  <a:srgbClr val="1C402E"/>
                </a:solidFill>
                <a:latin typeface="Montserrat"/>
                <a:ea typeface="Montserrat"/>
                <a:cs typeface="Montserrat"/>
                <a:sym typeface="Montserrat"/>
              </a:rPr>
              <a:t>Get In Touch</a:t>
            </a:r>
          </a:p>
        </p:txBody>
      </p:sp>
      <p:sp>
        <p:nvSpPr>
          <p:cNvPr name="TextBox 3" id="3"/>
          <p:cNvSpPr txBox="true"/>
          <p:nvPr/>
        </p:nvSpPr>
        <p:spPr>
          <a:xfrm rot="0">
            <a:off x="899187" y="3384194"/>
            <a:ext cx="5945056" cy="779641"/>
          </a:xfrm>
          <a:prstGeom prst="rect">
            <a:avLst/>
          </a:prstGeom>
        </p:spPr>
        <p:txBody>
          <a:bodyPr anchor="t" rtlCol="false" tIns="0" lIns="0" bIns="0" rIns="0">
            <a:spAutoFit/>
          </a:bodyPr>
          <a:lstStyle/>
          <a:p>
            <a:pPr algn="l">
              <a:lnSpc>
                <a:spcPts val="6401"/>
              </a:lnSpc>
            </a:pPr>
            <a:r>
              <a:rPr lang="en-US" sz="4572">
                <a:solidFill>
                  <a:srgbClr val="1C402E"/>
                </a:solidFill>
                <a:latin typeface="Montserrat"/>
                <a:ea typeface="Montserrat"/>
                <a:cs typeface="Montserrat"/>
                <a:sym typeface="Montserrat"/>
              </a:rPr>
              <a:t>Email</a:t>
            </a:r>
          </a:p>
        </p:txBody>
      </p:sp>
      <p:sp>
        <p:nvSpPr>
          <p:cNvPr name="TextBox 4" id="4"/>
          <p:cNvSpPr txBox="true"/>
          <p:nvPr/>
        </p:nvSpPr>
        <p:spPr>
          <a:xfrm rot="0">
            <a:off x="899187" y="4319910"/>
            <a:ext cx="7426254" cy="564082"/>
          </a:xfrm>
          <a:prstGeom prst="rect">
            <a:avLst/>
          </a:prstGeom>
        </p:spPr>
        <p:txBody>
          <a:bodyPr anchor="t" rtlCol="false" tIns="0" lIns="0" bIns="0" rIns="0">
            <a:spAutoFit/>
          </a:bodyPr>
          <a:lstStyle/>
          <a:p>
            <a:pPr algn="l">
              <a:lnSpc>
                <a:spcPts val="4608"/>
              </a:lnSpc>
            </a:pPr>
            <a:r>
              <a:rPr lang="en-US" sz="3292" b="true">
                <a:solidFill>
                  <a:srgbClr val="1C402E"/>
                </a:solidFill>
                <a:latin typeface="Montserrat Bold"/>
                <a:ea typeface="Montserrat Bold"/>
                <a:cs typeface="Montserrat Bold"/>
                <a:sym typeface="Montserrat Bold"/>
              </a:rPr>
              <a:t>Rajatbahuguna4445@gmail.com</a:t>
            </a:r>
          </a:p>
        </p:txBody>
      </p:sp>
      <p:sp>
        <p:nvSpPr>
          <p:cNvPr name="TextBox 5" id="5"/>
          <p:cNvSpPr txBox="true"/>
          <p:nvPr/>
        </p:nvSpPr>
        <p:spPr>
          <a:xfrm rot="0">
            <a:off x="13010793" y="748814"/>
            <a:ext cx="4248507" cy="441960"/>
          </a:xfrm>
          <a:prstGeom prst="rect">
            <a:avLst/>
          </a:prstGeom>
        </p:spPr>
        <p:txBody>
          <a:bodyPr anchor="t" rtlCol="false" tIns="0" lIns="0" bIns="0" rIns="0">
            <a:spAutoFit/>
          </a:bodyPr>
          <a:lstStyle/>
          <a:p>
            <a:pPr algn="r">
              <a:lnSpc>
                <a:spcPts val="3510"/>
              </a:lnSpc>
            </a:pPr>
            <a:r>
              <a:rPr lang="en-US" sz="2700" u="sng">
                <a:solidFill>
                  <a:srgbClr val="FFFAF4"/>
                </a:solidFill>
                <a:latin typeface="Open Sans"/>
                <a:ea typeface="Open Sans"/>
                <a:cs typeface="Open Sans"/>
                <a:sym typeface="Open Sans"/>
                <a:hlinkClick r:id="rId2" action="ppaction://hlinksldjump"/>
              </a:rPr>
              <a:t>Back to Agenda</a:t>
            </a:r>
          </a:p>
        </p:txBody>
      </p:sp>
      <p:sp>
        <p:nvSpPr>
          <p:cNvPr name="Freeform 6" id="6"/>
          <p:cNvSpPr/>
          <p:nvPr/>
        </p:nvSpPr>
        <p:spPr>
          <a:xfrm flipH="false" flipV="false" rot="0">
            <a:off x="8676727" y="0"/>
            <a:ext cx="13404163" cy="14455470"/>
          </a:xfrm>
          <a:custGeom>
            <a:avLst/>
            <a:gdLst/>
            <a:ahLst/>
            <a:cxnLst/>
            <a:rect r="r" b="b" t="t" l="l"/>
            <a:pathLst>
              <a:path h="14455470" w="13404163">
                <a:moveTo>
                  <a:pt x="0" y="0"/>
                </a:moveTo>
                <a:lnTo>
                  <a:pt x="13404163" y="0"/>
                </a:lnTo>
                <a:lnTo>
                  <a:pt x="13404163" y="14455470"/>
                </a:lnTo>
                <a:lnTo>
                  <a:pt x="0" y="144554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DAGSA7d-oN4</dc:identifier>
  <dcterms:modified xsi:type="dcterms:W3CDTF">2011-08-01T06:04:30Z</dcterms:modified>
  <cp:revision>1</cp:revision>
  <dc:title>Telco Customer Churn</dc:title>
</cp:coreProperties>
</file>